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summarizes everything done in this research project between July 7 and July 12, 2026. It is written for a first-time reader with no prior context. The project studies GCG (Greedy Coordinate Gradient) adversarial suffix attacks — a technique for automatically finding a short string of extra tokens that, when appended to a harmful request, is intended to make a language model comply instead of refuse. Two models are tested throughout: Qwen3-14B (a reasoning model with explicit chain-of-thought, or 'CoT') and Gemma4-E4B-it (Google's instruction-tuned model). The work is organized into numbered 'Phases' (4, 5, 6, 7), each phase being a batch of related experiments run on a shared SLURM GPU cluster. This deck covers the tail of Phase 4, all of Phases 5 and 6 (completed July 10), and all of Phase 7 (started July 10, completed July 12 — its largest experiment, 7A, was the last piece to finish). The entire Phase 4–7 pipeline is now complete, with no further experiments currently planned. By the end of this deck you should understand: what GCG is, the seven main scientific findings, and the exact numbers behind each.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roadmap slide. The deck moves from background/definitions, through a chronological walk of the four phases, into a consolidated results table, then into six of the seven standout findings explained one at a time with their supporting numbers (the seventh finding — that the attack's full-benchmark success rate is lower than its small-tuning-set rate — is covered on slide 10 alongside Phase 7A's final results), then a comparison against a related published paper (the 'CoT Hijacking' paper), defense implications, and finally a status check confirming the entire Phase 4–7 pipeline finished on 2026-07-12, with every number in this deck now final.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GCG is a white-box optimization attack: it requires access to the model's gradients (so it cannot be run against a closed API, only a model you can load locally). It was introduced in prior adversarial-ML literature as a way to automatically discover jailbreak suffixes rather than hand-crafting them. The key subtlety this project repeatedly returns to: minimizing the training loss (how well the suffix forces the model to output the exact target string when the model is given the whole target with a teacher — called 'teacher-forcing') is NOT the same thing as maximizing real-world attack success (letting the model generate freely on its own and seeing if it actually complies). A suffix can achieve a very low loss and still fail to jailbreak the model in practice, or vice versa. This distinction between 'optimization loss' and 'ASR' becomes one of the deck's six central findings (Finding 6, slide 20).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definitions are used constantly for the rest of the deck, so this slide is worth reading carefully before continuing. The single most important idea to take away: every ASR number in this deck is only meaningful relative to its baseline conditions (neutral_control / task_only), because those baselines are NOT always 0% — sometimes the model complies with a harmful request even with no suffix at all, purely due to randomness in generation (sampling temperature, seed). 'Net-negative' is a recurring, important, slightly counter-intuitive result in this project: it means the adversarial suffix made the attack LESS likely to succeed than doing nothing.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4 is a set of ablation studies ("ablation" = systematically removing or changing one piece of the setup at a time to see what matters) run against the standard GCG attack. Phase 5 is the single most important phase: it discovers and fixes a bug in how the attack target was specified for reasoning models, causing a 4x jump in attack success. Phase 6 tries to combine the Phase 5 attack with a second, published technique (suppressing a 'refusal direction' in the model's activations) and finds the combination backfires. Phase 7 is a scale-out and robustness-check phase that closes three open questions left by Phases 5–6: does the best attack generalize to more behaviors (7A), is it stable across random seeds (7B), and is Gemma4's total resistance a real property or just a technical artifact (7C). 7A turned out to be the longest-running piece (520 behaviors × 4 conditions × 3 seeds = 6,240 generations, later also re-run on 3 more unseen seeds for another 5,849 generations across 493/520 behaviors) because of its sheer size, so it was split into parallel SLURM jobs to finish in a reasonable time. As of this version of the deck, it has finished — see slide 10 for its final numbers.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4 is essentially a set of negative/diagnostic results that rule out several hypotheses about why the standard GCG attack under-performs, and set up the key insight found in Phase 5. The detection-related sub-results (4D, discussed in Finding 2 later) additionally showed that the adversarial signal is specific to the chain-of-thought pathway. AdvBench is a standard public benchmark dataset of harmful-request behaviors (520 total) used throughout this project; the 25 behaviors used for optimization in Phases 4–6 are a fixed training subset, with the remaining 495 (or a superset including seeds) later used to test generalization in Phase 7A.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single most important methodological finding in the whole project (Finding 1, expanded later on slide 15). It is a subtle but classic failure mode in adversarial attacks against reasoning models: if you don't account for the model's actual generation format (here, that it always starts with a hidden reasoning block), your optimization target is simply wrong, and no amount of gradient descent will fix that mismatch. Once the target was corrected to reflect reality, attack success roughly quadrupled even though the raw loss number got worse — a good reminder that loss is a proxy, not the goal itself.</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an important negative result with a clean mechanistic explanation (expanded in Finding 3, slide 17). It shows that a technique which works extremely well as a DIRECT activation edit at inference time (91% ASR in the referenced paper) does NOT transfer to a LEARNED suffix that has to be expressed as valid, printable tokens. The paper's method has essentially unconstrained access to internal activations; GCG is constrained to whatever effect real tokens can have on those same activations. One candidate explanation is that tokens weird enough to suppress the refusal direction are also weird enough to trigger other safety pathways -- but this project didn't isolate that mechanism directly, so treat it as a hypothesis, not a confirmed explanation. Also note: 6A-Q (this slide) uses the STANDARD target, not the CoT-prefix target -- only 6C (slide 14) combines both. And under the hood, the refusal-direction loss only shapes which candidates get proposed via the gradient; it's not part of the actual candidate-selection criterion each step (see the 2026-07-13 audit's refusal-direction doc for the full trace).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7 exists specifically to stress-test the Phase 5 result before treating '10.7% ASR' as a reliable headline number. Good empirical practice for any adversarial-attack claim is to check: (1) does it hold at scale, not just on the small tuning set, (2) does it hold across different random initializations, not just one lucky run, and (3) for negative results (like Gemma4's 0%), is there a mundane technical explanation (format mismatch) before concluding something deeper is going on. All three checks were run starting the evening of July 10, with 7A (the largest computation) finishing last, on July 12.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slide's numbers are now FINAL — all 6 shard jobs for the main evaluation and all 15 shard jobs (across 3 waves) for the unseen-seed evaluation completed, were merged, replayed (to capture hidden states), and analyzed. The unseen-seed evaluation reached 493 of 520 behaviors (94.8%) — 27 behaviors were not reached because 4 of the parallel shard jobs ran out of wall-time before finishing their assigned range; a 2026-07-13 audit found this missingness is NOT random (the 27 missing behaviors are specifically the trailing tail of those shards, skewing toward higher AdvBench row indices, and mildly over-representing the misinformation category), so 8.92% should be presented as "over the 493 completed behaviors (94.8% coverage)," not as an unbiased estimate of the full 520. The headline takeaway is nuanced and important: the attack DOES generalize to the full 520-behavior AdvBench benchmark, with a robust, consistent, positive uplift over every baseline in both the training-seed and unseen-seed regimes — but the realistic full-benchmark attack rate (about 8-9%) is meaningfully lower than the 10.7%/14.7% figures obtained on the original 25 hand-picked training behaviors. This is a classic and useful caution in adversarial-attack research: a suffix tuned and evaluated on a small, convenient subset of test cases can look more effective than it really is once tested against the full, more heterogeneous benchmark. For this reason, 8.01% (training seeds) and 8.92% (unseen seeds) should be treated as the project's headline, most-trustworthy attack-effectiveness numbers — not the higher 25-behavior figures. The detection result (AUC=1.000) and the seed-generalization result (negligible transfer gap) both hold up perfectly at full scale, which strengthens confidence in those two findings specifically.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is one of the most important in the deck because it shows that the headline '10.7% ASR' from Phase 5 is NOT a stable, reproducible number — it depends heavily on which random seed was used during optimization. Seed 42 (the original 5A run) happened to land roughly in the middle of the range. Seed 45 nearly doubles it (16.0%/21.3%); seed 44 is actively counterproductive (the suffix makes the model refuse MORE than if you'd used no suffix at all, in both the training and completely unseen evaluation regimes). Also note the unseen-seed baseline context: for seeds 100/200/300, the no-suffix baseline (neutral_control) ASR is around 12% — much higher than the ~2–4% baseline on training seeds 42/43/44. This means seeds 100/200/300 are intrinsically more 'permissive' during generation, so the fair comparison is always the pp-uplift column, not the raw headline percentage.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Finding 6 in the six-findings list (slide 20), presented here with its supporting numbers front and center because it's one of the most surprising and consequential results in the project. It essentially says: if you only look at the standard metric researchers normally optimize and report (loss), you cannot tell these two suffixes apart — you would need to actually run free generation and score the outputs to know that one is the best attack found in this entire project and the other is actively counterproductive. This has methodological implications beyond this project: any adversarial-suffix research that selects/reports results by loss alone may be systematically misleading.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experiment is a clean, well-controlled test that rules out the most likely mundane explanation for a striking result (0% across the board). If Gemma4's resistance HAD been a format artifact, then removing the format barrier (thinking=OFF) should have unlocked at least some nonzero attack success, especially given the optimizer converged even better than it did on Qwen3. Instead, ASR stayed at exactly 0%, which is strong evidence the resistance is a genuine property of the model's safety training rather than a side-effect of tokenization or chain-of-thought formatting.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reference table for the whole deck — every quantitative result from Phases 4 through 7 in one place, so you can look up any experiment's numbers without hunting through the earlier slides. Rows are in roughly chronological/phase order, with 7A last since it is a full-benchmark confirmation run of the 5A suffix rather than a new optimization. All numbers in this table are now final — no experiment is still in progress. Bold pattern to notice while scanning: the 5A/7B rows (CoT-prefix targeting) are the only consistently positive-uplift rows for Qwen3; every row that adds a refusal-direction loss term (6A, 6C) or attacks Gemma4 lands at or near 0%.</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finding explains why the standard, textbook GCG recipe under-performs against modern reasoning models: the recipe was designed assuming models answer directly, but reasoning models insert a hidden 'thinking' block first. Any attack (or, for defenders, any expectation about attack behavior) that doesn't account for this format will be systematically misaimed. This was the pivotal discovery of Phase 5 and the reason ASR jumped from single digits to double digits.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strong, practically actionable result: a defender does not need to wait for the model to finish generating a response, or even for the visible text to start, to catch a GCG-style adversarial suffix against Qwen3 — a lightweight classifier on the FIRST generated token's hidden state catches every variant tested with perfect accuracy (AUC=1.000). The fact that this holds even for the worst-performing attack (seed 44) and even for the best-performing attack (seed 45) shows the detection signature comes from the mere presence of a garbled adversarial suffix triggering the model's chain-of-thought reasoning to flag something is off, independent of whether that flagging ultimately stops the harmful output.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finding highlights a gap between white-box activation-editing attacks (which have essentially unconstrained access to internal model state at inference time) and suffix-learning attacks (which are constrained to producing real, printable tokens that a user could actually type or paste). A technique that achieves 91% success when directly patching activations achieves 0% when the same underlying idea has to be expressed indirectly through token choice, under the one layer/lambda/optimization-seed combination tested here. A plausible explanation is that the model has more than one way of encoding 'this looks unsafe' and pushing on one dimension (the refusal direction) via token choice triggers others -- but this project didn't test enough layers/lambdas/seeds to confirm that generally, so present it as a hypothesis consistent with the result, not a proven mechanism.</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Finding 4 is reassuring from a defense perspective: it shows that at least one production model (Gemma4) resisted every single GCG variant this project could devise, across five independent attack designs and two different reasoning-format configurations. The 7C experiment (slide 13) was the decisive test — it deliberately removed the one remaining plausible confound (CoT-format misalignment, the same bug that explained Qwen3's initial weakness) and still found 0%, which rules out that specific alternative explanation. What's left is that Gemma4 resisted every configuration tried; whether that reflects deeper/more distributed safety training, as opposed to some other architectural or training difference, remains a hypothesis this project didn't test directly (e.g. via activation-patching analogous to the paper's Qwen3 ablation).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finding is a methodological caution: naive comparison of raw ASR percentages across different evaluation seed-sets can be misleading, because the underlying willingness of the model to comply (independent of any attack) already varies with the random seed used for sampling. The project handles this correctly throughout by always reporting the pp-uplift-over-baseline alongside the raw percentage. The positive news within this finding: even though absolute numbers shift, the RELATIVE quality ranking of different attacking seeds (which suffix is good vs. bad) is stable whether you evaluate on training or unseen seeds — so seed-quality is a real, measurable, generalizing property of the optimization run, not an artifact of the evaluation set.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arguably the deck's most methodologically important finding for anyone doing GCG research more broadly, not just this project: the metric almost everyone optimizes and reports (loss) does not reliably predict the metric that actually matters (real-world attack success). This is analogous to a classic overfitting-style trap in machine learning — optimizing a convenient proxy metric can silently diverge from the true target metric. The fix demonstrated in Phase 5C (select by periodic live free-generation ASR checks rather than loss) is more expensive computationally but more trustworthy.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situates the project's results against the referenced 'CoT Hijacking' paper, which is the source of the refusal-direction concept used in Phase 6. The key intellectual contribution of comparing these two rows is the point made in Finding 3: a huge attack-success number achieved via direct, unconstrained activation editing (91%) does not mean an equally huge number is achievable by an attacker who can only submit text (best achieved here: 16%, and only 10.7% without even trying to incorporate the refusal-direction idea). This is a meaningful, realistic distinction for threat modeling: most real-world attackers interacting with a deployed model can only submit text, not edit internal activations.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translates the research findings into actionable guidance for anyone building or defending an LLM deployment. The most immediately implementable recommendation is #1: since detection is possible from the very first generated token with a simple classifier, a production safety pipeline for a reasoning model like Qwen3 could add this as a cheap, fast, pre-generation screening step. Recommendation #3 is more of a research direction for model builders: Gemma4 was harder to attack across every configuration tried, alongside a measurably stronger refusal-direction signal -- whether its safety is genuinely "not concentrated in one direction" is a hypothesis worth testing directly (not yet confirmed here) before treating it as a template to replicate in other models' safety training.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an honest, timestamped snapshot: every item in this table is now finished and finalized — the entire Phase 4–7 pipeline reached completion on 2026-07-12, when 7A's unseen-seed evaluation (the last piece still running) finished. 7A ended up being the longest-running experiment because of its sheer size (520 behaviors, and later a second unseen-seed pass on top), so it was split into parallel SLURM jobs on the cluster — first 6 shards for the main evaluation, then 15 more shards across three waves for the unseen-seed evaluation (a 3rd wave was needed to close the remaining gap, though 27 behaviors still weren't reached by wall-time — see slide 10) — using helper scripts (scripts/split_7a_manifest.py, scripts/merge_7a_shards.py, scripts/split_unseeded_shards.py, scripts/merge_unseeded_shards.py) written specifically to parallelize this workload. Both documentation files (GCG_FINDINGS_SYNTHESIS.md and GCG_PHASE7_PIPELINE_LOG.md) have been updated with the final numbers, and this deck has been refreshed to match — see slide 10 for 7A's full final results.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closing slide is designed to be read on its own as a one-page executive summary, and now reflects the fully-completed pipeline (as of 2026-07-12). If a reader only looks at one slide in this deck, this is the one: the seven numbered findings (the seventh — full-scale confirmation — was added once Phase 7A finished), plus three headline results. Note the deliberate distinction between the 'best single-run attack' (21.3%, from one seed on the small 25-behavior tuning set) and the 'best full-benchmark rate' (8.01%/8.92%, from testing the same suffix against all 520 AdvBench behaviors) — the full-benchmark number is the more trustworthy, generalizable figure and should be cited as the project's headline result when a single number is needed.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appendix is a pointer reference, not meant to be read top-to-bottom — it's here so anyone who wants to dig into the raw underlying data after seeing this summary knows exactly which files and job IDs to look for. A 2026-07-13 audit pass produced six additional documents (GCG_PHASE4_7_AUDIT_REPORT.md, GCG_PHASE4_7_SOURCE_OF_TRUTH.{csv,md}, GCG_DETECTOR_ROBUSTNESS_AUDIT.md, GCG_REFUSAL_DIRECTION_AUDIT.md, GCG_COT_PREFIX_MECHANISM_ANALYSIS.md, GCG_7A_BEHAVIOR_LEVEL_ANALYSIS.md) that trace every number in this deck back to raw artifacts and correct several claims that were previously overstated -- start there for anything that seems too strong or too clean. All paths are relative to the repository root (teza_first_poc_with_mahmood/). The sharding scripts (for both the main 520-behavior evaluation and the follow-up 3-unseen-seed evaluation) and their SLURM launchers were written specifically to parallelize Phase 7A, which was by far the largest single computation in the whole pipeline — 6,240 + 5,849 = 12,089 individual generations to score, replay, and analyze.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1F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0"/>
            <a:ext cx="10515600" cy="1463040"/>
          </a:xfrm>
          <a:prstGeom prst="rect">
            <a:avLst/>
          </a:prstGeom>
          <a:noFill/>
        </p:spPr>
        <p:txBody>
          <a:bodyPr wrap="square">
            <a:spAutoFit/>
          </a:bodyPr>
          <a:lstStyle/>
          <a:p>
            <a:pPr>
              <a:defRPr sz="4000" b="1">
                <a:solidFill>
                  <a:srgbClr val="FFFFFF"/>
                </a:solidFill>
              </a:defRPr>
            </a:pPr>
            <a:r>
              <a:t>GCG Adversarial Suffix Attacks</a:t>
            </a:r>
          </a:p>
          <a:p>
            <a:pPr>
              <a:defRPr sz="2200">
                <a:solidFill>
                  <a:srgbClr val="B9C6E0"/>
                </a:solidFill>
              </a:defRPr>
            </a:pPr>
            <a:r>
              <a:t>Phases 4–7: Ablations, the CoT-Prefix Breakthrough, and Scale-Out</a:t>
            </a:r>
          </a:p>
        </p:txBody>
      </p:sp>
      <p:sp>
        <p:nvSpPr>
          <p:cNvPr id="4" name="TextBox 3"/>
          <p:cNvSpPr txBox="1"/>
          <p:nvPr/>
        </p:nvSpPr>
        <p:spPr>
          <a:xfrm>
            <a:off x="822960" y="4206240"/>
            <a:ext cx="10515600" cy="1097280"/>
          </a:xfrm>
          <a:prstGeom prst="rect">
            <a:avLst/>
          </a:prstGeom>
          <a:noFill/>
        </p:spPr>
        <p:txBody>
          <a:bodyPr wrap="square">
            <a:spAutoFit/>
          </a:bodyPr>
          <a:lstStyle/>
          <a:p>
            <a:pPr>
              <a:defRPr sz="1600">
                <a:solidFill>
                  <a:srgbClr val="FFFFFF"/>
                </a:solidFill>
              </a:defRPr>
            </a:pPr>
            <a:r>
              <a:t>Models under test: Qwen3-14B  •  Gemma4-E4B-it</a:t>
            </a:r>
          </a:p>
          <a:p>
            <a:pPr>
              <a:defRPr sz="1600">
                <a:solidFill>
                  <a:srgbClr val="FFFFFF"/>
                </a:solidFill>
              </a:defRPr>
            </a:pPr>
            <a:r>
              <a:t>Window covered: July 7 – July 12, 2026</a:t>
            </a:r>
          </a:p>
          <a:p>
            <a:pPr>
              <a:defRPr sz="1400">
                <a:solidFill>
                  <a:srgbClr val="9AA5B8"/>
                </a:solidFill>
              </a:defRPr>
            </a:pPr>
            <a:r>
              <a:t>Researcher: Omer Yosef</a:t>
            </a:r>
          </a:p>
        </p:txBody>
      </p:sp>
      <p:sp>
        <p:nvSpPr>
          <p:cNvPr id="5" name="TextBox 4"/>
          <p:cNvSpPr txBox="1"/>
          <p:nvPr/>
        </p:nvSpPr>
        <p:spPr>
          <a:xfrm>
            <a:off x="548640" y="6537960"/>
            <a:ext cx="11064240" cy="274320"/>
          </a:xfrm>
          <a:prstGeom prst="rect">
            <a:avLst/>
          </a:prstGeom>
          <a:noFill/>
        </p:spPr>
        <p:txBody>
          <a:bodyPr wrap="none">
            <a:spAutoFit/>
          </a:bodyPr>
          <a:lstStyle/>
          <a:p>
            <a:pPr algn="r">
              <a:defRPr sz="1000">
                <a:solidFill>
                  <a:srgbClr val="5F636E"/>
                </a:solidFill>
              </a:defRPr>
            </a:pPr>
            <a:r>
              <a:t>GCG Phases 4–7 Summary  |  Jul 7–12, 2026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65760"/>
          </a:xfrm>
          <a:prstGeom prst="rect">
            <a:avLst/>
          </a:prstGeom>
          <a:noFill/>
        </p:spPr>
        <p:txBody>
          <a:bodyPr wrap="none">
            <a:spAutoFit/>
          </a:bodyPr>
          <a:lstStyle/>
          <a:p>
            <a:pPr>
              <a:defRPr sz="1400" b="1">
                <a:solidFill>
                  <a:srgbClr val="2E6BE0"/>
                </a:solidFill>
              </a:defRPr>
            </a:pPr>
            <a:r>
              <a:t>AGENDA</a:t>
            </a:r>
          </a:p>
        </p:txBody>
      </p:sp>
      <p:sp>
        <p:nvSpPr>
          <p:cNvPr id="3" name="TextBox 2"/>
          <p:cNvSpPr txBox="1"/>
          <p:nvPr/>
        </p:nvSpPr>
        <p:spPr>
          <a:xfrm>
            <a:off x="548640" y="685800"/>
            <a:ext cx="11064240" cy="822960"/>
          </a:xfrm>
          <a:prstGeom prst="rect">
            <a:avLst/>
          </a:prstGeom>
          <a:noFill/>
        </p:spPr>
        <p:txBody>
          <a:bodyPr wrap="square">
            <a:spAutoFit/>
          </a:bodyPr>
          <a:lstStyle/>
          <a:p>
            <a:pPr>
              <a:defRPr sz="3000" b="1">
                <a:solidFill>
                  <a:srgbClr val="1B1F2A"/>
                </a:solidFill>
              </a:defRPr>
            </a:pPr>
            <a:r>
              <a:t>What This Deck Covers</a:t>
            </a:r>
          </a:p>
        </p:txBody>
      </p:sp>
      <p:sp>
        <p:nvSpPr>
          <p:cNvPr id="4" name="Rectangle 3"/>
          <p:cNvSpPr/>
          <p:nvPr/>
        </p:nvSpPr>
        <p:spPr>
          <a:xfrm>
            <a:off x="548640" y="1417320"/>
            <a:ext cx="11064240" cy="25400"/>
          </a:xfrm>
          <a:prstGeom prst="rect">
            <a:avLst/>
          </a:prstGeom>
          <a:solidFill>
            <a:srgbClr val="2E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1064240" cy="4572000"/>
          </a:xfrm>
          <a:prstGeom prst="rect">
            <a:avLst/>
          </a:prstGeom>
          <a:noFill/>
        </p:spPr>
        <p:txBody>
          <a:bodyPr wrap="square">
            <a:spAutoFit/>
          </a:bodyPr>
          <a:lstStyle/>
          <a:p>
            <a:pPr>
              <a:spcAft>
                <a:spcPts val="1000"/>
              </a:spcAft>
              <a:defRPr sz="2000" b="1">
                <a:solidFill>
                  <a:srgbClr val="1B1F2A"/>
                </a:solidFill>
              </a:defRPr>
            </a:pPr>
            <a:r>
              <a:t>•  Background: what GCG is, and the metrics used to evaluate it (slides 3–4)</a:t>
            </a:r>
          </a:p>
          <a:p>
            <a:pPr>
              <a:spcAft>
                <a:spcPts val="1000"/>
              </a:spcAft>
              <a:defRPr sz="2000" b="1">
                <a:solidFill>
                  <a:srgbClr val="1B1F2A"/>
                </a:solidFill>
              </a:defRPr>
            </a:pPr>
            <a:r>
              <a:t>•  Timeline of Phases 4 → 7 (slide 5)</a:t>
            </a:r>
          </a:p>
          <a:p>
            <a:pPr>
              <a:spcAft>
                <a:spcPts val="1000"/>
              </a:spcAft>
              <a:defRPr sz="2000" b="1">
                <a:solidFill>
                  <a:srgbClr val="1B1F2A"/>
                </a:solidFill>
              </a:defRPr>
            </a:pPr>
            <a:r>
              <a:t>•  Phase-by-phase results: Phase 4 ablations, Phase 5 breakthrough, Phase 6 refusal-direction, Phase 7 scale-out (slides 6–13)</a:t>
            </a:r>
          </a:p>
          <a:p>
            <a:pPr>
              <a:spcAft>
                <a:spcPts val="1000"/>
              </a:spcAft>
              <a:defRPr sz="2000" b="1">
                <a:solidFill>
                  <a:srgbClr val="1B1F2A"/>
                </a:solidFill>
              </a:defRPr>
            </a:pPr>
            <a:r>
              <a:t>•  Master results table — every experiment in one place (slide 14)</a:t>
            </a:r>
          </a:p>
          <a:p>
            <a:pPr>
              <a:spcAft>
                <a:spcPts val="1000"/>
              </a:spcAft>
              <a:defRPr sz="2000" b="1">
                <a:solidFill>
                  <a:srgbClr val="1B1F2A"/>
                </a:solidFill>
              </a:defRPr>
            </a:pPr>
            <a:r>
              <a:t>•  Six of the seven key findings, explained in depth (slides 15–20) — the seventh (full-scale generalization) is covered on slide 10 and revisited in the conclusions</a:t>
            </a:r>
          </a:p>
          <a:p>
            <a:pPr>
              <a:spcAft>
                <a:spcPts val="1000"/>
              </a:spcAft>
              <a:defRPr sz="2000" b="1">
                <a:solidFill>
                  <a:srgbClr val="1B1F2A"/>
                </a:solidFill>
              </a:defRPr>
            </a:pPr>
            <a:r>
              <a:t>•  Comparison to prior published work (slide 21)</a:t>
            </a:r>
          </a:p>
          <a:p>
            <a:pPr>
              <a:spcAft>
                <a:spcPts val="1000"/>
              </a:spcAft>
              <a:defRPr sz="2000" b="1">
                <a:solidFill>
                  <a:srgbClr val="1B1F2A"/>
                </a:solidFill>
              </a:defRPr>
            </a:pPr>
            <a:r>
              <a:t>•  What this means for building defenses (slide 22)</a:t>
            </a:r>
          </a:p>
          <a:p>
            <a:pPr>
              <a:spcAft>
                <a:spcPts val="1000"/>
              </a:spcAft>
              <a:defRPr sz="2000" b="1">
                <a:solidFill>
                  <a:srgbClr val="1B1F2A"/>
                </a:solidFill>
              </a:defRPr>
            </a:pPr>
            <a:r>
              <a:t>•  Current status — confirming the full pipeline is now complete (slide 23)</a:t>
            </a:r>
          </a:p>
          <a:p>
            <a:pPr>
              <a:spcAft>
                <a:spcPts val="1000"/>
              </a:spcAft>
              <a:defRPr sz="2000" b="1">
                <a:solidFill>
                  <a:srgbClr val="1B1F2A"/>
                </a:solidFill>
              </a:defRPr>
            </a:pPr>
            <a:r>
              <a:t>•  Conclusions and takeaways (slide 24)</a:t>
            </a:r>
          </a:p>
          <a:p>
            <a:pPr>
              <a:spcAft>
                <a:spcPts val="1000"/>
              </a:spcAft>
              <a:defRPr sz="2000" b="1">
                <a:solidFill>
                  <a:srgbClr val="1B1F2A"/>
                </a:solidFill>
              </a:defRPr>
            </a:pPr>
            <a:r>
              <a:t>•  Appendix: file locations, job IDs, scripts (slide 25)</a:t>
            </a:r>
          </a:p>
        </p:txBody>
      </p:sp>
      <p:sp>
        <p:nvSpPr>
          <p:cNvPr id="6" name="TextBox 5"/>
          <p:cNvSpPr txBox="1"/>
          <p:nvPr/>
        </p:nvSpPr>
        <p:spPr>
          <a:xfrm>
            <a:off x="548640" y="6537960"/>
            <a:ext cx="11064240" cy="274320"/>
          </a:xfrm>
          <a:prstGeom prst="rect">
            <a:avLst/>
          </a:prstGeom>
          <a:noFill/>
        </p:spPr>
        <p:txBody>
          <a:bodyPr wrap="none">
            <a:spAutoFit/>
          </a:bodyPr>
          <a:lstStyle/>
          <a:p>
            <a:pPr algn="r">
              <a:defRPr sz="1000">
                <a:solidFill>
                  <a:srgbClr val="5F636E"/>
                </a:solidFill>
              </a:defRPr>
            </a:pPr>
            <a:r>
              <a:t>GCG Phases 4–7 Summary  |  Jul 7–12, 2026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65760"/>
          </a:xfrm>
          <a:prstGeom prst="rect">
            <a:avLst/>
          </a:prstGeom>
          <a:noFill/>
        </p:spPr>
        <p:txBody>
          <a:bodyPr wrap="none">
            <a:spAutoFit/>
          </a:bodyPr>
          <a:lstStyle/>
          <a:p>
            <a:pPr>
              <a:defRPr sz="1400" b="1">
                <a:solidFill>
                  <a:srgbClr val="2E6BE0"/>
                </a:solidFill>
              </a:defRPr>
            </a:pPr>
            <a:r>
              <a:t>CONCEPTS</a:t>
            </a:r>
          </a:p>
        </p:txBody>
      </p:sp>
      <p:sp>
        <p:nvSpPr>
          <p:cNvPr id="3" name="TextBox 2"/>
          <p:cNvSpPr txBox="1"/>
          <p:nvPr/>
        </p:nvSpPr>
        <p:spPr>
          <a:xfrm>
            <a:off x="548640" y="685800"/>
            <a:ext cx="11064240" cy="822960"/>
          </a:xfrm>
          <a:prstGeom prst="rect">
            <a:avLst/>
          </a:prstGeom>
          <a:noFill/>
        </p:spPr>
        <p:txBody>
          <a:bodyPr wrap="square">
            <a:spAutoFit/>
          </a:bodyPr>
          <a:lstStyle/>
          <a:p>
            <a:pPr>
              <a:defRPr sz="3000" b="1">
                <a:solidFill>
                  <a:srgbClr val="1B1F2A"/>
                </a:solidFill>
              </a:defRPr>
            </a:pPr>
            <a:r>
              <a:t>Background: What Is GCG?</a:t>
            </a:r>
          </a:p>
        </p:txBody>
      </p:sp>
      <p:sp>
        <p:nvSpPr>
          <p:cNvPr id="4" name="Rectangle 3"/>
          <p:cNvSpPr/>
          <p:nvPr/>
        </p:nvSpPr>
        <p:spPr>
          <a:xfrm>
            <a:off x="548640" y="1417320"/>
            <a:ext cx="11064240" cy="25400"/>
          </a:xfrm>
          <a:prstGeom prst="rect">
            <a:avLst/>
          </a:prstGeom>
          <a:solidFill>
            <a:srgbClr val="2E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1064240" cy="4572000"/>
          </a:xfrm>
          <a:prstGeom prst="rect">
            <a:avLst/>
          </a:prstGeom>
          <a:noFill/>
        </p:spPr>
        <p:txBody>
          <a:bodyPr wrap="square">
            <a:spAutoFit/>
          </a:bodyPr>
          <a:lstStyle/>
          <a:p>
            <a:pPr>
              <a:spcAft>
                <a:spcPts val="1000"/>
              </a:spcAft>
              <a:defRPr sz="1800" b="1">
                <a:solidFill>
                  <a:srgbClr val="1B1F2A"/>
                </a:solidFill>
              </a:defRPr>
            </a:pPr>
            <a:r>
              <a:t>•  GCG = Greedy Coordinate Gradient — an optimization algorithm for finding adversarial text</a:t>
            </a:r>
          </a:p>
          <a:p>
            <a:pPr>
              <a:spcAft>
                <a:spcPts val="1000"/>
              </a:spcAft>
              <a:defRPr sz="1800" b="1">
                <a:solidFill>
                  <a:srgbClr val="1B1F2A"/>
                </a:solidFill>
              </a:defRPr>
            </a:pPr>
            <a:r>
              <a:t>•  Goal: append a short suffix (~20 tokens) of seemingly-random text to a harmful prompt so the model complies instead of refusing</a:t>
            </a:r>
          </a:p>
          <a:p>
            <a:pPr>
              <a:spcAft>
                <a:spcPts val="600"/>
              </a:spcAft>
              <a:defRPr sz="1500" b="0">
                <a:solidFill>
                  <a:srgbClr val="5F636E"/>
                </a:solidFill>
              </a:defRPr>
            </a:pPr>
            <a:r>
              <a:t>‒  Example: "How do I pick a lock? " + [optimized suffix like 'нут_DEFAULT {/* ... ]'</a:t>
            </a:r>
          </a:p>
          <a:p>
            <a:pPr>
              <a:spcAft>
                <a:spcPts val="1000"/>
              </a:spcAft>
              <a:defRPr sz="1800" b="1">
                <a:solidFill>
                  <a:srgbClr val="1B1F2A"/>
                </a:solidFill>
              </a:defRPr>
            </a:pPr>
            <a:r>
              <a:t>•  How it works: start from a random suffix, then repeatedly (1) compute which token swaps would most reduce a loss function, (2) try a batch of candidate swaps, (3) keep the one that reduces loss the most — repeated for hundreds of steps</a:t>
            </a:r>
          </a:p>
          <a:p>
            <a:pPr>
              <a:spcAft>
                <a:spcPts val="1000"/>
              </a:spcAft>
              <a:defRPr sz="1800" b="1">
                <a:solidFill>
                  <a:srgbClr val="1B1F2A"/>
                </a:solidFill>
              </a:defRPr>
            </a:pPr>
            <a:r>
              <a:t>•  The "loss" being minimized is normally teacher-forced cross-entropy toward a target string like "Sure, here is how to pick a lock" — i.e., how likely the model is to have generated that exact compliant text</a:t>
            </a:r>
          </a:p>
          <a:p>
            <a:pPr>
              <a:spcAft>
                <a:spcPts val="1000"/>
              </a:spcAft>
              <a:defRPr sz="1800" b="1">
                <a:solidFill>
                  <a:srgbClr val="1B1F2A"/>
                </a:solidFill>
              </a:defRPr>
            </a:pPr>
            <a:r>
              <a:t>•  This project asks two questions for every suffix found: (1) does it actually increase compliance in free (real) generation — the Attack Success Rate, or ASR, and (2) can a simple classifier detect that the suffix is present just from the model's internal activations — the AUC</a:t>
            </a:r>
          </a:p>
        </p:txBody>
      </p:sp>
      <p:sp>
        <p:nvSpPr>
          <p:cNvPr id="6" name="TextBox 5"/>
          <p:cNvSpPr txBox="1"/>
          <p:nvPr/>
        </p:nvSpPr>
        <p:spPr>
          <a:xfrm>
            <a:off x="548640" y="6537960"/>
            <a:ext cx="11064240" cy="274320"/>
          </a:xfrm>
          <a:prstGeom prst="rect">
            <a:avLst/>
          </a:prstGeom>
          <a:noFill/>
        </p:spPr>
        <p:txBody>
          <a:bodyPr wrap="none">
            <a:spAutoFit/>
          </a:bodyPr>
          <a:lstStyle/>
          <a:p>
            <a:pPr algn="r">
              <a:defRPr sz="1000">
                <a:solidFill>
                  <a:srgbClr val="5F636E"/>
                </a:solidFill>
              </a:defRPr>
            </a:pPr>
            <a:r>
              <a:t>GCG Phases 4–7 Summary  |  Jul 7–12, 2026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65760"/>
          </a:xfrm>
          <a:prstGeom prst="rect">
            <a:avLst/>
          </a:prstGeom>
          <a:noFill/>
        </p:spPr>
        <p:txBody>
          <a:bodyPr wrap="none">
            <a:spAutoFit/>
          </a:bodyPr>
          <a:lstStyle/>
          <a:p>
            <a:pPr>
              <a:defRPr sz="1400" b="1">
                <a:solidFill>
                  <a:srgbClr val="2E6BE0"/>
                </a:solidFill>
              </a:defRPr>
            </a:pPr>
            <a:r>
              <a:t>CONCEPTS</a:t>
            </a:r>
          </a:p>
        </p:txBody>
      </p:sp>
      <p:sp>
        <p:nvSpPr>
          <p:cNvPr id="3" name="TextBox 2"/>
          <p:cNvSpPr txBox="1"/>
          <p:nvPr/>
        </p:nvSpPr>
        <p:spPr>
          <a:xfrm>
            <a:off x="548640" y="685800"/>
            <a:ext cx="11064240" cy="822960"/>
          </a:xfrm>
          <a:prstGeom prst="rect">
            <a:avLst/>
          </a:prstGeom>
          <a:noFill/>
        </p:spPr>
        <p:txBody>
          <a:bodyPr wrap="square">
            <a:spAutoFit/>
          </a:bodyPr>
          <a:lstStyle/>
          <a:p>
            <a:pPr>
              <a:defRPr sz="3000" b="1">
                <a:solidFill>
                  <a:srgbClr val="1B1F2A"/>
                </a:solidFill>
              </a:defRPr>
            </a:pPr>
            <a:r>
              <a:t>Background: Key Terms and Metrics</a:t>
            </a:r>
          </a:p>
        </p:txBody>
      </p:sp>
      <p:sp>
        <p:nvSpPr>
          <p:cNvPr id="4" name="Rectangle 3"/>
          <p:cNvSpPr/>
          <p:nvPr/>
        </p:nvSpPr>
        <p:spPr>
          <a:xfrm>
            <a:off x="548640" y="1417320"/>
            <a:ext cx="11064240" cy="25400"/>
          </a:xfrm>
          <a:prstGeom prst="rect">
            <a:avLst/>
          </a:prstGeom>
          <a:solidFill>
            <a:srgbClr val="2E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48640" y="1600200"/>
          <a:ext cx="11064240" cy="3072384"/>
        </p:xfrm>
        <a:graphic>
          <a:graphicData uri="http://schemas.openxmlformats.org/drawingml/2006/table">
            <a:tbl>
              <a:tblPr firstRow="1" bandRow="1">
                <a:tableStyleId>{5C22544A-7EE6-4342-B048-85BDC9FD1C3A}</a:tableStyleId>
              </a:tblPr>
              <a:tblGrid>
                <a:gridCol w="2926080"/>
                <a:gridCol w="8138160"/>
              </a:tblGrid>
              <a:tr h="384048">
                <a:tc>
                  <a:txBody>
                    <a:bodyPr/>
                    <a:lstStyle/>
                    <a:p>
                      <a:pPr>
                        <a:defRPr b="1" sz="1400">
                          <a:solidFill>
                            <a:srgbClr val="FFFFFF"/>
                          </a:solidFill>
                        </a:defRPr>
                      </a:pPr>
                      <a:r>
                        <a:t>Term</a:t>
                      </a:r>
                    </a:p>
                  </a:txBody>
                  <a:tcPr anchor="ctr">
                    <a:solidFill>
                      <a:srgbClr val="1B1F2A"/>
                    </a:solidFill>
                  </a:tcPr>
                </a:tc>
                <a:tc>
                  <a:txBody>
                    <a:bodyPr/>
                    <a:lstStyle/>
                    <a:p>
                      <a:pPr>
                        <a:defRPr b="1" sz="1400">
                          <a:solidFill>
                            <a:srgbClr val="FFFFFF"/>
                          </a:solidFill>
                        </a:defRPr>
                      </a:pPr>
                      <a:r>
                        <a:t>Meaning</a:t>
                      </a:r>
                    </a:p>
                  </a:txBody>
                  <a:tcPr anchor="ctr">
                    <a:solidFill>
                      <a:srgbClr val="1B1F2A"/>
                    </a:solidFill>
                  </a:tcPr>
                </a:tc>
              </a:tr>
              <a:tr h="384048">
                <a:tc>
                  <a:txBody>
                    <a:bodyPr/>
                    <a:lstStyle/>
                    <a:p>
                      <a:pPr>
                        <a:defRPr sz="1300">
                          <a:solidFill>
                            <a:srgbClr val="1B1F2A"/>
                          </a:solidFill>
                        </a:defRPr>
                      </a:pPr>
                      <a:r>
                        <a:t>ASR (Attack Success Rate)</a:t>
                      </a:r>
                    </a:p>
                  </a:txBody>
                  <a:tcPr anchor="ctr">
                    <a:solidFill>
                      <a:srgbClr val="F4F6F9"/>
                    </a:solidFill>
                  </a:tcPr>
                </a:tc>
                <a:tc>
                  <a:txBody>
                    <a:bodyPr/>
                    <a:lstStyle/>
                    <a:p>
                      <a:pPr>
                        <a:defRPr sz="1300">
                          <a:solidFill>
                            <a:srgbClr val="1B1F2A"/>
                          </a:solidFill>
                        </a:defRPr>
                      </a:pPr>
                      <a:r>
                        <a:t>% of harmful prompts where the model actually complied in free generation, judged by a StrongREJECT-style scorer</a:t>
                      </a:r>
                    </a:p>
                  </a:txBody>
                  <a:tcPr anchor="ctr">
                    <a:solidFill>
                      <a:srgbClr val="F4F6F9"/>
                    </a:solidFill>
                  </a:tcPr>
                </a:tc>
              </a:tr>
              <a:tr h="384048">
                <a:tc>
                  <a:txBody>
                    <a:bodyPr/>
                    <a:lstStyle/>
                    <a:p>
                      <a:pPr>
                        <a:defRPr sz="1300">
                          <a:solidFill>
                            <a:srgbClr val="1B1F2A"/>
                          </a:solidFill>
                        </a:defRPr>
                      </a:pPr>
                      <a:r>
                        <a:t>AUC</a:t>
                      </a:r>
                    </a:p>
                  </a:txBody>
                  <a:tcPr anchor="ctr">
                    <a:solidFill>
                      <a:srgbClr val="FFFFFF"/>
                    </a:solidFill>
                  </a:tcPr>
                </a:tc>
                <a:tc>
                  <a:txBody>
                    <a:bodyPr/>
                    <a:lstStyle/>
                    <a:p>
                      <a:pPr>
                        <a:defRPr sz="1300">
                          <a:solidFill>
                            <a:srgbClr val="1B1F2A"/>
                          </a:solidFill>
                        </a:defRPr>
                      </a:pPr>
                      <a:r>
                        <a:t>How well a simple classifier (logistic regression) can distinguish 'suffix present' vs 'no suffix' from the model's hidden states at a given generated-token position. 1.000 = perfect detection, 0.5 = random guessing (undetectable)</a:t>
                      </a:r>
                    </a:p>
                  </a:txBody>
                  <a:tcPr anchor="ctr">
                    <a:solidFill>
                      <a:srgbClr val="FFFFFF"/>
                    </a:solidFill>
                  </a:tcPr>
                </a:tc>
              </a:tr>
              <a:tr h="384048">
                <a:tc>
                  <a:txBody>
                    <a:bodyPr/>
                    <a:lstStyle/>
                    <a:p>
                      <a:pPr>
                        <a:defRPr sz="1300">
                          <a:solidFill>
                            <a:srgbClr val="1B1F2A"/>
                          </a:solidFill>
                        </a:defRPr>
                      </a:pPr>
                      <a:r>
                        <a:t>pp / uplift</a:t>
                      </a:r>
                    </a:p>
                  </a:txBody>
                  <a:tcPr anchor="ctr">
                    <a:solidFill>
                      <a:srgbClr val="F4F6F9"/>
                    </a:solidFill>
                  </a:tcPr>
                </a:tc>
                <a:tc>
                  <a:txBody>
                    <a:bodyPr/>
                    <a:lstStyle/>
                    <a:p>
                      <a:pPr>
                        <a:defRPr sz="1300">
                          <a:solidFill>
                            <a:srgbClr val="1B1F2A"/>
                          </a:solidFill>
                        </a:defRPr>
                      </a:pPr>
                      <a:r>
                        <a:t>"Percentage points" — the ASR of the optimized suffix minus the ASR of a no-suffix baseline. Positive uplift = suffix helps the attacker; "net-negative" = suffix actively hurts the attacker (makes the model refuse MORE)</a:t>
                      </a:r>
                    </a:p>
                  </a:txBody>
                  <a:tcPr anchor="ctr">
                    <a:solidFill>
                      <a:srgbClr val="F4F6F9"/>
                    </a:solidFill>
                  </a:tcPr>
                </a:tc>
              </a:tr>
              <a:tr h="384048">
                <a:tc>
                  <a:txBody>
                    <a:bodyPr/>
                    <a:lstStyle/>
                    <a:p>
                      <a:pPr>
                        <a:defRPr sz="1300">
                          <a:solidFill>
                            <a:srgbClr val="1B1F2A"/>
                          </a:solidFill>
                        </a:defRPr>
                      </a:pPr>
                      <a:r>
                        <a:t>Seed</a:t>
                      </a:r>
                    </a:p>
                  </a:txBody>
                  <a:tcPr anchor="ctr">
                    <a:solidFill>
                      <a:srgbClr val="FFFFFF"/>
                    </a:solidFill>
                  </a:tcPr>
                </a:tc>
                <a:tc>
                  <a:txBody>
                    <a:bodyPr/>
                    <a:lstStyle/>
                    <a:p>
                      <a:pPr>
                        <a:defRPr sz="1300">
                          <a:solidFill>
                            <a:srgbClr val="1B1F2A"/>
                          </a:solidFill>
                        </a:defRPr>
                      </a:pPr>
                      <a:r>
                        <a:t>A random-number seed controls (a) which random suffix GCG starts optimizing from, and (b) generation sampling. Different seeds can find very different suffixes and produce very different ASR — this variance is tested directly in Phase 7B</a:t>
                      </a:r>
                    </a:p>
                  </a:txBody>
                  <a:tcPr anchor="ctr">
                    <a:solidFill>
                      <a:srgbClr val="FFFFFF"/>
                    </a:solidFill>
                  </a:tcPr>
                </a:tc>
              </a:tr>
              <a:tr h="384048">
                <a:tc>
                  <a:txBody>
                    <a:bodyPr/>
                    <a:lstStyle/>
                    <a:p>
                      <a:pPr>
                        <a:defRPr sz="1300">
                          <a:solidFill>
                            <a:srgbClr val="1B1F2A"/>
                          </a:solidFill>
                        </a:defRPr>
                      </a:pPr>
                      <a:r>
                        <a:t>Optimization vs. generation seeds</a:t>
                      </a:r>
                    </a:p>
                  </a:txBody>
                  <a:tcPr anchor="ctr">
                    <a:solidFill>
                      <a:srgbClr val="F4F6F9"/>
                    </a:solidFill>
                  </a:tcPr>
                </a:tc>
                <a:tc>
                  <a:txBody>
                    <a:bodyPr/>
                    <a:lstStyle/>
                    <a:p>
                      <a:pPr>
                        <a:defRPr sz="1300">
                          <a:solidFill>
                            <a:srgbClr val="1B1F2A"/>
                          </a:solidFill>
                        </a:defRPr>
                      </a:pPr>
                      <a:r>
                        <a:t>"Optimization seed" controls which suffix GCG finds (varied 42/43/44/45 in 7B). "Generation seed" controls sampling for a fixed suffix: a dev panel {42,43,44} is used for all runs' baseline/comparison numbers (not necessarily matching that run's own optimization seed), and {100,200,300} are held out entirely to test generalization to fresh randomness</a:t>
                      </a:r>
                    </a:p>
                  </a:txBody>
                  <a:tcPr anchor="ctr">
                    <a:solidFill>
                      <a:srgbClr val="F4F6F9"/>
                    </a:solidFill>
                  </a:tcPr>
                </a:tc>
              </a:tr>
              <a:tr h="384048">
                <a:tc>
                  <a:txBody>
                    <a:bodyPr/>
                    <a:lstStyle/>
                    <a:p>
                      <a:pPr>
                        <a:defRPr sz="1300">
                          <a:solidFill>
                            <a:srgbClr val="1B1F2A"/>
                          </a:solidFill>
                        </a:defRPr>
                      </a:pPr>
                      <a:r>
                        <a:t>CoT (Chain of Thought)</a:t>
                      </a:r>
                    </a:p>
                  </a:txBody>
                  <a:tcPr anchor="ctr">
                    <a:solidFill>
                      <a:srgbClr val="FFFFFF"/>
                    </a:solidFill>
                  </a:tcPr>
                </a:tc>
                <a:tc>
                  <a:txBody>
                    <a:bodyPr/>
                    <a:lstStyle/>
                    <a:p>
                      <a:pPr>
                        <a:defRPr sz="1300">
                          <a:solidFill>
                            <a:srgbClr val="1B1F2A"/>
                          </a:solidFill>
                        </a:defRPr>
                      </a:pPr>
                      <a:r>
                        <a:t>Qwen3's extended internal reasoning, wrapped in &lt;think&gt;...&lt;/think&gt; tokens, generated before the final answer. Whether CoT is on or off changes the model's very first generated token, which matters for GCG's target</a:t>
                      </a:r>
                    </a:p>
                  </a:txBody>
                  <a:tcPr anchor="ctr">
                    <a:solidFill>
                      <a:srgbClr val="FFFFFF"/>
                    </a:solidFill>
                  </a:tcPr>
                </a:tc>
              </a:tr>
              <a:tr h="384048">
                <a:tc>
                  <a:txBody>
                    <a:bodyPr/>
                    <a:lstStyle/>
                    <a:p>
                      <a:pPr>
                        <a:defRPr sz="1300">
                          <a:solidFill>
                            <a:srgbClr val="1B1F2A"/>
                          </a:solidFill>
                        </a:defRPr>
                      </a:pPr>
                      <a:r>
                        <a:t>neutral_control / random_spaces / task_only</a:t>
                      </a:r>
                    </a:p>
                  </a:txBody>
                  <a:tcPr anchor="ctr">
                    <a:solidFill>
                      <a:srgbClr val="F4F6F9"/>
                    </a:solidFill>
                  </a:tcPr>
                </a:tc>
                <a:tc>
                  <a:txBody>
                    <a:bodyPr/>
                    <a:lstStyle/>
                    <a:p>
                      <a:pPr>
                        <a:defRPr sz="1300">
                          <a:solidFill>
                            <a:srgbClr val="1B1F2A"/>
                          </a:solidFill>
                        </a:defRPr>
                      </a:pPr>
                      <a:r>
                        <a:t>Baseline conditions run alongside every optimized suffix: no suffix, a suffix of random tokens (not optimized), and just the raw task — used to tell whether the OPTIMIZED suffix adds anything over doing nothing</a:t>
                      </a:r>
                    </a:p>
                  </a:txBody>
                  <a:tcPr anchor="ctr">
                    <a:solidFill>
                      <a:srgbClr val="F4F6F9"/>
                    </a:solidFill>
                  </a:tcPr>
                </a:tc>
              </a:tr>
            </a:tbl>
          </a:graphicData>
        </a:graphic>
      </p:graphicFrame>
      <p:sp>
        <p:nvSpPr>
          <p:cNvPr id="6" name="TextBox 5"/>
          <p:cNvSpPr txBox="1"/>
          <p:nvPr/>
        </p:nvSpPr>
        <p:spPr>
          <a:xfrm>
            <a:off x="548640" y="6537960"/>
            <a:ext cx="11064240" cy="274320"/>
          </a:xfrm>
          <a:prstGeom prst="rect">
            <a:avLst/>
          </a:prstGeom>
          <a:noFill/>
        </p:spPr>
        <p:txBody>
          <a:bodyPr wrap="none">
            <a:spAutoFit/>
          </a:bodyPr>
          <a:lstStyle/>
          <a:p>
            <a:pPr algn="r">
              <a:defRPr sz="1000">
                <a:solidFill>
                  <a:srgbClr val="5F636E"/>
                </a:solidFill>
              </a:defRPr>
            </a:pPr>
            <a:r>
              <a:t>GCG Phases 4–7 Summary  |  Jul 7–12, 2026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65760"/>
          </a:xfrm>
          <a:prstGeom prst="rect">
            <a:avLst/>
          </a:prstGeom>
          <a:noFill/>
        </p:spPr>
        <p:txBody>
          <a:bodyPr wrap="none">
            <a:spAutoFit/>
          </a:bodyPr>
          <a:lstStyle/>
          <a:p>
            <a:pPr>
              <a:defRPr sz="1400" b="1">
                <a:solidFill>
                  <a:srgbClr val="2E6BE0"/>
                </a:solidFill>
              </a:defRPr>
            </a:pPr>
            <a:r>
              <a:t>OVERVIEW</a:t>
            </a:r>
          </a:p>
        </p:txBody>
      </p:sp>
      <p:sp>
        <p:nvSpPr>
          <p:cNvPr id="3" name="TextBox 2"/>
          <p:cNvSpPr txBox="1"/>
          <p:nvPr/>
        </p:nvSpPr>
        <p:spPr>
          <a:xfrm>
            <a:off x="548640" y="685800"/>
            <a:ext cx="11064240" cy="822960"/>
          </a:xfrm>
          <a:prstGeom prst="rect">
            <a:avLst/>
          </a:prstGeom>
          <a:noFill/>
        </p:spPr>
        <p:txBody>
          <a:bodyPr wrap="square">
            <a:spAutoFit/>
          </a:bodyPr>
          <a:lstStyle/>
          <a:p>
            <a:pPr>
              <a:defRPr sz="3000" b="1">
                <a:solidFill>
                  <a:srgbClr val="1B1F2A"/>
                </a:solidFill>
              </a:defRPr>
            </a:pPr>
            <a:r>
              <a:t>Timeline: Phases 4 → 7</a:t>
            </a:r>
          </a:p>
        </p:txBody>
      </p:sp>
      <p:sp>
        <p:nvSpPr>
          <p:cNvPr id="4" name="Rectangle 3"/>
          <p:cNvSpPr/>
          <p:nvPr/>
        </p:nvSpPr>
        <p:spPr>
          <a:xfrm>
            <a:off x="548640" y="1417320"/>
            <a:ext cx="11064240" cy="25400"/>
          </a:xfrm>
          <a:prstGeom prst="rect">
            <a:avLst/>
          </a:prstGeom>
          <a:solidFill>
            <a:srgbClr val="2E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48640" y="1645920"/>
          <a:ext cx="11064240" cy="3072384"/>
        </p:xfrm>
        <a:graphic>
          <a:graphicData uri="http://schemas.openxmlformats.org/drawingml/2006/table">
            <a:tbl>
              <a:tblPr firstRow="1" bandRow="1">
                <a:tableStyleId>{5C22544A-7EE6-4342-B048-85BDC9FD1C3A}</a:tableStyleId>
              </a:tblPr>
              <a:tblGrid>
                <a:gridCol w="1188720"/>
                <a:gridCol w="1188720"/>
                <a:gridCol w="6217920"/>
                <a:gridCol w="2468880"/>
              </a:tblGrid>
              <a:tr h="384048">
                <a:tc>
                  <a:txBody>
                    <a:bodyPr/>
                    <a:lstStyle/>
                    <a:p>
                      <a:pPr>
                        <a:defRPr b="1" sz="1300">
                          <a:solidFill>
                            <a:srgbClr val="FFFFFF"/>
                          </a:solidFill>
                        </a:defRPr>
                      </a:pPr>
                      <a:r>
                        <a:t>Phase</a:t>
                      </a:r>
                    </a:p>
                  </a:txBody>
                  <a:tcPr anchor="ctr">
                    <a:solidFill>
                      <a:srgbClr val="1B1F2A"/>
                    </a:solidFill>
                  </a:tcPr>
                </a:tc>
                <a:tc>
                  <a:txBody>
                    <a:bodyPr/>
                    <a:lstStyle/>
                    <a:p>
                      <a:pPr>
                        <a:defRPr b="1" sz="1300">
                          <a:solidFill>
                            <a:srgbClr val="FFFFFF"/>
                          </a:solidFill>
                        </a:defRPr>
                      </a:pPr>
                      <a:r>
                        <a:t>Dates</a:t>
                      </a:r>
                    </a:p>
                  </a:txBody>
                  <a:tcPr anchor="ctr">
                    <a:solidFill>
                      <a:srgbClr val="1B1F2A"/>
                    </a:solidFill>
                  </a:tcPr>
                </a:tc>
                <a:tc>
                  <a:txBody>
                    <a:bodyPr/>
                    <a:lstStyle/>
                    <a:p>
                      <a:pPr>
                        <a:defRPr b="1" sz="1300">
                          <a:solidFill>
                            <a:srgbClr val="FFFFFF"/>
                          </a:solidFill>
                        </a:defRPr>
                      </a:pPr>
                      <a:r>
                        <a:t>What it tested</a:t>
                      </a:r>
                    </a:p>
                  </a:txBody>
                  <a:tcPr anchor="ctr">
                    <a:solidFill>
                      <a:srgbClr val="1B1F2A"/>
                    </a:solidFill>
                  </a:tcPr>
                </a:tc>
                <a:tc>
                  <a:txBody>
                    <a:bodyPr/>
                    <a:lstStyle/>
                    <a:p>
                      <a:pPr>
                        <a:defRPr b="1" sz="1300">
                          <a:solidFill>
                            <a:srgbClr val="FFFFFF"/>
                          </a:solidFill>
                        </a:defRPr>
                      </a:pPr>
                      <a:r>
                        <a:t>Status</a:t>
                      </a:r>
                    </a:p>
                  </a:txBody>
                  <a:tcPr anchor="ctr">
                    <a:solidFill>
                      <a:srgbClr val="1B1F2A"/>
                    </a:solidFill>
                  </a:tcPr>
                </a:tc>
              </a:tr>
              <a:tr h="384048">
                <a:tc>
                  <a:txBody>
                    <a:bodyPr/>
                    <a:lstStyle/>
                    <a:p>
                      <a:pPr>
                        <a:defRPr sz="1300">
                          <a:solidFill>
                            <a:srgbClr val="1B1F2A"/>
                          </a:solidFill>
                        </a:defRPr>
                      </a:pPr>
                      <a:r>
                        <a:t>4 (A–F)</a:t>
                      </a:r>
                    </a:p>
                  </a:txBody>
                  <a:tcPr anchor="ctr">
                    <a:solidFill>
                      <a:srgbClr val="F4F6F9"/>
                    </a:solidFill>
                  </a:tcPr>
                </a:tc>
                <a:tc>
                  <a:txBody>
                    <a:bodyPr/>
                    <a:lstStyle/>
                    <a:p>
                      <a:pPr>
                        <a:defRPr sz="1300">
                          <a:solidFill>
                            <a:srgbClr val="1B1F2A"/>
                          </a:solidFill>
                        </a:defRPr>
                      </a:pPr>
                      <a:r>
                        <a:t>Jul 6–7</a:t>
                      </a:r>
                    </a:p>
                  </a:txBody>
                  <a:tcPr anchor="ctr">
                    <a:solidFill>
                      <a:srgbClr val="F4F6F9"/>
                    </a:solidFill>
                  </a:tcPr>
                </a:tc>
                <a:tc>
                  <a:txBody>
                    <a:bodyPr/>
                    <a:lstStyle/>
                    <a:p>
                      <a:pPr>
                        <a:defRPr sz="1300">
                          <a:solidFill>
                            <a:srgbClr val="1B1F2A"/>
                          </a:solidFill>
                        </a:defRPr>
                      </a:pPr>
                      <a:r>
                        <a:t>CoT on/off, λ_repr ablation, Gemma4 baseline, cross-model transfer, full-520-behavior scale</a:t>
                      </a:r>
                    </a:p>
                  </a:txBody>
                  <a:tcPr anchor="ctr">
                    <a:solidFill>
                      <a:srgbClr val="F4F6F9"/>
                    </a:solidFill>
                  </a:tcPr>
                </a:tc>
                <a:tc>
                  <a:txBody>
                    <a:bodyPr/>
                    <a:lstStyle/>
                    <a:p>
                      <a:pPr>
                        <a:defRPr sz="1300">
                          <a:solidFill>
                            <a:srgbClr val="1B1F2A"/>
                          </a:solidFill>
                        </a:defRPr>
                      </a:pPr>
                      <a:r>
                        <a:t>✅ Complete</a:t>
                      </a:r>
                    </a:p>
                  </a:txBody>
                  <a:tcPr anchor="ctr">
                    <a:solidFill>
                      <a:srgbClr val="F4F6F9"/>
                    </a:solidFill>
                  </a:tcPr>
                </a:tc>
              </a:tr>
              <a:tr h="384048">
                <a:tc>
                  <a:txBody>
                    <a:bodyPr/>
                    <a:lstStyle/>
                    <a:p>
                      <a:pPr>
                        <a:defRPr sz="1300">
                          <a:solidFill>
                            <a:srgbClr val="1B1F2A"/>
                          </a:solidFill>
                        </a:defRPr>
                      </a:pPr>
                      <a:r>
                        <a:t>5 (A–C)</a:t>
                      </a:r>
                    </a:p>
                  </a:txBody>
                  <a:tcPr anchor="ctr">
                    <a:solidFill>
                      <a:srgbClr val="FFFFFF"/>
                    </a:solidFill>
                  </a:tcPr>
                </a:tc>
                <a:tc>
                  <a:txBody>
                    <a:bodyPr/>
                    <a:lstStyle/>
                    <a:p>
                      <a:pPr>
                        <a:defRPr sz="1300">
                          <a:solidFill>
                            <a:srgbClr val="1B1F2A"/>
                          </a:solidFill>
                        </a:defRPr>
                      </a:pPr>
                      <a:r>
                        <a:t>Jul 8, 10</a:t>
                      </a:r>
                    </a:p>
                  </a:txBody>
                  <a:tcPr anchor="ctr">
                    <a:solidFill>
                      <a:srgbClr val="FFFFFF"/>
                    </a:solidFill>
                  </a:tcPr>
                </a:tc>
                <a:tc>
                  <a:txBody>
                    <a:bodyPr/>
                    <a:lstStyle/>
                    <a:p>
                      <a:pPr>
                        <a:defRPr sz="1300">
                          <a:solidFill>
                            <a:srgbClr val="1B1F2A"/>
                          </a:solidFill>
                        </a:defRPr>
                      </a:pPr>
                      <a:r>
                        <a:t>Fix target misalignment with CoT-prefix targeting — the project's best attack</a:t>
                      </a:r>
                    </a:p>
                  </a:txBody>
                  <a:tcPr anchor="ctr">
                    <a:solidFill>
                      <a:srgbClr val="FFFFFF"/>
                    </a:solidFill>
                  </a:tcPr>
                </a:tc>
                <a:tc>
                  <a:txBody>
                    <a:bodyPr/>
                    <a:lstStyle/>
                    <a:p>
                      <a:pPr>
                        <a:defRPr sz="1300">
                          <a:solidFill>
                            <a:srgbClr val="1B1F2A"/>
                          </a:solidFill>
                        </a:defRPr>
                      </a:pPr>
                      <a:r>
                        <a:t>✅ Complete</a:t>
                      </a:r>
                    </a:p>
                  </a:txBody>
                  <a:tcPr anchor="ctr">
                    <a:solidFill>
                      <a:srgbClr val="FFFFFF"/>
                    </a:solidFill>
                  </a:tcPr>
                </a:tc>
              </a:tr>
              <a:tr h="384048">
                <a:tc>
                  <a:txBody>
                    <a:bodyPr/>
                    <a:lstStyle/>
                    <a:p>
                      <a:pPr>
                        <a:defRPr sz="1300">
                          <a:solidFill>
                            <a:srgbClr val="1B1F2A"/>
                          </a:solidFill>
                        </a:defRPr>
                      </a:pPr>
                      <a:r>
                        <a:t>6 (A–C)</a:t>
                      </a:r>
                    </a:p>
                  </a:txBody>
                  <a:tcPr anchor="ctr">
                    <a:solidFill>
                      <a:srgbClr val="F4F6F9"/>
                    </a:solidFill>
                  </a:tcPr>
                </a:tc>
                <a:tc>
                  <a:txBody>
                    <a:bodyPr/>
                    <a:lstStyle/>
                    <a:p>
                      <a:pPr>
                        <a:defRPr sz="1300">
                          <a:solidFill>
                            <a:srgbClr val="1B1F2A"/>
                          </a:solidFill>
                        </a:defRPr>
                      </a:pPr>
                      <a:r>
                        <a:t>Jul 10</a:t>
                      </a:r>
                    </a:p>
                  </a:txBody>
                  <a:tcPr anchor="ctr">
                    <a:solidFill>
                      <a:srgbClr val="F4F6F9"/>
                    </a:solidFill>
                  </a:tcPr>
                </a:tc>
                <a:tc>
                  <a:txBody>
                    <a:bodyPr/>
                    <a:lstStyle/>
                    <a:p>
                      <a:pPr>
                        <a:defRPr sz="1300">
                          <a:solidFill>
                            <a:srgbClr val="1B1F2A"/>
                          </a:solidFill>
                        </a:defRPr>
                      </a:pPr>
                      <a:r>
                        <a:t>Add a refusal-direction loss term on top of CoT-prefix targeting</a:t>
                      </a:r>
                    </a:p>
                  </a:txBody>
                  <a:tcPr anchor="ctr">
                    <a:solidFill>
                      <a:srgbClr val="F4F6F9"/>
                    </a:solidFill>
                  </a:tcPr>
                </a:tc>
                <a:tc>
                  <a:txBody>
                    <a:bodyPr/>
                    <a:lstStyle/>
                    <a:p>
                      <a:pPr>
                        <a:defRPr sz="1300">
                          <a:solidFill>
                            <a:srgbClr val="1B1F2A"/>
                          </a:solidFill>
                        </a:defRPr>
                      </a:pPr>
                      <a:r>
                        <a:t>✅ Complete</a:t>
                      </a:r>
                    </a:p>
                  </a:txBody>
                  <a:tcPr anchor="ctr">
                    <a:solidFill>
                      <a:srgbClr val="F4F6F9"/>
                    </a:solidFill>
                  </a:tcPr>
                </a:tc>
              </a:tr>
              <a:tr h="384048">
                <a:tc>
                  <a:txBody>
                    <a:bodyPr/>
                    <a:lstStyle/>
                    <a:p>
                      <a:pPr>
                        <a:defRPr sz="1300">
                          <a:solidFill>
                            <a:srgbClr val="1B1F2A"/>
                          </a:solidFill>
                        </a:defRPr>
                      </a:pPr>
                      <a:r>
                        <a:t>7A</a:t>
                      </a:r>
                    </a:p>
                  </a:txBody>
                  <a:tcPr anchor="ctr">
                    <a:solidFill>
                      <a:srgbClr val="FFFFFF"/>
                    </a:solidFill>
                  </a:tcPr>
                </a:tc>
                <a:tc>
                  <a:txBody>
                    <a:bodyPr/>
                    <a:lstStyle/>
                    <a:p>
                      <a:pPr>
                        <a:defRPr sz="1300">
                          <a:solidFill>
                            <a:srgbClr val="1B1F2A"/>
                          </a:solidFill>
                        </a:defRPr>
                      </a:pPr>
                      <a:r>
                        <a:t>Jul 10–12</a:t>
                      </a:r>
                    </a:p>
                  </a:txBody>
                  <a:tcPr anchor="ctr">
                    <a:solidFill>
                      <a:srgbClr val="FFFFFF"/>
                    </a:solidFill>
                  </a:tcPr>
                </a:tc>
                <a:tc>
                  <a:txBody>
                    <a:bodyPr/>
                    <a:lstStyle/>
                    <a:p>
                      <a:pPr>
                        <a:defRPr sz="1300">
                          <a:solidFill>
                            <a:srgbClr val="1B1F2A"/>
                          </a:solidFill>
                        </a:defRPr>
                      </a:pPr>
                      <a:r>
                        <a:t>Does 5A's suffix generalize to all 520 AdvBench behaviors (not just the 25 training ones)?</a:t>
                      </a:r>
                    </a:p>
                  </a:txBody>
                  <a:tcPr anchor="ctr">
                    <a:solidFill>
                      <a:srgbClr val="FFFFFF"/>
                    </a:solidFill>
                  </a:tcPr>
                </a:tc>
                <a:tc>
                  <a:txBody>
                    <a:bodyPr/>
                    <a:lstStyle/>
                    <a:p>
                      <a:pPr>
                        <a:defRPr sz="1300">
                          <a:solidFill>
                            <a:srgbClr val="1B1F2A"/>
                          </a:solidFill>
                        </a:defRPr>
                      </a:pPr>
                      <a:r>
                        <a:t>✅ Complete</a:t>
                      </a:r>
                    </a:p>
                  </a:txBody>
                  <a:tcPr anchor="ctr">
                    <a:solidFill>
                      <a:srgbClr val="FFFFFF"/>
                    </a:solidFill>
                  </a:tcPr>
                </a:tc>
              </a:tr>
              <a:tr h="384048">
                <a:tc>
                  <a:txBody>
                    <a:bodyPr/>
                    <a:lstStyle/>
                    <a:p>
                      <a:pPr>
                        <a:defRPr sz="1300">
                          <a:solidFill>
                            <a:srgbClr val="1B1F2A"/>
                          </a:solidFill>
                        </a:defRPr>
                      </a:pPr>
                      <a:r>
                        <a:t>7B</a:t>
                      </a:r>
                    </a:p>
                  </a:txBody>
                  <a:tcPr anchor="ctr">
                    <a:solidFill>
                      <a:srgbClr val="F4F6F9"/>
                    </a:solidFill>
                  </a:tcPr>
                </a:tc>
                <a:tc>
                  <a:txBody>
                    <a:bodyPr/>
                    <a:lstStyle/>
                    <a:p>
                      <a:pPr>
                        <a:defRPr sz="1300">
                          <a:solidFill>
                            <a:srgbClr val="1B1F2A"/>
                          </a:solidFill>
                        </a:defRPr>
                      </a:pPr>
                      <a:r>
                        <a:t>Jul 10–11</a:t>
                      </a:r>
                    </a:p>
                  </a:txBody>
                  <a:tcPr anchor="ctr">
                    <a:solidFill>
                      <a:srgbClr val="F4F6F9"/>
                    </a:solidFill>
                  </a:tcPr>
                </a:tc>
                <a:tc>
                  <a:txBody>
                    <a:bodyPr/>
                    <a:lstStyle/>
                    <a:p>
                      <a:pPr>
                        <a:defRPr sz="1300">
                          <a:solidFill>
                            <a:srgbClr val="1B1F2A"/>
                          </a:solidFill>
                        </a:defRPr>
                      </a:pPr>
                      <a:r>
                        <a:t>Seed variance: re-optimize 5A's attack with 3 fresh seeds (43/44/45)</a:t>
                      </a:r>
                    </a:p>
                  </a:txBody>
                  <a:tcPr anchor="ctr">
                    <a:solidFill>
                      <a:srgbClr val="F4F6F9"/>
                    </a:solidFill>
                  </a:tcPr>
                </a:tc>
                <a:tc>
                  <a:txBody>
                    <a:bodyPr/>
                    <a:lstStyle/>
                    <a:p>
                      <a:pPr>
                        <a:defRPr sz="1300">
                          <a:solidFill>
                            <a:srgbClr val="1B1F2A"/>
                          </a:solidFill>
                        </a:defRPr>
                      </a:pPr>
                      <a:r>
                        <a:t>✅ Complete</a:t>
                      </a:r>
                    </a:p>
                  </a:txBody>
                  <a:tcPr anchor="ctr">
                    <a:solidFill>
                      <a:srgbClr val="F4F6F9"/>
                    </a:solidFill>
                  </a:tcPr>
                </a:tc>
              </a:tr>
              <a:tr h="384048">
                <a:tc>
                  <a:txBody>
                    <a:bodyPr/>
                    <a:lstStyle/>
                    <a:p>
                      <a:pPr>
                        <a:defRPr sz="1300">
                          <a:solidFill>
                            <a:srgbClr val="1B1F2A"/>
                          </a:solidFill>
                        </a:defRPr>
                      </a:pPr>
                      <a:r>
                        <a:t>7C</a:t>
                      </a:r>
                    </a:p>
                  </a:txBody>
                  <a:tcPr anchor="ctr">
                    <a:solidFill>
                      <a:srgbClr val="FFFFFF"/>
                    </a:solidFill>
                  </a:tcPr>
                </a:tc>
                <a:tc>
                  <a:txBody>
                    <a:bodyPr/>
                    <a:lstStyle/>
                    <a:p>
                      <a:pPr>
                        <a:defRPr sz="1300">
                          <a:solidFill>
                            <a:srgbClr val="1B1F2A"/>
                          </a:solidFill>
                        </a:defRPr>
                      </a:pPr>
                      <a:r>
                        <a:t>Jul 10–11</a:t>
                      </a:r>
                    </a:p>
                  </a:txBody>
                  <a:tcPr anchor="ctr">
                    <a:solidFill>
                      <a:srgbClr val="FFFFFF"/>
                    </a:solidFill>
                  </a:tcPr>
                </a:tc>
                <a:tc>
                  <a:txBody>
                    <a:bodyPr/>
                    <a:lstStyle/>
                    <a:p>
                      <a:pPr>
                        <a:defRPr sz="1300">
                          <a:solidFill>
                            <a:srgbClr val="1B1F2A"/>
                          </a:solidFill>
                        </a:defRPr>
                      </a:pPr>
                      <a:r>
                        <a:t>Is Gemma4's 0% ASR a CoT-format artifact, or is it intrinsically robust?</a:t>
                      </a:r>
                    </a:p>
                  </a:txBody>
                  <a:tcPr anchor="ctr">
                    <a:solidFill>
                      <a:srgbClr val="FFFFFF"/>
                    </a:solidFill>
                  </a:tcPr>
                </a:tc>
                <a:tc>
                  <a:txBody>
                    <a:bodyPr/>
                    <a:lstStyle/>
                    <a:p>
                      <a:pPr>
                        <a:defRPr sz="1300">
                          <a:solidFill>
                            <a:srgbClr val="1B1F2A"/>
                          </a:solidFill>
                        </a:defRPr>
                      </a:pPr>
                      <a:r>
                        <a:t>✅ Complete</a:t>
                      </a:r>
                    </a:p>
                  </a:txBody>
                  <a:tcPr anchor="ctr">
                    <a:solidFill>
                      <a:srgbClr val="FFFFFF"/>
                    </a:solidFill>
                  </a:tcPr>
                </a:tc>
              </a:tr>
              <a:tr h="384048">
                <a:tc>
                  <a:txBody>
                    <a:bodyPr/>
                    <a:lstStyle/>
                    <a:p>
                      <a:pPr>
                        <a:defRPr sz="1300">
                          <a:solidFill>
                            <a:srgbClr val="1B1F2A"/>
                          </a:solidFill>
                        </a:defRPr>
                      </a:pPr>
                      <a:r>
                        <a:t>7D</a:t>
                      </a:r>
                    </a:p>
                  </a:txBody>
                  <a:tcPr anchor="ctr">
                    <a:solidFill>
                      <a:srgbClr val="F4F6F9"/>
                    </a:solidFill>
                  </a:tcPr>
                </a:tc>
                <a:tc>
                  <a:txBody>
                    <a:bodyPr/>
                    <a:lstStyle/>
                    <a:p>
                      <a:pPr>
                        <a:defRPr sz="1300">
                          <a:solidFill>
                            <a:srgbClr val="1B1F2A"/>
                          </a:solidFill>
                        </a:defRPr>
                      </a:pPr>
                      <a:r>
                        <a:t>Jul 10–11</a:t>
                      </a:r>
                    </a:p>
                  </a:txBody>
                  <a:tcPr anchor="ctr">
                    <a:solidFill>
                      <a:srgbClr val="F4F6F9"/>
                    </a:solidFill>
                  </a:tcPr>
                </a:tc>
                <a:tc>
                  <a:txBody>
                    <a:bodyPr/>
                    <a:lstStyle/>
                    <a:p>
                      <a:pPr>
                        <a:defRPr sz="1300">
                          <a:solidFill>
                            <a:srgbClr val="1B1F2A"/>
                          </a:solidFill>
                        </a:defRPr>
                      </a:pPr>
                      <a:r>
                        <a:t>Write up the synthesis document (this deck's main source)</a:t>
                      </a:r>
                    </a:p>
                  </a:txBody>
                  <a:tcPr anchor="ctr">
                    <a:solidFill>
                      <a:srgbClr val="F4F6F9"/>
                    </a:solidFill>
                  </a:tcPr>
                </a:tc>
                <a:tc>
                  <a:txBody>
                    <a:bodyPr/>
                    <a:lstStyle/>
                    <a:p>
                      <a:pPr>
                        <a:defRPr sz="1300">
                          <a:solidFill>
                            <a:srgbClr val="1B1F2A"/>
                          </a:solidFill>
                        </a:defRPr>
                      </a:pPr>
                      <a:r>
                        <a:t>✅ Complete</a:t>
                      </a:r>
                    </a:p>
                  </a:txBody>
                  <a:tcPr anchor="ctr">
                    <a:solidFill>
                      <a:srgbClr val="F4F6F9"/>
                    </a:solidFill>
                  </a:tcPr>
                </a:tc>
              </a:tr>
            </a:tbl>
          </a:graphicData>
        </a:graphic>
      </p:graphicFrame>
      <p:sp>
        <p:nvSpPr>
          <p:cNvPr id="6" name="TextBox 5"/>
          <p:cNvSpPr txBox="1"/>
          <p:nvPr/>
        </p:nvSpPr>
        <p:spPr>
          <a:xfrm>
            <a:off x="548640" y="4114800"/>
            <a:ext cx="11064240" cy="4572000"/>
          </a:xfrm>
          <a:prstGeom prst="rect">
            <a:avLst/>
          </a:prstGeom>
          <a:noFill/>
        </p:spPr>
        <p:txBody>
          <a:bodyPr wrap="square">
            <a:spAutoFit/>
          </a:bodyPr>
          <a:lstStyle/>
          <a:p>
            <a:pPr>
              <a:spcAft>
                <a:spcPts val="1000"/>
              </a:spcAft>
              <a:defRPr sz="1600" b="1">
                <a:solidFill>
                  <a:srgbClr val="1B1F2A"/>
                </a:solidFill>
              </a:defRPr>
            </a:pPr>
            <a:r>
              <a:t>•  As of this deck: the entire Phase 4–7 pipeline is complete. No SLURM jobs are running.</a:t>
            </a:r>
          </a:p>
        </p:txBody>
      </p:sp>
      <p:sp>
        <p:nvSpPr>
          <p:cNvPr id="7" name="TextBox 6"/>
          <p:cNvSpPr txBox="1"/>
          <p:nvPr/>
        </p:nvSpPr>
        <p:spPr>
          <a:xfrm>
            <a:off x="548640" y="6537960"/>
            <a:ext cx="11064240" cy="274320"/>
          </a:xfrm>
          <a:prstGeom prst="rect">
            <a:avLst/>
          </a:prstGeom>
          <a:noFill/>
        </p:spPr>
        <p:txBody>
          <a:bodyPr wrap="none">
            <a:spAutoFit/>
          </a:bodyPr>
          <a:lstStyle/>
          <a:p>
            <a:pPr algn="r">
              <a:defRPr sz="1000">
                <a:solidFill>
                  <a:srgbClr val="5F636E"/>
                </a:solidFill>
              </a:defRPr>
            </a:pPr>
            <a:r>
              <a:t>GCG Phases 4–7 Summary  |  Jul 7–12, 2026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65760"/>
          </a:xfrm>
          <a:prstGeom prst="rect">
            <a:avLst/>
          </a:prstGeom>
          <a:noFill/>
        </p:spPr>
        <p:txBody>
          <a:bodyPr wrap="none">
            <a:spAutoFit/>
          </a:bodyPr>
          <a:lstStyle/>
          <a:p>
            <a:pPr>
              <a:defRPr sz="1400" b="1">
                <a:solidFill>
                  <a:srgbClr val="2E6BE0"/>
                </a:solidFill>
              </a:defRPr>
            </a:pPr>
            <a:r>
              <a:t>PHASE 4 — JUL 6–7, COMPLETE</a:t>
            </a:r>
          </a:p>
        </p:txBody>
      </p:sp>
      <p:sp>
        <p:nvSpPr>
          <p:cNvPr id="3" name="TextBox 2"/>
          <p:cNvSpPr txBox="1"/>
          <p:nvPr/>
        </p:nvSpPr>
        <p:spPr>
          <a:xfrm>
            <a:off x="548640" y="685800"/>
            <a:ext cx="11064240" cy="822960"/>
          </a:xfrm>
          <a:prstGeom prst="rect">
            <a:avLst/>
          </a:prstGeom>
          <a:noFill/>
        </p:spPr>
        <p:txBody>
          <a:bodyPr wrap="square">
            <a:spAutoFit/>
          </a:bodyPr>
          <a:lstStyle/>
          <a:p>
            <a:pPr>
              <a:defRPr sz="3000" b="1">
                <a:solidFill>
                  <a:srgbClr val="1B1F2A"/>
                </a:solidFill>
              </a:defRPr>
            </a:pPr>
            <a:r>
              <a:t>Phase 4: Ablation Studies</a:t>
            </a:r>
          </a:p>
        </p:txBody>
      </p:sp>
      <p:sp>
        <p:nvSpPr>
          <p:cNvPr id="4" name="Rectangle 3"/>
          <p:cNvSpPr/>
          <p:nvPr/>
        </p:nvSpPr>
        <p:spPr>
          <a:xfrm>
            <a:off x="548640" y="1417320"/>
            <a:ext cx="11064240" cy="25400"/>
          </a:xfrm>
          <a:prstGeom prst="rect">
            <a:avLst/>
          </a:prstGeom>
          <a:solidFill>
            <a:srgbClr val="2E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64240" cy="4572000"/>
          </a:xfrm>
          <a:prstGeom prst="rect">
            <a:avLst/>
          </a:prstGeom>
          <a:noFill/>
        </p:spPr>
        <p:txBody>
          <a:bodyPr wrap="square">
            <a:spAutoFit/>
          </a:bodyPr>
          <a:lstStyle/>
          <a:p>
            <a:pPr>
              <a:spcAft>
                <a:spcPts val="1000"/>
              </a:spcAft>
              <a:defRPr sz="1600" b="1">
                <a:solidFill>
                  <a:srgbClr val="1B1F2A"/>
                </a:solidFill>
              </a:defRPr>
            </a:pPr>
            <a:r>
              <a:t>•  Standard GCG baseline (Qwen3, 25 behaviors): loss dropped 30.74→7.97 (74% reduction) during optimization, BUT resulting ASR (4.0%) was worse than a suffix of purely random tokens (5.3%) — low loss did not translate into a working attack</a:t>
            </a:r>
          </a:p>
          <a:p>
            <a:pPr>
              <a:spcAft>
                <a:spcPts val="1000"/>
              </a:spcAft>
              <a:defRPr sz="1600" b="1">
                <a:solidFill>
                  <a:srgbClr val="1B1F2A"/>
                </a:solidFill>
              </a:defRPr>
            </a:pPr>
            <a:r>
              <a:t>•  4A — CoT disabled: training ASR = 0.000. Rules out the idea that CoT reasoning is the ONLY thing blocking the attack; safety persists even without it</a:t>
            </a:r>
          </a:p>
          <a:p>
            <a:pPr>
              <a:spcAft>
                <a:spcPts val="1000"/>
              </a:spcAft>
              <a:defRPr sz="1600" b="1">
                <a:solidFill>
                  <a:srgbClr val="1B1F2A"/>
                </a:solidFill>
              </a:defRPr>
            </a:pPr>
            <a:r>
              <a:t>•  4B — remove the representation-matching loss term (λ_repr=0), an 'upper bound' test: task loss fell 87% (30.74→4.17, vs. standard 30.74→7.97), yet ASR was still only 1.3% training / 1.3% unseen (below the 4.0%/6.7% standard-GCG baseline) — easier optimization is not the bottleneck either</a:t>
            </a:r>
          </a:p>
          <a:p>
            <a:pPr>
              <a:spcAft>
                <a:spcPts val="1000"/>
              </a:spcAft>
              <a:defRPr sz="1600" b="1">
                <a:solidFill>
                  <a:srgbClr val="1B1F2A"/>
                </a:solidFill>
              </a:defRPr>
            </a:pPr>
            <a:r>
              <a:t>•  4C — same standard attack against Gemma4: 0% ASR under every condition — first sign Gemma4 may be categorically resistant</a:t>
            </a:r>
          </a:p>
          <a:p>
            <a:pPr>
              <a:spcAft>
                <a:spcPts val="1000"/>
              </a:spcAft>
              <a:defRPr sz="1600" b="1">
                <a:solidFill>
                  <a:srgbClr val="1B1F2A"/>
                </a:solidFill>
              </a:defRPr>
            </a:pPr>
            <a:r>
              <a:t>•  4E — take the suffix optimized against Qwen3 and try it as-is against Gemma4 (text transfer): 0% ASR — suffixes don't transfer across models</a:t>
            </a:r>
          </a:p>
          <a:p>
            <a:pPr>
              <a:spcAft>
                <a:spcPts val="1000"/>
              </a:spcAft>
              <a:defRPr sz="1600" b="1">
                <a:solidFill>
                  <a:srgbClr val="1B1F2A"/>
                </a:solidFill>
              </a:defRPr>
            </a:pPr>
            <a:r>
              <a:t>•  4F — scale the standard attack up to all 520 AdvBench behaviors: 1.9% optimized vs. 2.4% task_only — NET-NEGATIVE at full scale</a:t>
            </a:r>
          </a:p>
          <a:p>
            <a:pPr>
              <a:spcAft>
                <a:spcPts val="1000"/>
              </a:spcAft>
              <a:defRPr sz="1600" b="1">
                <a:solidFill>
                  <a:srgbClr val="1B1F2A"/>
                </a:solidFill>
              </a:defRPr>
            </a:pPr>
            <a:r>
              <a:t>•  → Conclusion from Phase 4: the standard GCG recipe (target = "Sure, here is {task}") simply does not work well against either model. Something structural needed to change — this motivates Phase 5.</a:t>
            </a:r>
          </a:p>
        </p:txBody>
      </p:sp>
      <p:sp>
        <p:nvSpPr>
          <p:cNvPr id="6" name="TextBox 5"/>
          <p:cNvSpPr txBox="1"/>
          <p:nvPr/>
        </p:nvSpPr>
        <p:spPr>
          <a:xfrm>
            <a:off x="548640" y="6537960"/>
            <a:ext cx="11064240" cy="274320"/>
          </a:xfrm>
          <a:prstGeom prst="rect">
            <a:avLst/>
          </a:prstGeom>
          <a:noFill/>
        </p:spPr>
        <p:txBody>
          <a:bodyPr wrap="none">
            <a:spAutoFit/>
          </a:bodyPr>
          <a:lstStyle/>
          <a:p>
            <a:pPr algn="r">
              <a:defRPr sz="1000">
                <a:solidFill>
                  <a:srgbClr val="5F636E"/>
                </a:solidFill>
              </a:defRPr>
            </a:pPr>
            <a:r>
              <a:t>GCG Phases 4–7 Summary  |  Jul 7–12, 2026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65760"/>
          </a:xfrm>
          <a:prstGeom prst="rect">
            <a:avLst/>
          </a:prstGeom>
          <a:noFill/>
        </p:spPr>
        <p:txBody>
          <a:bodyPr wrap="none">
            <a:spAutoFit/>
          </a:bodyPr>
          <a:lstStyle/>
          <a:p>
            <a:pPr>
              <a:defRPr sz="1400" b="1">
                <a:solidFill>
                  <a:srgbClr val="2E6BE0"/>
                </a:solidFill>
              </a:defRPr>
            </a:pPr>
            <a:r>
              <a:t>PHASE 5 — JUL 8 &amp; 10, COMPLETE</a:t>
            </a:r>
          </a:p>
        </p:txBody>
      </p:sp>
      <p:sp>
        <p:nvSpPr>
          <p:cNvPr id="3" name="TextBox 2"/>
          <p:cNvSpPr txBox="1"/>
          <p:nvPr/>
        </p:nvSpPr>
        <p:spPr>
          <a:xfrm>
            <a:off x="548640" y="685800"/>
            <a:ext cx="11064240" cy="822960"/>
          </a:xfrm>
          <a:prstGeom prst="rect">
            <a:avLst/>
          </a:prstGeom>
          <a:noFill/>
        </p:spPr>
        <p:txBody>
          <a:bodyPr wrap="square">
            <a:spAutoFit/>
          </a:bodyPr>
          <a:lstStyle/>
          <a:p>
            <a:pPr>
              <a:defRPr sz="3000" b="1">
                <a:solidFill>
                  <a:srgbClr val="1B1F2A"/>
                </a:solidFill>
              </a:defRPr>
            </a:pPr>
            <a:r>
              <a:t>Phase 5: The CoT-Prefix Breakthrough</a:t>
            </a:r>
          </a:p>
        </p:txBody>
      </p:sp>
      <p:sp>
        <p:nvSpPr>
          <p:cNvPr id="4" name="Rectangle 3"/>
          <p:cNvSpPr/>
          <p:nvPr/>
        </p:nvSpPr>
        <p:spPr>
          <a:xfrm>
            <a:off x="548640" y="1417320"/>
            <a:ext cx="11064240" cy="25400"/>
          </a:xfrm>
          <a:prstGeom prst="rect">
            <a:avLst/>
          </a:prstGeom>
          <a:solidFill>
            <a:srgbClr val="2E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64240" cy="4572000"/>
          </a:xfrm>
          <a:prstGeom prst="rect">
            <a:avLst/>
          </a:prstGeom>
          <a:noFill/>
        </p:spPr>
        <p:txBody>
          <a:bodyPr wrap="square">
            <a:spAutoFit/>
          </a:bodyPr>
          <a:lstStyle/>
          <a:p>
            <a:pPr>
              <a:spcAft>
                <a:spcPts val="1000"/>
              </a:spcAft>
              <a:defRPr sz="1600" b="1">
                <a:solidFill>
                  <a:srgbClr val="1B1F2A"/>
                </a:solidFill>
              </a:defRPr>
            </a:pPr>
            <a:r>
              <a:t>•  The bug found: with CoT enabled, Qwen3's actual first generated token is &lt;think&gt;, not "Sure" — so the standard GCG target string was misaligned with what the model really generates first</a:t>
            </a:r>
          </a:p>
          <a:p>
            <a:pPr>
              <a:spcAft>
                <a:spcPts val="1000"/>
              </a:spcAft>
              <a:defRPr sz="1600" b="1">
                <a:solidFill>
                  <a:srgbClr val="1B1F2A"/>
                </a:solidFill>
              </a:defRPr>
            </a:pPr>
            <a:r>
              <a:t>•  5A fix: extend the optimization target to &lt;think&gt;\nOkay, I can help.\n&lt;/think&gt;\n\nSure, here is {task} — i.e., target the whole reasoning-then-answer trajectory, not just the answer</a:t>
            </a:r>
          </a:p>
          <a:p>
            <a:pPr>
              <a:spcAft>
                <a:spcPts val="1000"/>
              </a:spcAft>
              <a:defRPr sz="1600" b="1">
                <a:solidFill>
                  <a:srgbClr val="1B1F2A"/>
                </a:solidFill>
              </a:defRPr>
            </a:pPr>
            <a:r>
              <a:t>•  Result: ASR jumps from ~2–4% (standard GCG) to 10.7% on the 25 training behaviors, and 14.7% on unseen seeds (100/200/300) — roughly a 4× improvement, +8pp uplift over baseline</a:t>
            </a:r>
          </a:p>
          <a:p>
            <a:pPr>
              <a:spcAft>
                <a:spcPts val="1000"/>
              </a:spcAft>
              <a:defRPr sz="1600" b="1">
                <a:solidFill>
                  <a:srgbClr val="1B1F2A"/>
                </a:solidFill>
              </a:defRPr>
            </a:pPr>
            <a:r>
              <a:t>•  Interestingly, the optimization loss for 5A (best=20.52) is actually HIGHER (worse by the loss metric) than standard GCG's 7.97 — yet 5A works far better behaviorally. Confirms: loss is not what matters, alignment with the real generation trajectory is</a:t>
            </a:r>
          </a:p>
          <a:p>
            <a:pPr>
              <a:spcAft>
                <a:spcPts val="1000"/>
              </a:spcAft>
              <a:defRPr sz="1600" b="1">
                <a:solidFill>
                  <a:srgbClr val="1B1F2A"/>
                </a:solidFill>
              </a:defRPr>
            </a:pPr>
            <a:r>
              <a:t>•  5B — tried matching representations at the CoT position instead of the answer position: 1.3% ASR (−2.7pp) — this representation loss never converged well, made things worse</a:t>
            </a:r>
          </a:p>
          <a:p>
            <a:pPr>
              <a:spcAft>
                <a:spcPts val="1000"/>
              </a:spcAft>
              <a:defRPr sz="1600" b="1">
                <a:solidFill>
                  <a:srgbClr val="1B1F2A"/>
                </a:solidFill>
              </a:defRPr>
            </a:pPr>
            <a:r>
              <a:t>•  5C — tried selecting the best suffix using live free-generation ASR checks every 50 steps instead of just loss: 10.7% ASR (identical to 5A) — the extra selection machinery didn't help</a:t>
            </a:r>
          </a:p>
          <a:p>
            <a:pPr>
              <a:spcAft>
                <a:spcPts val="1000"/>
              </a:spcAft>
              <a:defRPr sz="1600" b="1">
                <a:solidFill>
                  <a:srgbClr val="1B1F2A"/>
                </a:solidFill>
              </a:defRPr>
            </a:pPr>
            <a:r>
              <a:t>•  → 5A / 5C CoT-prefix targeting remains the best-known attack against Qwen3 throughout the rest of the project (10.7% training / 14.7% unseen)</a:t>
            </a:r>
          </a:p>
        </p:txBody>
      </p:sp>
      <p:sp>
        <p:nvSpPr>
          <p:cNvPr id="6" name="TextBox 5"/>
          <p:cNvSpPr txBox="1"/>
          <p:nvPr/>
        </p:nvSpPr>
        <p:spPr>
          <a:xfrm>
            <a:off x="548640" y="6537960"/>
            <a:ext cx="11064240" cy="274320"/>
          </a:xfrm>
          <a:prstGeom prst="rect">
            <a:avLst/>
          </a:prstGeom>
          <a:noFill/>
        </p:spPr>
        <p:txBody>
          <a:bodyPr wrap="none">
            <a:spAutoFit/>
          </a:bodyPr>
          <a:lstStyle/>
          <a:p>
            <a:pPr algn="r">
              <a:defRPr sz="1000">
                <a:solidFill>
                  <a:srgbClr val="5F636E"/>
                </a:solidFill>
              </a:defRPr>
            </a:pPr>
            <a:r>
              <a:t>GCG Phases 4–7 Summary  |  Jul 7–12, 2026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65760"/>
          </a:xfrm>
          <a:prstGeom prst="rect">
            <a:avLst/>
          </a:prstGeom>
          <a:noFill/>
        </p:spPr>
        <p:txBody>
          <a:bodyPr wrap="none">
            <a:spAutoFit/>
          </a:bodyPr>
          <a:lstStyle/>
          <a:p>
            <a:pPr>
              <a:defRPr sz="1400" b="1">
                <a:solidFill>
                  <a:srgbClr val="2E6BE0"/>
                </a:solidFill>
              </a:defRPr>
            </a:pPr>
            <a:r>
              <a:t>PHASE 6 — JUL 10, COMPLETE</a:t>
            </a:r>
          </a:p>
        </p:txBody>
      </p:sp>
      <p:sp>
        <p:nvSpPr>
          <p:cNvPr id="3" name="TextBox 2"/>
          <p:cNvSpPr txBox="1"/>
          <p:nvPr/>
        </p:nvSpPr>
        <p:spPr>
          <a:xfrm>
            <a:off x="548640" y="685800"/>
            <a:ext cx="11064240" cy="822960"/>
          </a:xfrm>
          <a:prstGeom prst="rect">
            <a:avLst/>
          </a:prstGeom>
          <a:noFill/>
        </p:spPr>
        <p:txBody>
          <a:bodyPr wrap="square">
            <a:spAutoFit/>
          </a:bodyPr>
          <a:lstStyle/>
          <a:p>
            <a:pPr>
              <a:defRPr sz="3000" b="1">
                <a:solidFill>
                  <a:srgbClr val="1B1F2A"/>
                </a:solidFill>
              </a:defRPr>
            </a:pPr>
            <a:r>
              <a:t>Phase 6: Refusal-Direction Suppression Eliminates the CoT-Prefix Gain</a:t>
            </a:r>
          </a:p>
        </p:txBody>
      </p:sp>
      <p:sp>
        <p:nvSpPr>
          <p:cNvPr id="4" name="Rectangle 3"/>
          <p:cNvSpPr/>
          <p:nvPr/>
        </p:nvSpPr>
        <p:spPr>
          <a:xfrm>
            <a:off x="548640" y="1417320"/>
            <a:ext cx="11064240" cy="25400"/>
          </a:xfrm>
          <a:prstGeom prst="rect">
            <a:avLst/>
          </a:prstGeom>
          <a:solidFill>
            <a:srgbClr val="2E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64240" cy="4572000"/>
          </a:xfrm>
          <a:prstGeom prst="rect">
            <a:avLst/>
          </a:prstGeom>
          <a:noFill/>
        </p:spPr>
        <p:txBody>
          <a:bodyPr wrap="square">
            <a:spAutoFit/>
          </a:bodyPr>
          <a:lstStyle/>
          <a:p>
            <a:pPr>
              <a:spcAft>
                <a:spcPts val="1000"/>
              </a:spcAft>
              <a:defRPr sz="1600" b="1">
                <a:solidFill>
                  <a:srgbClr val="1B1F2A"/>
                </a:solidFill>
              </a:defRPr>
            </a:pPr>
            <a:r>
              <a:t>•  Background (from a separate published paper, "CoT Hijacking"): every model appears to have an internal 'refusal direction' — a single vector in activation space that, if you directly zero it out at inference time, causes the model to comply. The paper reports 91% ASR this way on Qwen3</a:t>
            </a:r>
          </a:p>
          <a:p>
            <a:pPr>
              <a:spcAft>
                <a:spcPts val="1000"/>
              </a:spcAft>
              <a:defRPr sz="1600" b="1">
                <a:solidFill>
                  <a:srgbClr val="1B1F2A"/>
                </a:solidFill>
              </a:defRPr>
            </a:pPr>
            <a:r>
              <a:t>•  Phase 6 idea: instead of directly editing activations at inference (which requires white-box internal access at deployment time), can GCG LEARN a text suffix that naturally pushes activations away from the refusal direction, purely via token choice?</a:t>
            </a:r>
          </a:p>
          <a:p>
            <a:pPr>
              <a:spcAft>
                <a:spcPts val="1000"/>
              </a:spcAft>
              <a:defRPr sz="1600" b="1">
                <a:solidFill>
                  <a:srgbClr val="1B1F2A"/>
                </a:solidFill>
              </a:defRPr>
            </a:pPr>
            <a:r>
              <a:t>•  6A-Q (Qwen3, STANDARD target + refusal-direction loss added — not CoT-prefix): 0% ASR, net-negative (−2.7pp vs. task_only)</a:t>
            </a:r>
          </a:p>
          <a:p>
            <a:pPr>
              <a:spcAft>
                <a:spcPts val="1000"/>
              </a:spcAft>
              <a:defRPr sz="1600" b="1">
                <a:solidFill>
                  <a:srgbClr val="1B1F2A"/>
                </a:solidFill>
              </a:defRPr>
            </a:pPr>
            <a:r>
              <a:t>•  6A-G (Gemma4, same idea): 0% (statistical noise level)</a:t>
            </a:r>
          </a:p>
          <a:p>
            <a:pPr>
              <a:spcAft>
                <a:spcPts val="1000"/>
              </a:spcAft>
              <a:defRPr sz="1600" b="1">
                <a:solidFill>
                  <a:srgbClr val="1B1F2A"/>
                </a:solidFill>
              </a:defRPr>
            </a:pPr>
            <a:r>
              <a:t>•  6B (Gemma4, targeting its CoT-channel tokens): optimization stalled at best task_loss=26.96 (vs. 4C's standard-target best of 7.62) — those special channel tokens are infeasible for GCG to reach via cross-entropy</a:t>
            </a:r>
          </a:p>
          <a:p>
            <a:pPr>
              <a:spcAft>
                <a:spcPts val="1000"/>
              </a:spcAft>
              <a:defRPr sz="1600" b="1">
                <a:solidFill>
                  <a:srgbClr val="1B1F2A"/>
                </a:solidFill>
              </a:defRPr>
            </a:pPr>
            <a:r>
              <a:t>•  6C (Qwen3, CoT-prefix + refusal-direction combined): 0% net-negative — identical result to 6A-Q</a:t>
            </a:r>
          </a:p>
          <a:p>
            <a:pPr>
              <a:spcAft>
                <a:spcPts val="1000"/>
              </a:spcAft>
              <a:defRPr sz="1600" b="1">
                <a:solidFill>
                  <a:srgbClr val="1B1F2A"/>
                </a:solidFill>
              </a:defRPr>
            </a:pPr>
            <a:r>
              <a:t>•  → Conclusion: under this tested setup (one layer=25, one lambda, one seed; the refusal-direction loss shapes the gradient's candidate proposals but is not part of the candidate-selection objective — see docs/GCG_REFUSAL_DIRECTION_AUDIT.md), adding refusal-direction suppression eliminated the CoT-prefix ASR gain, despite the optimizer successfully reducing the measured (single-behavior) refusal-direction projection. A broader claim of fundamental incompatibility would need a layer/lambda/seed sweep, not done here.</a:t>
            </a:r>
          </a:p>
        </p:txBody>
      </p:sp>
      <p:sp>
        <p:nvSpPr>
          <p:cNvPr id="6" name="TextBox 5"/>
          <p:cNvSpPr txBox="1"/>
          <p:nvPr/>
        </p:nvSpPr>
        <p:spPr>
          <a:xfrm>
            <a:off x="548640" y="6537960"/>
            <a:ext cx="11064240" cy="274320"/>
          </a:xfrm>
          <a:prstGeom prst="rect">
            <a:avLst/>
          </a:prstGeom>
          <a:noFill/>
        </p:spPr>
        <p:txBody>
          <a:bodyPr wrap="none">
            <a:spAutoFit/>
          </a:bodyPr>
          <a:lstStyle/>
          <a:p>
            <a:pPr algn="r">
              <a:defRPr sz="1000">
                <a:solidFill>
                  <a:srgbClr val="5F636E"/>
                </a:solidFill>
              </a:defRPr>
            </a:pPr>
            <a:r>
              <a:t>GCG Phases 4–7 Summary  |  Jul 7–12, 2026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65760"/>
          </a:xfrm>
          <a:prstGeom prst="rect">
            <a:avLst/>
          </a:prstGeom>
          <a:noFill/>
        </p:spPr>
        <p:txBody>
          <a:bodyPr wrap="none">
            <a:spAutoFit/>
          </a:bodyPr>
          <a:lstStyle/>
          <a:p>
            <a:pPr>
              <a:defRPr sz="1400" b="1">
                <a:solidFill>
                  <a:srgbClr val="2E6BE0"/>
                </a:solidFill>
              </a:defRPr>
            </a:pPr>
            <a:r>
              <a:t>PHASE 7 — LAUNCHED JUL 10</a:t>
            </a:r>
          </a:p>
        </p:txBody>
      </p:sp>
      <p:sp>
        <p:nvSpPr>
          <p:cNvPr id="3" name="TextBox 2"/>
          <p:cNvSpPr txBox="1"/>
          <p:nvPr/>
        </p:nvSpPr>
        <p:spPr>
          <a:xfrm>
            <a:off x="548640" y="685800"/>
            <a:ext cx="11064240" cy="822960"/>
          </a:xfrm>
          <a:prstGeom prst="rect">
            <a:avLst/>
          </a:prstGeom>
          <a:noFill/>
        </p:spPr>
        <p:txBody>
          <a:bodyPr wrap="square">
            <a:spAutoFit/>
          </a:bodyPr>
          <a:lstStyle/>
          <a:p>
            <a:pPr>
              <a:defRPr sz="3000" b="1">
                <a:solidFill>
                  <a:srgbClr val="1B1F2A"/>
                </a:solidFill>
              </a:defRPr>
            </a:pPr>
            <a:r>
              <a:t>Phase 7: Closing the Gaps</a:t>
            </a:r>
          </a:p>
        </p:txBody>
      </p:sp>
      <p:sp>
        <p:nvSpPr>
          <p:cNvPr id="4" name="Rectangle 3"/>
          <p:cNvSpPr/>
          <p:nvPr/>
        </p:nvSpPr>
        <p:spPr>
          <a:xfrm>
            <a:off x="548640" y="1417320"/>
            <a:ext cx="11064240" cy="25400"/>
          </a:xfrm>
          <a:prstGeom prst="rect">
            <a:avLst/>
          </a:prstGeom>
          <a:solidFill>
            <a:srgbClr val="2E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1064240" cy="4572000"/>
          </a:xfrm>
          <a:prstGeom prst="rect">
            <a:avLst/>
          </a:prstGeom>
          <a:noFill/>
        </p:spPr>
        <p:txBody>
          <a:bodyPr wrap="square">
            <a:spAutoFit/>
          </a:bodyPr>
          <a:lstStyle/>
          <a:p>
            <a:pPr>
              <a:spcAft>
                <a:spcPts val="1000"/>
              </a:spcAft>
              <a:defRPr sz="1900" b="1">
                <a:solidFill>
                  <a:srgbClr val="1B1F2A"/>
                </a:solidFill>
              </a:defRPr>
            </a:pPr>
            <a:r>
              <a:t>•  After Phase 5–6, the best attack (5A, 10.7% ASR) had three open questions:</a:t>
            </a:r>
          </a:p>
          <a:p>
            <a:pPr>
              <a:spcAft>
                <a:spcPts val="600"/>
              </a:spcAft>
              <a:defRPr sz="1600" b="0">
                <a:solidFill>
                  <a:srgbClr val="5F636E"/>
                </a:solidFill>
              </a:defRPr>
            </a:pPr>
            <a:r>
              <a:t>‒  Does it generalize beyond the 25 training behaviors it was tuned on?  →  7A</a:t>
            </a:r>
          </a:p>
          <a:p>
            <a:pPr>
              <a:spcAft>
                <a:spcPts val="600"/>
              </a:spcAft>
              <a:defRPr sz="1600" b="0">
                <a:solidFill>
                  <a:srgbClr val="5F636E"/>
                </a:solidFill>
              </a:defRPr>
            </a:pPr>
            <a:r>
              <a:t>‒  Is 10.7% a stable number, or an artifact of one lucky random seed?  →  7B</a:t>
            </a:r>
          </a:p>
          <a:p>
            <a:pPr>
              <a:spcAft>
                <a:spcPts val="600"/>
              </a:spcAft>
              <a:defRPr sz="1600" b="0">
                <a:solidFill>
                  <a:srgbClr val="5F636E"/>
                </a:solidFill>
              </a:defRPr>
            </a:pPr>
            <a:r>
              <a:t>‒  Is Gemma4's total 0% resistance really intrinsic, or just a side-effect of its CoT-channel token format?  →  7C</a:t>
            </a:r>
          </a:p>
          <a:p>
            <a:pPr>
              <a:spcAft>
                <a:spcPts val="1000"/>
              </a:spcAft>
              <a:defRPr sz="1900" b="1">
                <a:solidFill>
                  <a:srgbClr val="1B1F2A"/>
                </a:solidFill>
              </a:defRPr>
            </a:pPr>
            <a:r>
              <a:t>•  7D packages all of Phases 4–7's findings into one written synthesis document (the main source for this deck)</a:t>
            </a:r>
          </a:p>
          <a:p>
            <a:pPr>
              <a:spcAft>
                <a:spcPts val="1000"/>
              </a:spcAft>
              <a:defRPr sz="1900" b="1">
                <a:solidFill>
                  <a:srgbClr val="1B1F2A"/>
                </a:solidFill>
              </a:defRPr>
            </a:pPr>
            <a:r>
              <a:t>•  Status: all four sub-experiments (7A/7B/7C/7D) are complete — the entire Phase 4–7 pipeline has finished (see slide 10 and slide 23 for details)</a:t>
            </a:r>
          </a:p>
        </p:txBody>
      </p:sp>
      <p:sp>
        <p:nvSpPr>
          <p:cNvPr id="6" name="TextBox 5"/>
          <p:cNvSpPr txBox="1"/>
          <p:nvPr/>
        </p:nvSpPr>
        <p:spPr>
          <a:xfrm>
            <a:off x="548640" y="6537960"/>
            <a:ext cx="11064240" cy="274320"/>
          </a:xfrm>
          <a:prstGeom prst="rect">
            <a:avLst/>
          </a:prstGeom>
          <a:noFill/>
        </p:spPr>
        <p:txBody>
          <a:bodyPr wrap="none">
            <a:spAutoFit/>
          </a:bodyPr>
          <a:lstStyle/>
          <a:p>
            <a:pPr algn="r">
              <a:defRPr sz="1000">
                <a:solidFill>
                  <a:srgbClr val="5F636E"/>
                </a:solidFill>
              </a:defRPr>
            </a:pPr>
            <a:r>
              <a:t>GCG Phases 4–7 Summary  |  Jul 7–12, 2026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65760"/>
          </a:xfrm>
          <a:prstGeom prst="rect">
            <a:avLst/>
          </a:prstGeom>
          <a:noFill/>
        </p:spPr>
        <p:txBody>
          <a:bodyPr wrap="none">
            <a:spAutoFit/>
          </a:bodyPr>
          <a:lstStyle/>
          <a:p>
            <a:pPr>
              <a:defRPr sz="1400" b="1">
                <a:solidFill>
                  <a:srgbClr val="2E6BE0"/>
                </a:solidFill>
              </a:defRPr>
            </a:pPr>
            <a:r>
              <a:t>✅ COMPLETE — FINAL NUMBERS</a:t>
            </a:r>
          </a:p>
        </p:txBody>
      </p:sp>
      <p:sp>
        <p:nvSpPr>
          <p:cNvPr id="3" name="TextBox 2"/>
          <p:cNvSpPr txBox="1"/>
          <p:nvPr/>
        </p:nvSpPr>
        <p:spPr>
          <a:xfrm>
            <a:off x="548640" y="685800"/>
            <a:ext cx="11064240" cy="822960"/>
          </a:xfrm>
          <a:prstGeom prst="rect">
            <a:avLst/>
          </a:prstGeom>
          <a:noFill/>
        </p:spPr>
        <p:txBody>
          <a:bodyPr wrap="square">
            <a:spAutoFit/>
          </a:bodyPr>
          <a:lstStyle/>
          <a:p>
            <a:pPr>
              <a:defRPr sz="3000" b="1">
                <a:solidFill>
                  <a:srgbClr val="1B1F2A"/>
                </a:solidFill>
              </a:defRPr>
            </a:pPr>
            <a:r>
              <a:t>Phase 7A: Full-520-Behavior Generalization</a:t>
            </a:r>
          </a:p>
        </p:txBody>
      </p:sp>
      <p:sp>
        <p:nvSpPr>
          <p:cNvPr id="4" name="Rectangle 3"/>
          <p:cNvSpPr/>
          <p:nvPr/>
        </p:nvSpPr>
        <p:spPr>
          <a:xfrm>
            <a:off x="548640" y="1417320"/>
            <a:ext cx="11064240" cy="25400"/>
          </a:xfrm>
          <a:prstGeom prst="rect">
            <a:avLst/>
          </a:prstGeom>
          <a:solidFill>
            <a:srgbClr val="2E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00200"/>
            <a:ext cx="11064240" cy="4572000"/>
          </a:xfrm>
          <a:prstGeom prst="rect">
            <a:avLst/>
          </a:prstGeom>
          <a:noFill/>
        </p:spPr>
        <p:txBody>
          <a:bodyPr wrap="square">
            <a:spAutoFit/>
          </a:bodyPr>
          <a:lstStyle/>
          <a:p>
            <a:pPr>
              <a:spcAft>
                <a:spcPts val="1000"/>
              </a:spcAft>
              <a:defRPr sz="1400" b="1">
                <a:solidFill>
                  <a:srgbClr val="1B1F2A"/>
                </a:solidFill>
              </a:defRPr>
            </a:pPr>
            <a:r>
              <a:t>•  Question: 5A was tuned and tested on only 25 AdvBench behaviors. Does its suffix still work on the other ~495?</a:t>
            </a:r>
          </a:p>
          <a:p>
            <a:pPr>
              <a:spcAft>
                <a:spcPts val="1000"/>
              </a:spcAft>
              <a:defRPr sz="1400" b="1">
                <a:solidFill>
                  <a:srgbClr val="1B1F2A"/>
                </a:solidFill>
              </a:defRPr>
            </a:pPr>
            <a:r>
              <a:t>•  Setup: apply the exact 5A suffix (no new optimization) to all 520 behaviors × 4 conditions × 3 seeds = 6,240 generations to score, plus a further 5,849-generation pass on 3 unseen seeds (100/200/300)</a:t>
            </a:r>
          </a:p>
          <a:p>
            <a:pPr>
              <a:spcAft>
                <a:spcPts val="1000"/>
              </a:spcAft>
              <a:defRPr sz="1400" b="1">
                <a:solidFill>
                  <a:srgbClr val="1B1F2A"/>
                </a:solidFill>
              </a:defRPr>
            </a:pPr>
            <a:r>
              <a:t>•  Engineering: at ~1.85 rows/minute this would take ~40 hours sequentially, so the manifest was split into 6 shards (scripts/split_7a_manifest.py) run in parallel across 6 GPU nodes, then merged (scripts/merge_7a_shards.py); the unseen-seed pass used the same sharding pattern (scripts/split_unseeded_shards.py / merge_unseeded_shards.py) across 15 shards in 3 waves</a:t>
            </a:r>
          </a:p>
          <a:p>
            <a:pPr>
              <a:spcAft>
                <a:spcPts val="1000"/>
              </a:spcAft>
              <a:defRPr sz="1400" b="1">
                <a:solidFill>
                  <a:srgbClr val="1B1F2A"/>
                </a:solidFill>
              </a:defRPr>
            </a:pPr>
            <a:r>
              <a:t>•  FINAL result (all 6,240 rows, all 520 behaviors, training seeds 42/43/44): optimized_weighted = 8.01% ASR (125/1560) vs. neutral_control 2.18%, random_spaces 2.69%, task_only 2.12%  →  +5.83pp uplift. 87/520 behaviors (16.7%) have at least one successful jailbreak</a:t>
            </a:r>
          </a:p>
          <a:p>
            <a:pPr>
              <a:spcAft>
                <a:spcPts val="1000"/>
              </a:spcAft>
              <a:defRPr sz="1400" b="1">
                <a:solidFill>
                  <a:srgbClr val="1B1F2A"/>
                </a:solidFill>
              </a:defRPr>
            </a:pPr>
            <a:r>
              <a:t>•  FINAL unseen-seed result (5,849 rows, 493/520 behaviors = 94.8% coverage, seeds 100/200/300): optimized_weighted = 8.92% ASR (131/1468) vs. neutral_control 3.83%  →  +5.09pp uplift over the 493 completed behaviors (missing 27 are the unfinished tail of specific shards, not a random sample — see docs/GCG_7A_BEHAVIOR_LEVEL_ANALYSIS.md; report as coverage-qualified, not an unbiased full-520 estimate)</a:t>
            </a:r>
          </a:p>
          <a:p>
            <a:pPr>
              <a:spcAft>
                <a:spcPts val="1000"/>
              </a:spcAft>
              <a:defRPr sz="1400" b="1">
                <a:solidFill>
                  <a:srgbClr val="1B1F2A"/>
                </a:solidFill>
              </a:defRPr>
            </a:pPr>
            <a:r>
              <a:t>•  AUC = 1.000 at ALL 32 generated-token positions across the full 3,120-pair evaluation — the position-0 detection result (slide 16) holds at full benchmark scale, not just on the 25-behavior tuning set</a:t>
            </a:r>
          </a:p>
          <a:p>
            <a:pPr>
              <a:spcAft>
                <a:spcPts val="1000"/>
              </a:spcAft>
              <a:defRPr sz="1400" b="1">
                <a:solidFill>
                  <a:srgbClr val="1B1F2A"/>
                </a:solidFill>
              </a:defRPr>
            </a:pPr>
            <a:r>
              <a:t>•  Per-seed breakdown: seed 42 (the original training seed) = 8.46%, seed 43 = 6.54%, seed 44 = 9.04% — seed-transfer gap between the training seed and the others is a negligible −0.7pp</a:t>
            </a:r>
          </a:p>
          <a:p>
            <a:pPr>
              <a:spcAft>
                <a:spcPts val="1000"/>
              </a:spcAft>
              <a:defRPr sz="1400" b="1">
                <a:solidFill>
                  <a:srgbClr val="1B1F2A"/>
                </a:solidFill>
              </a:defRPr>
            </a:pPr>
            <a:r>
              <a:t>•  Important nuance: 8.01%/8.92% is LOWER than the 10.7%/14.7% measured on the original 25-behavior tuning set — the small hand-picked set somewhat overestimated attack effectiveness, though the positive, seed-robust uplift fully holds up at scale</a:t>
            </a:r>
          </a:p>
        </p:txBody>
      </p:sp>
      <p:sp>
        <p:nvSpPr>
          <p:cNvPr id="6" name="TextBox 5"/>
          <p:cNvSpPr txBox="1"/>
          <p:nvPr/>
        </p:nvSpPr>
        <p:spPr>
          <a:xfrm>
            <a:off x="548640" y="6537960"/>
            <a:ext cx="11064240" cy="274320"/>
          </a:xfrm>
          <a:prstGeom prst="rect">
            <a:avLst/>
          </a:prstGeom>
          <a:noFill/>
        </p:spPr>
        <p:txBody>
          <a:bodyPr wrap="none">
            <a:spAutoFit/>
          </a:bodyPr>
          <a:lstStyle/>
          <a:p>
            <a:pPr algn="r">
              <a:defRPr sz="1000">
                <a:solidFill>
                  <a:srgbClr val="5F636E"/>
                </a:solidFill>
              </a:defRPr>
            </a:pPr>
            <a:r>
              <a:t>GCG Phases 4–7 Summary  |  Jul 7–12, 2026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65760"/>
          </a:xfrm>
          <a:prstGeom prst="rect">
            <a:avLst/>
          </a:prstGeom>
          <a:noFill/>
        </p:spPr>
        <p:txBody>
          <a:bodyPr wrap="none">
            <a:spAutoFit/>
          </a:bodyPr>
          <a:lstStyle/>
          <a:p>
            <a:pPr>
              <a:defRPr sz="1400" b="1">
                <a:solidFill>
                  <a:srgbClr val="2E6BE0"/>
                </a:solidFill>
              </a:defRPr>
            </a:pPr>
            <a:r>
              <a:t>✅ COMPLETE</a:t>
            </a:r>
          </a:p>
        </p:txBody>
      </p:sp>
      <p:sp>
        <p:nvSpPr>
          <p:cNvPr id="3" name="TextBox 2"/>
          <p:cNvSpPr txBox="1"/>
          <p:nvPr/>
        </p:nvSpPr>
        <p:spPr>
          <a:xfrm>
            <a:off x="548640" y="685800"/>
            <a:ext cx="11064240" cy="822960"/>
          </a:xfrm>
          <a:prstGeom prst="rect">
            <a:avLst/>
          </a:prstGeom>
          <a:noFill/>
        </p:spPr>
        <p:txBody>
          <a:bodyPr wrap="square">
            <a:spAutoFit/>
          </a:bodyPr>
          <a:lstStyle/>
          <a:p>
            <a:pPr>
              <a:defRPr sz="3000" b="1">
                <a:solidFill>
                  <a:srgbClr val="1B1F2A"/>
                </a:solidFill>
              </a:defRPr>
            </a:pPr>
            <a:r>
              <a:t>Phase 7B: Seed-Variance of the 5A Attack</a:t>
            </a:r>
          </a:p>
        </p:txBody>
      </p:sp>
      <p:sp>
        <p:nvSpPr>
          <p:cNvPr id="4" name="Rectangle 3"/>
          <p:cNvSpPr/>
          <p:nvPr/>
        </p:nvSpPr>
        <p:spPr>
          <a:xfrm>
            <a:off x="548640" y="1417320"/>
            <a:ext cx="11064240" cy="25400"/>
          </a:xfrm>
          <a:prstGeom prst="rect">
            <a:avLst/>
          </a:prstGeom>
          <a:solidFill>
            <a:srgbClr val="2E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48640" y="1691640"/>
          <a:ext cx="11064240" cy="1920240"/>
        </p:xfrm>
        <a:graphic>
          <a:graphicData uri="http://schemas.openxmlformats.org/drawingml/2006/table">
            <a:tbl>
              <a:tblPr firstRow="1" bandRow="1">
                <a:tableStyleId>{5C22544A-7EE6-4342-B048-85BDC9FD1C3A}</a:tableStyleId>
              </a:tblPr>
              <a:tblGrid>
                <a:gridCol w="2011680"/>
                <a:gridCol w="1828800"/>
                <a:gridCol w="2560320"/>
                <a:gridCol w="3291840"/>
                <a:gridCol w="1371600"/>
              </a:tblGrid>
              <a:tr h="384048">
                <a:tc>
                  <a:txBody>
                    <a:bodyPr/>
                    <a:lstStyle/>
                    <a:p>
                      <a:pPr>
                        <a:defRPr b="1" sz="1300">
                          <a:solidFill>
                            <a:srgbClr val="FFFFFF"/>
                          </a:solidFill>
                        </a:defRPr>
                      </a:pPr>
                      <a:r>
                        <a:t>Seed</a:t>
                      </a:r>
                    </a:p>
                  </a:txBody>
                  <a:tcPr anchor="ctr">
                    <a:solidFill>
                      <a:srgbClr val="1B1F2A"/>
                    </a:solidFill>
                  </a:tcPr>
                </a:tc>
                <a:tc>
                  <a:txBody>
                    <a:bodyPr/>
                    <a:lstStyle/>
                    <a:p>
                      <a:pPr>
                        <a:defRPr b="1" sz="1300">
                          <a:solidFill>
                            <a:srgbClr val="FFFFFF"/>
                          </a:solidFill>
                        </a:defRPr>
                      </a:pPr>
                      <a:r>
                        <a:t>Best opt. loss</a:t>
                      </a:r>
                    </a:p>
                  </a:txBody>
                  <a:tcPr anchor="ctr">
                    <a:solidFill>
                      <a:srgbClr val="1B1F2A"/>
                    </a:solidFill>
                  </a:tcPr>
                </a:tc>
                <a:tc>
                  <a:txBody>
                    <a:bodyPr/>
                    <a:lstStyle/>
                    <a:p>
                      <a:pPr>
                        <a:defRPr b="1" sz="1300">
                          <a:solidFill>
                            <a:srgbClr val="FFFFFF"/>
                          </a:solidFill>
                        </a:defRPr>
                      </a:pPr>
                      <a:r>
                        <a:t>Training ASR (25 beh.)</a:t>
                      </a:r>
                    </a:p>
                  </a:txBody>
                  <a:tcPr anchor="ctr">
                    <a:solidFill>
                      <a:srgbClr val="1B1F2A"/>
                    </a:solidFill>
                  </a:tcPr>
                </a:tc>
                <a:tc>
                  <a:txBody>
                    <a:bodyPr/>
                    <a:lstStyle/>
                    <a:p>
                      <a:pPr>
                        <a:defRPr b="1" sz="1300">
                          <a:solidFill>
                            <a:srgbClr val="FFFFFF"/>
                          </a:solidFill>
                        </a:defRPr>
                      </a:pPr>
                      <a:r>
                        <a:t>Unseen-seed ASR (100/200/300)</a:t>
                      </a:r>
                    </a:p>
                  </a:txBody>
                  <a:tcPr anchor="ctr">
                    <a:solidFill>
                      <a:srgbClr val="1B1F2A"/>
                    </a:solidFill>
                  </a:tcPr>
                </a:tc>
                <a:tc>
                  <a:txBody>
                    <a:bodyPr/>
                    <a:lstStyle/>
                    <a:p>
                      <a:pPr>
                        <a:defRPr b="1" sz="1300">
                          <a:solidFill>
                            <a:srgbClr val="FFFFFF"/>
                          </a:solidFill>
                        </a:defRPr>
                      </a:pPr>
                      <a:r>
                        <a:t>AUC @ pos 0</a:t>
                      </a:r>
                    </a:p>
                  </a:txBody>
                  <a:tcPr anchor="ctr">
                    <a:solidFill>
                      <a:srgbClr val="1B1F2A"/>
                    </a:solidFill>
                  </a:tcPr>
                </a:tc>
              </a:tr>
              <a:tr h="384048">
                <a:tc>
                  <a:txBody>
                    <a:bodyPr/>
                    <a:lstStyle/>
                    <a:p>
                      <a:pPr>
                        <a:defRPr sz="1400">
                          <a:solidFill>
                            <a:srgbClr val="1B1F2A"/>
                          </a:solidFill>
                        </a:defRPr>
                      </a:pPr>
                      <a:r>
                        <a:t>42 (5A reference)</a:t>
                      </a:r>
                    </a:p>
                  </a:txBody>
                  <a:tcPr anchor="ctr">
                    <a:solidFill>
                      <a:srgbClr val="F4F6F9"/>
                    </a:solidFill>
                  </a:tcPr>
                </a:tc>
                <a:tc>
                  <a:txBody>
                    <a:bodyPr/>
                    <a:lstStyle/>
                    <a:p>
                      <a:pPr>
                        <a:defRPr sz="1400">
                          <a:solidFill>
                            <a:srgbClr val="1B1F2A"/>
                          </a:solidFill>
                        </a:defRPr>
                      </a:pPr>
                      <a:r>
                        <a:t>20.52 (best)</a:t>
                      </a:r>
                    </a:p>
                  </a:txBody>
                  <a:tcPr anchor="ctr">
                    <a:solidFill>
                      <a:srgbClr val="F4F6F9"/>
                    </a:solidFill>
                  </a:tcPr>
                </a:tc>
                <a:tc>
                  <a:txBody>
                    <a:bodyPr/>
                    <a:lstStyle/>
                    <a:p>
                      <a:pPr>
                        <a:defRPr sz="1400">
                          <a:solidFill>
                            <a:srgbClr val="1B1F2A"/>
                          </a:solidFill>
                        </a:defRPr>
                      </a:pPr>
                      <a:r>
                        <a:t>10.7% (8/75)</a:t>
                      </a:r>
                    </a:p>
                  </a:txBody>
                  <a:tcPr anchor="ctr">
                    <a:solidFill>
                      <a:srgbClr val="F4F6F9"/>
                    </a:solidFill>
                  </a:tcPr>
                </a:tc>
                <a:tc>
                  <a:txBody>
                    <a:bodyPr/>
                    <a:lstStyle/>
                    <a:p>
                      <a:pPr>
                        <a:defRPr sz="1400">
                          <a:solidFill>
                            <a:srgbClr val="1B1F2A"/>
                          </a:solidFill>
                        </a:defRPr>
                      </a:pPr>
                      <a:r>
                        <a:t>14.7% (11/75)  [+2.7pp]</a:t>
                      </a:r>
                    </a:p>
                  </a:txBody>
                  <a:tcPr anchor="ctr">
                    <a:solidFill>
                      <a:srgbClr val="F4F6F9"/>
                    </a:solidFill>
                  </a:tcPr>
                </a:tc>
                <a:tc>
                  <a:txBody>
                    <a:bodyPr/>
                    <a:lstStyle/>
                    <a:p>
                      <a:pPr>
                        <a:defRPr sz="1400">
                          <a:solidFill>
                            <a:srgbClr val="1B1F2A"/>
                          </a:solidFill>
                        </a:defRPr>
                      </a:pPr>
                      <a:r>
                        <a:t>1.000</a:t>
                      </a:r>
                    </a:p>
                  </a:txBody>
                  <a:tcPr anchor="ctr">
                    <a:solidFill>
                      <a:srgbClr val="F4F6F9"/>
                    </a:solidFill>
                  </a:tcPr>
                </a:tc>
              </a:tr>
              <a:tr h="384048">
                <a:tc>
                  <a:txBody>
                    <a:bodyPr/>
                    <a:lstStyle/>
                    <a:p>
                      <a:pPr>
                        <a:defRPr sz="1400">
                          <a:solidFill>
                            <a:srgbClr val="1B1F2A"/>
                          </a:solidFill>
                        </a:defRPr>
                      </a:pPr>
                      <a:r>
                        <a:t>43</a:t>
                      </a:r>
                    </a:p>
                  </a:txBody>
                  <a:tcPr anchor="ctr">
                    <a:solidFill>
                      <a:srgbClr val="FFFFFF"/>
                    </a:solidFill>
                  </a:tcPr>
                </a:tc>
                <a:tc>
                  <a:txBody>
                    <a:bodyPr/>
                    <a:lstStyle/>
                    <a:p>
                      <a:pPr>
                        <a:defRPr sz="1400">
                          <a:solidFill>
                            <a:srgbClr val="1B1F2A"/>
                          </a:solidFill>
                        </a:defRPr>
                      </a:pPr>
                      <a:r>
                        <a:t>24.26 (worst)</a:t>
                      </a:r>
                    </a:p>
                  </a:txBody>
                  <a:tcPr anchor="ctr">
                    <a:solidFill>
                      <a:srgbClr val="FFFFFF"/>
                    </a:solidFill>
                  </a:tcPr>
                </a:tc>
                <a:tc>
                  <a:txBody>
                    <a:bodyPr/>
                    <a:lstStyle/>
                    <a:p>
                      <a:pPr>
                        <a:defRPr sz="1400">
                          <a:solidFill>
                            <a:srgbClr val="1B1F2A"/>
                          </a:solidFill>
                        </a:defRPr>
                      </a:pPr>
                      <a:r>
                        <a:t>10.7% (8/75)</a:t>
                      </a:r>
                    </a:p>
                  </a:txBody>
                  <a:tcPr anchor="ctr">
                    <a:solidFill>
                      <a:srgbClr val="FFFFFF"/>
                    </a:solidFill>
                  </a:tcPr>
                </a:tc>
                <a:tc>
                  <a:txBody>
                    <a:bodyPr/>
                    <a:lstStyle/>
                    <a:p>
                      <a:pPr>
                        <a:defRPr sz="1400">
                          <a:solidFill>
                            <a:srgbClr val="1B1F2A"/>
                          </a:solidFill>
                        </a:defRPr>
                      </a:pPr>
                      <a:r>
                        <a:t>16.0% (12/75)  [+4.0pp]</a:t>
                      </a:r>
                    </a:p>
                  </a:txBody>
                  <a:tcPr anchor="ctr">
                    <a:solidFill>
                      <a:srgbClr val="FFFFFF"/>
                    </a:solidFill>
                  </a:tcPr>
                </a:tc>
                <a:tc>
                  <a:txBody>
                    <a:bodyPr/>
                    <a:lstStyle/>
                    <a:p>
                      <a:pPr>
                        <a:defRPr sz="1400">
                          <a:solidFill>
                            <a:srgbClr val="1B1F2A"/>
                          </a:solidFill>
                        </a:defRPr>
                      </a:pPr>
                      <a:r>
                        <a:t>1.000</a:t>
                      </a:r>
                    </a:p>
                  </a:txBody>
                  <a:tcPr anchor="ctr">
                    <a:solidFill>
                      <a:srgbClr val="FFFFFF"/>
                    </a:solidFill>
                  </a:tcPr>
                </a:tc>
              </a:tr>
              <a:tr h="384048">
                <a:tc>
                  <a:txBody>
                    <a:bodyPr/>
                    <a:lstStyle/>
                    <a:p>
                      <a:pPr>
                        <a:defRPr sz="1400">
                          <a:solidFill>
                            <a:srgbClr val="1B1F2A"/>
                          </a:solidFill>
                        </a:defRPr>
                      </a:pPr>
                      <a:r>
                        <a:t>44</a:t>
                      </a:r>
                    </a:p>
                  </a:txBody>
                  <a:tcPr anchor="ctr">
                    <a:solidFill>
                      <a:srgbClr val="FBE1E1"/>
                    </a:solidFill>
                  </a:tcPr>
                </a:tc>
                <a:tc>
                  <a:txBody>
                    <a:bodyPr/>
                    <a:lstStyle/>
                    <a:p>
                      <a:pPr>
                        <a:defRPr sz="1400">
                          <a:solidFill>
                            <a:srgbClr val="1B1F2A"/>
                          </a:solidFill>
                        </a:defRPr>
                      </a:pPr>
                      <a:r>
                        <a:t>19.91</a:t>
                      </a:r>
                    </a:p>
                  </a:txBody>
                  <a:tcPr anchor="ctr">
                    <a:solidFill>
                      <a:srgbClr val="FBE1E1"/>
                    </a:solidFill>
                  </a:tcPr>
                </a:tc>
                <a:tc>
                  <a:txBody>
                    <a:bodyPr/>
                    <a:lstStyle/>
                    <a:p>
                      <a:pPr>
                        <a:defRPr sz="1400">
                          <a:solidFill>
                            <a:srgbClr val="1B1F2A"/>
                          </a:solidFill>
                        </a:defRPr>
                      </a:pPr>
                      <a:r>
                        <a:t>1.3% (1/75) — NET-NEG</a:t>
                      </a:r>
                    </a:p>
                  </a:txBody>
                  <a:tcPr anchor="ctr">
                    <a:solidFill>
                      <a:srgbClr val="FBE1E1"/>
                    </a:solidFill>
                  </a:tcPr>
                </a:tc>
                <a:tc>
                  <a:txBody>
                    <a:bodyPr/>
                    <a:lstStyle/>
                    <a:p>
                      <a:pPr>
                        <a:defRPr sz="1400">
                          <a:solidFill>
                            <a:srgbClr val="1B1F2A"/>
                          </a:solidFill>
                        </a:defRPr>
                      </a:pPr>
                      <a:r>
                        <a:t>2.7% (2/75)  [−8.0pp NET-NEG]</a:t>
                      </a:r>
                    </a:p>
                  </a:txBody>
                  <a:tcPr anchor="ctr">
                    <a:solidFill>
                      <a:srgbClr val="FBE1E1"/>
                    </a:solidFill>
                  </a:tcPr>
                </a:tc>
                <a:tc>
                  <a:txBody>
                    <a:bodyPr/>
                    <a:lstStyle/>
                    <a:p>
                      <a:pPr>
                        <a:defRPr sz="1400">
                          <a:solidFill>
                            <a:srgbClr val="1B1F2A"/>
                          </a:solidFill>
                        </a:defRPr>
                      </a:pPr>
                      <a:r>
                        <a:t>1.000</a:t>
                      </a:r>
                    </a:p>
                  </a:txBody>
                  <a:tcPr anchor="ctr">
                    <a:solidFill>
                      <a:srgbClr val="FBE1E1"/>
                    </a:solidFill>
                  </a:tcPr>
                </a:tc>
              </a:tr>
              <a:tr h="384048">
                <a:tc>
                  <a:txBody>
                    <a:bodyPr/>
                    <a:lstStyle/>
                    <a:p>
                      <a:pPr>
                        <a:defRPr sz="1400">
                          <a:solidFill>
                            <a:srgbClr val="1B1F2A"/>
                          </a:solidFill>
                        </a:defRPr>
                      </a:pPr>
                      <a:r>
                        <a:t>45</a:t>
                      </a:r>
                    </a:p>
                  </a:txBody>
                  <a:tcPr anchor="ctr">
                    <a:solidFill>
                      <a:srgbClr val="FFFFFF"/>
                    </a:solidFill>
                  </a:tcPr>
                </a:tc>
                <a:tc>
                  <a:txBody>
                    <a:bodyPr/>
                    <a:lstStyle/>
                    <a:p>
                      <a:pPr>
                        <a:defRPr sz="1400">
                          <a:solidFill>
                            <a:srgbClr val="1B1F2A"/>
                          </a:solidFill>
                        </a:defRPr>
                      </a:pPr>
                      <a:r>
                        <a:t>19.98</a:t>
                      </a:r>
                    </a:p>
                  </a:txBody>
                  <a:tcPr anchor="ctr">
                    <a:solidFill>
                      <a:srgbClr val="FFFFFF"/>
                    </a:solidFill>
                  </a:tcPr>
                </a:tc>
                <a:tc>
                  <a:txBody>
                    <a:bodyPr/>
                    <a:lstStyle/>
                    <a:p>
                      <a:pPr>
                        <a:defRPr sz="1400">
                          <a:solidFill>
                            <a:srgbClr val="1B1F2A"/>
                          </a:solidFill>
                        </a:defRPr>
                      </a:pPr>
                      <a:r>
                        <a:t>16.0% (12/75) — best</a:t>
                      </a:r>
                    </a:p>
                  </a:txBody>
                  <a:tcPr anchor="ctr">
                    <a:solidFill>
                      <a:srgbClr val="FFFFFF"/>
                    </a:solidFill>
                  </a:tcPr>
                </a:tc>
                <a:tc>
                  <a:txBody>
                    <a:bodyPr/>
                    <a:lstStyle/>
                    <a:p>
                      <a:pPr>
                        <a:defRPr sz="1400">
                          <a:solidFill>
                            <a:srgbClr val="1B1F2A"/>
                          </a:solidFill>
                        </a:defRPr>
                      </a:pPr>
                      <a:r>
                        <a:t>21.3% (16/75)  [+9.3pp] — best</a:t>
                      </a:r>
                    </a:p>
                  </a:txBody>
                  <a:tcPr anchor="ctr">
                    <a:solidFill>
                      <a:srgbClr val="FFFFFF"/>
                    </a:solidFill>
                  </a:tcPr>
                </a:tc>
                <a:tc>
                  <a:txBody>
                    <a:bodyPr/>
                    <a:lstStyle/>
                    <a:p>
                      <a:pPr>
                        <a:defRPr sz="1400">
                          <a:solidFill>
                            <a:srgbClr val="1B1F2A"/>
                          </a:solidFill>
                        </a:defRPr>
                      </a:pPr>
                      <a:r>
                        <a:t>1.000</a:t>
                      </a:r>
                    </a:p>
                  </a:txBody>
                  <a:tcPr anchor="ctr">
                    <a:solidFill>
                      <a:srgbClr val="FFFFFF"/>
                    </a:solidFill>
                  </a:tcPr>
                </a:tc>
              </a:tr>
            </a:tbl>
          </a:graphicData>
        </a:graphic>
      </p:graphicFrame>
      <p:sp>
        <p:nvSpPr>
          <p:cNvPr id="6" name="TextBox 5"/>
          <p:cNvSpPr txBox="1"/>
          <p:nvPr/>
        </p:nvSpPr>
        <p:spPr>
          <a:xfrm>
            <a:off x="548640" y="3931920"/>
            <a:ext cx="11064240" cy="4572000"/>
          </a:xfrm>
          <a:prstGeom prst="rect">
            <a:avLst/>
          </a:prstGeom>
          <a:noFill/>
        </p:spPr>
        <p:txBody>
          <a:bodyPr wrap="square">
            <a:spAutoFit/>
          </a:bodyPr>
          <a:lstStyle/>
          <a:p>
            <a:pPr>
              <a:spcAft>
                <a:spcPts val="1000"/>
              </a:spcAft>
              <a:defRPr sz="1500" b="1">
                <a:solidFill>
                  <a:srgbClr val="1B1F2A"/>
                </a:solidFill>
              </a:defRPr>
            </a:pPr>
            <a:r>
              <a:t>•  Same setup as 5A (500 optimization steps), only the optimization seed changed. "Training ASR" in the table is measured on a fixed generation-seed dev panel {42,43,44} shared across all four rows — not each row's own optimization seed (seed 45's own generation seed was never sampled anywhere in this project; see docs/GCG_PHASE4_7_AUDIT_REPORT.md item 5)</a:t>
            </a:r>
          </a:p>
          <a:p>
            <a:pPr>
              <a:spcAft>
                <a:spcPts val="1000"/>
              </a:spcAft>
              <a:defRPr sz="1500" b="1">
                <a:solidFill>
                  <a:srgbClr val="1B1F2A"/>
                </a:solidFill>
              </a:defRPr>
            </a:pPr>
            <a:r>
              <a:t>•  Range: training ASR from 1.3% to 16.0%; unseen ASR from 2.7% to 21.3% — more than 10× variance across just 4 seeds</a:t>
            </a:r>
          </a:p>
          <a:p>
            <a:pPr>
              <a:spcAft>
                <a:spcPts val="1000"/>
              </a:spcAft>
              <a:defRPr sz="1500" b="1">
                <a:solidFill>
                  <a:srgbClr val="1B1F2A"/>
                </a:solidFill>
              </a:defRPr>
            </a:pPr>
            <a:r>
              <a:t>•  Seed 44 (highlighted) is net-negative in BOTH training and unseen regimes — a consistently bad suffix, not a one-off fluke</a:t>
            </a:r>
          </a:p>
        </p:txBody>
      </p:sp>
      <p:sp>
        <p:nvSpPr>
          <p:cNvPr id="7" name="TextBox 6"/>
          <p:cNvSpPr txBox="1"/>
          <p:nvPr/>
        </p:nvSpPr>
        <p:spPr>
          <a:xfrm>
            <a:off x="548640" y="6537960"/>
            <a:ext cx="11064240" cy="274320"/>
          </a:xfrm>
          <a:prstGeom prst="rect">
            <a:avLst/>
          </a:prstGeom>
          <a:noFill/>
        </p:spPr>
        <p:txBody>
          <a:bodyPr wrap="none">
            <a:spAutoFit/>
          </a:bodyPr>
          <a:lstStyle/>
          <a:p>
            <a:pPr algn="r">
              <a:defRPr sz="1000">
                <a:solidFill>
                  <a:srgbClr val="5F636E"/>
                </a:solidFill>
              </a:defRPr>
            </a:pPr>
            <a:r>
              <a:t>GCG Phases 4–7 Summary  |  Jul 7–12, 2026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65760"/>
          </a:xfrm>
          <a:prstGeom prst="rect">
            <a:avLst/>
          </a:prstGeom>
          <a:noFill/>
        </p:spPr>
        <p:txBody>
          <a:bodyPr wrap="none">
            <a:spAutoFit/>
          </a:bodyPr>
          <a:lstStyle/>
          <a:p>
            <a:pPr>
              <a:defRPr sz="1400" b="1">
                <a:solidFill>
                  <a:srgbClr val="2E6BE0"/>
                </a:solidFill>
              </a:defRPr>
            </a:pPr>
            <a:r>
              <a:t>✅ COMPLETE — SEEDS 44 VS. 45</a:t>
            </a:r>
          </a:p>
        </p:txBody>
      </p:sp>
      <p:sp>
        <p:nvSpPr>
          <p:cNvPr id="3" name="TextBox 2"/>
          <p:cNvSpPr txBox="1"/>
          <p:nvPr/>
        </p:nvSpPr>
        <p:spPr>
          <a:xfrm>
            <a:off x="548640" y="685800"/>
            <a:ext cx="11064240" cy="822960"/>
          </a:xfrm>
          <a:prstGeom prst="rect">
            <a:avLst/>
          </a:prstGeom>
          <a:noFill/>
        </p:spPr>
        <p:txBody>
          <a:bodyPr wrap="square">
            <a:spAutoFit/>
          </a:bodyPr>
          <a:lstStyle/>
          <a:p>
            <a:pPr>
              <a:defRPr sz="3000" b="1">
                <a:solidFill>
                  <a:srgbClr val="1B1F2A"/>
                </a:solidFill>
              </a:defRPr>
            </a:pPr>
            <a:r>
              <a:t>Phase 7B Deep Dive: Loss Does Not Predict ASR</a:t>
            </a:r>
          </a:p>
        </p:txBody>
      </p:sp>
      <p:sp>
        <p:nvSpPr>
          <p:cNvPr id="4" name="Rectangle 3"/>
          <p:cNvSpPr/>
          <p:nvPr/>
        </p:nvSpPr>
        <p:spPr>
          <a:xfrm>
            <a:off x="548640" y="1417320"/>
            <a:ext cx="11064240" cy="25400"/>
          </a:xfrm>
          <a:prstGeom prst="rect">
            <a:avLst/>
          </a:prstGeom>
          <a:solidFill>
            <a:srgbClr val="2E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48640" y="1737360"/>
          <a:ext cx="11064240" cy="1920240"/>
        </p:xfrm>
        <a:graphic>
          <a:graphicData uri="http://schemas.openxmlformats.org/drawingml/2006/table">
            <a:tbl>
              <a:tblPr firstRow="1" bandRow="1">
                <a:tableStyleId>{5C22544A-7EE6-4342-B048-85BDC9FD1C3A}</a:tableStyleId>
              </a:tblPr>
              <a:tblGrid>
                <a:gridCol w="3291840"/>
                <a:gridCol w="2743200"/>
                <a:gridCol w="2743200"/>
                <a:gridCol w="2286000"/>
              </a:tblGrid>
              <a:tr h="384048">
                <a:tc>
                  <a:txBody>
                    <a:bodyPr/>
                    <a:lstStyle/>
                    <a:p>
                      <a:pPr>
                        <a:defRPr b="1" sz="1300">
                          <a:solidFill>
                            <a:srgbClr val="FFFFFF"/>
                          </a:solidFill>
                        </a:defRPr>
                      </a:pPr>
                    </a:p>
                  </a:txBody>
                  <a:tcPr anchor="ctr">
                    <a:solidFill>
                      <a:srgbClr val="1B1F2A"/>
                    </a:solidFill>
                  </a:tcPr>
                </a:tc>
                <a:tc>
                  <a:txBody>
                    <a:bodyPr/>
                    <a:lstStyle/>
                    <a:p>
                      <a:pPr>
                        <a:defRPr b="1" sz="1300">
                          <a:solidFill>
                            <a:srgbClr val="FFFFFF"/>
                          </a:solidFill>
                        </a:defRPr>
                      </a:pPr>
                      <a:r>
                        <a:t>Seed 44</a:t>
                      </a:r>
                    </a:p>
                  </a:txBody>
                  <a:tcPr anchor="ctr">
                    <a:solidFill>
                      <a:srgbClr val="1B1F2A"/>
                    </a:solidFill>
                  </a:tcPr>
                </a:tc>
                <a:tc>
                  <a:txBody>
                    <a:bodyPr/>
                    <a:lstStyle/>
                    <a:p>
                      <a:pPr>
                        <a:defRPr b="1" sz="1300">
                          <a:solidFill>
                            <a:srgbClr val="FFFFFF"/>
                          </a:solidFill>
                        </a:defRPr>
                      </a:pPr>
                      <a:r>
                        <a:t>Seed 45</a:t>
                      </a:r>
                    </a:p>
                  </a:txBody>
                  <a:tcPr anchor="ctr">
                    <a:solidFill>
                      <a:srgbClr val="1B1F2A"/>
                    </a:solidFill>
                  </a:tcPr>
                </a:tc>
                <a:tc>
                  <a:txBody>
                    <a:bodyPr/>
                    <a:lstStyle/>
                    <a:p>
                      <a:pPr>
                        <a:defRPr b="1" sz="1300">
                          <a:solidFill>
                            <a:srgbClr val="FFFFFF"/>
                          </a:solidFill>
                        </a:defRPr>
                      </a:pPr>
                      <a:r>
                        <a:t>Difference</a:t>
                      </a:r>
                    </a:p>
                  </a:txBody>
                  <a:tcPr anchor="ctr">
                    <a:solidFill>
                      <a:srgbClr val="1B1F2A"/>
                    </a:solidFill>
                  </a:tcPr>
                </a:tc>
              </a:tr>
              <a:tr h="384048">
                <a:tc>
                  <a:txBody>
                    <a:bodyPr/>
                    <a:lstStyle/>
                    <a:p>
                      <a:pPr>
                        <a:defRPr sz="1500">
                          <a:solidFill>
                            <a:srgbClr val="1B1F2A"/>
                          </a:solidFill>
                        </a:defRPr>
                      </a:pPr>
                      <a:r>
                        <a:t>Best optimization loss</a:t>
                      </a:r>
                    </a:p>
                  </a:txBody>
                  <a:tcPr anchor="ctr">
                    <a:solidFill>
                      <a:srgbClr val="F4F6F9"/>
                    </a:solidFill>
                  </a:tcPr>
                </a:tc>
                <a:tc>
                  <a:txBody>
                    <a:bodyPr/>
                    <a:lstStyle/>
                    <a:p>
                      <a:pPr>
                        <a:defRPr sz="1500">
                          <a:solidFill>
                            <a:srgbClr val="1B1F2A"/>
                          </a:solidFill>
                        </a:defRPr>
                      </a:pPr>
                      <a:r>
                        <a:t>19.91</a:t>
                      </a:r>
                    </a:p>
                  </a:txBody>
                  <a:tcPr anchor="ctr">
                    <a:solidFill>
                      <a:srgbClr val="F4F6F9"/>
                    </a:solidFill>
                  </a:tcPr>
                </a:tc>
                <a:tc>
                  <a:txBody>
                    <a:bodyPr/>
                    <a:lstStyle/>
                    <a:p>
                      <a:pPr>
                        <a:defRPr sz="1500">
                          <a:solidFill>
                            <a:srgbClr val="1B1F2A"/>
                          </a:solidFill>
                        </a:defRPr>
                      </a:pPr>
                      <a:r>
                        <a:t>19.98</a:t>
                      </a:r>
                    </a:p>
                  </a:txBody>
                  <a:tcPr anchor="ctr">
                    <a:solidFill>
                      <a:srgbClr val="F4F6F9"/>
                    </a:solidFill>
                  </a:tcPr>
                </a:tc>
                <a:tc>
                  <a:txBody>
                    <a:bodyPr/>
                    <a:lstStyle/>
                    <a:p>
                      <a:pPr>
                        <a:defRPr sz="1500">
                          <a:solidFill>
                            <a:srgbClr val="1B1F2A"/>
                          </a:solidFill>
                        </a:defRPr>
                      </a:pPr>
                      <a:r>
                        <a:t>0.07 (essentially identical)</a:t>
                      </a:r>
                    </a:p>
                  </a:txBody>
                  <a:tcPr anchor="ctr">
                    <a:solidFill>
                      <a:srgbClr val="F4F6F9"/>
                    </a:solidFill>
                  </a:tcPr>
                </a:tc>
              </a:tr>
              <a:tr h="384048">
                <a:tc>
                  <a:txBody>
                    <a:bodyPr/>
                    <a:lstStyle/>
                    <a:p>
                      <a:pPr>
                        <a:defRPr sz="1500">
                          <a:solidFill>
                            <a:srgbClr val="1B1F2A"/>
                          </a:solidFill>
                        </a:defRPr>
                      </a:pPr>
                      <a:r>
                        <a:t>Training ASR</a:t>
                      </a:r>
                    </a:p>
                  </a:txBody>
                  <a:tcPr anchor="ctr">
                    <a:solidFill>
                      <a:srgbClr val="FFFFFF"/>
                    </a:solidFill>
                  </a:tcPr>
                </a:tc>
                <a:tc>
                  <a:txBody>
                    <a:bodyPr/>
                    <a:lstStyle/>
                    <a:p>
                      <a:pPr>
                        <a:defRPr sz="1500">
                          <a:solidFill>
                            <a:srgbClr val="1B1F2A"/>
                          </a:solidFill>
                        </a:defRPr>
                      </a:pPr>
                      <a:r>
                        <a:t>1.3% (net-negative)</a:t>
                      </a:r>
                    </a:p>
                  </a:txBody>
                  <a:tcPr anchor="ctr">
                    <a:solidFill>
                      <a:srgbClr val="FFFFFF"/>
                    </a:solidFill>
                  </a:tcPr>
                </a:tc>
                <a:tc>
                  <a:txBody>
                    <a:bodyPr/>
                    <a:lstStyle/>
                    <a:p>
                      <a:pPr>
                        <a:defRPr sz="1500">
                          <a:solidFill>
                            <a:srgbClr val="1B1F2A"/>
                          </a:solidFill>
                        </a:defRPr>
                      </a:pPr>
                      <a:r>
                        <a:t>16.0% (best result)</a:t>
                      </a:r>
                    </a:p>
                  </a:txBody>
                  <a:tcPr anchor="ctr">
                    <a:solidFill>
                      <a:srgbClr val="FFFFFF"/>
                    </a:solidFill>
                  </a:tcPr>
                </a:tc>
                <a:tc>
                  <a:txBody>
                    <a:bodyPr/>
                    <a:lstStyle/>
                    <a:p>
                      <a:pPr>
                        <a:defRPr sz="1500">
                          <a:solidFill>
                            <a:srgbClr val="1B1F2A"/>
                          </a:solidFill>
                        </a:defRPr>
                      </a:pPr>
                      <a:r>
                        <a:t>11× gap</a:t>
                      </a:r>
                    </a:p>
                  </a:txBody>
                  <a:tcPr anchor="ctr">
                    <a:solidFill>
                      <a:srgbClr val="FFFFFF"/>
                    </a:solidFill>
                  </a:tcPr>
                </a:tc>
              </a:tr>
              <a:tr h="384048">
                <a:tc>
                  <a:txBody>
                    <a:bodyPr/>
                    <a:lstStyle/>
                    <a:p>
                      <a:pPr>
                        <a:defRPr sz="1500">
                          <a:solidFill>
                            <a:srgbClr val="1B1F2A"/>
                          </a:solidFill>
                        </a:defRPr>
                      </a:pPr>
                      <a:r>
                        <a:t>Unseen-seed ASR</a:t>
                      </a:r>
                    </a:p>
                  </a:txBody>
                  <a:tcPr anchor="ctr">
                    <a:solidFill>
                      <a:srgbClr val="F4F6F9"/>
                    </a:solidFill>
                  </a:tcPr>
                </a:tc>
                <a:tc>
                  <a:txBody>
                    <a:bodyPr/>
                    <a:lstStyle/>
                    <a:p>
                      <a:pPr>
                        <a:defRPr sz="1500">
                          <a:solidFill>
                            <a:srgbClr val="1B1F2A"/>
                          </a:solidFill>
                        </a:defRPr>
                      </a:pPr>
                      <a:r>
                        <a:t>2.7%</a:t>
                      </a:r>
                    </a:p>
                  </a:txBody>
                  <a:tcPr anchor="ctr">
                    <a:solidFill>
                      <a:srgbClr val="F4F6F9"/>
                    </a:solidFill>
                  </a:tcPr>
                </a:tc>
                <a:tc>
                  <a:txBody>
                    <a:bodyPr/>
                    <a:lstStyle/>
                    <a:p>
                      <a:pPr>
                        <a:defRPr sz="1500">
                          <a:solidFill>
                            <a:srgbClr val="1B1F2A"/>
                          </a:solidFill>
                        </a:defRPr>
                      </a:pPr>
                      <a:r>
                        <a:t>21.3%</a:t>
                      </a:r>
                    </a:p>
                  </a:txBody>
                  <a:tcPr anchor="ctr">
                    <a:solidFill>
                      <a:srgbClr val="F4F6F9"/>
                    </a:solidFill>
                  </a:tcPr>
                </a:tc>
                <a:tc>
                  <a:txBody>
                    <a:bodyPr/>
                    <a:lstStyle/>
                    <a:p>
                      <a:pPr>
                        <a:defRPr sz="1500">
                          <a:solidFill>
                            <a:srgbClr val="1B1F2A"/>
                          </a:solidFill>
                        </a:defRPr>
                      </a:pPr>
                      <a:r>
                        <a:t>~8× gap</a:t>
                      </a:r>
                    </a:p>
                  </a:txBody>
                  <a:tcPr anchor="ctr">
                    <a:solidFill>
                      <a:srgbClr val="F4F6F9"/>
                    </a:solidFill>
                  </a:tcPr>
                </a:tc>
              </a:tr>
              <a:tr h="384048">
                <a:tc>
                  <a:txBody>
                    <a:bodyPr/>
                    <a:lstStyle/>
                    <a:p>
                      <a:pPr>
                        <a:defRPr sz="1500">
                          <a:solidFill>
                            <a:srgbClr val="1B1F2A"/>
                          </a:solidFill>
                        </a:defRPr>
                      </a:pPr>
                      <a:r>
                        <a:t>Repr. distance from neutral (pos 0)</a:t>
                      </a:r>
                    </a:p>
                  </a:txBody>
                  <a:tcPr anchor="ctr">
                    <a:solidFill>
                      <a:srgbClr val="FFFFFF"/>
                    </a:solidFill>
                  </a:tcPr>
                </a:tc>
                <a:tc>
                  <a:txBody>
                    <a:bodyPr/>
                    <a:lstStyle/>
                    <a:p>
                      <a:pPr>
                        <a:defRPr sz="1500">
                          <a:solidFill>
                            <a:srgbClr val="1B1F2A"/>
                          </a:solidFill>
                        </a:defRPr>
                      </a:pPr>
                      <a:r>
                        <a:t>0.067 (LARGEST of all 4 seeds)</a:t>
                      </a:r>
                    </a:p>
                  </a:txBody>
                  <a:tcPr anchor="ctr">
                    <a:solidFill>
                      <a:srgbClr val="FFFFFF"/>
                    </a:solidFill>
                  </a:tcPr>
                </a:tc>
                <a:tc>
                  <a:txBody>
                    <a:bodyPr/>
                    <a:lstStyle/>
                    <a:p>
                      <a:pPr>
                        <a:defRPr sz="1500">
                          <a:solidFill>
                            <a:srgbClr val="1B1F2A"/>
                          </a:solidFill>
                        </a:defRPr>
                      </a:pPr>
                      <a:r>
                        <a:t>0.063</a:t>
                      </a:r>
                    </a:p>
                  </a:txBody>
                  <a:tcPr anchor="ctr">
                    <a:solidFill>
                      <a:srgbClr val="FFFFFF"/>
                    </a:solidFill>
                  </a:tcPr>
                </a:tc>
                <a:tc>
                  <a:txBody>
                    <a:bodyPr/>
                    <a:lstStyle/>
                    <a:p>
                      <a:pPr>
                        <a:defRPr sz="1500">
                          <a:solidFill>
                            <a:srgbClr val="1B1F2A"/>
                          </a:solidFill>
                        </a:defRPr>
                      </a:pPr>
                      <a:r>
                        <a:t>seed 44 shifts activations MORE, yet works LESS</a:t>
                      </a:r>
                    </a:p>
                  </a:txBody>
                  <a:tcPr anchor="ctr">
                    <a:solidFill>
                      <a:srgbClr val="FFFFFF"/>
                    </a:solidFill>
                  </a:tcPr>
                </a:tc>
              </a:tr>
            </a:tbl>
          </a:graphicData>
        </a:graphic>
      </p:graphicFrame>
      <p:sp>
        <p:nvSpPr>
          <p:cNvPr id="6" name="TextBox 5"/>
          <p:cNvSpPr txBox="1"/>
          <p:nvPr/>
        </p:nvSpPr>
        <p:spPr>
          <a:xfrm>
            <a:off x="548640" y="3749039"/>
            <a:ext cx="11064240" cy="4572000"/>
          </a:xfrm>
          <a:prstGeom prst="rect">
            <a:avLst/>
          </a:prstGeom>
          <a:noFill/>
        </p:spPr>
        <p:txBody>
          <a:bodyPr wrap="square">
            <a:spAutoFit/>
          </a:bodyPr>
          <a:lstStyle/>
          <a:p>
            <a:pPr>
              <a:spcAft>
                <a:spcPts val="1000"/>
              </a:spcAft>
              <a:defRPr sz="1600" b="1">
                <a:solidFill>
                  <a:srgbClr val="1B1F2A"/>
                </a:solidFill>
              </a:defRPr>
            </a:pPr>
            <a:r>
              <a:t>•  Two optimization runs that converged to virtually the same loss value produced attack success rates differing by more than an order of magnitude</a:t>
            </a:r>
          </a:p>
          <a:p>
            <a:pPr>
              <a:spcAft>
                <a:spcPts val="1000"/>
              </a:spcAft>
              <a:defRPr sz="1600" b="1">
                <a:solidFill>
                  <a:srgbClr val="1B1F2A"/>
                </a:solidFill>
              </a:defRPr>
            </a:pPr>
            <a:r>
              <a:t>•  Interpretation: teacher-forced loss measures how well the suffix forces the model to PREDICT a fixed target sequence; ASR measures whether the model actually GENERATES compliant text on its own. These are related but distinct objectives — different random seeds land in different 'local minima' of the loss landscape that have nearly-equal loss but very different real-world behavior</a:t>
            </a:r>
          </a:p>
          <a:p>
            <a:pPr>
              <a:spcAft>
                <a:spcPts val="1000"/>
              </a:spcAft>
              <a:defRPr sz="1600" b="1">
                <a:solidFill>
                  <a:srgbClr val="1B1F2A"/>
                </a:solidFill>
              </a:defRPr>
            </a:pPr>
            <a:r>
              <a:t>•  Practical implication: choosing a GCG suffix by its training loss alone (the standard practice) is not reliable for this kind of target; a live-ASR selection criterion (attempted in 5C) or multi-seed averaging would be needed for a trustworthy result</a:t>
            </a:r>
          </a:p>
        </p:txBody>
      </p:sp>
      <p:sp>
        <p:nvSpPr>
          <p:cNvPr id="7" name="TextBox 6"/>
          <p:cNvSpPr txBox="1"/>
          <p:nvPr/>
        </p:nvSpPr>
        <p:spPr>
          <a:xfrm>
            <a:off x="548640" y="6537960"/>
            <a:ext cx="11064240" cy="274320"/>
          </a:xfrm>
          <a:prstGeom prst="rect">
            <a:avLst/>
          </a:prstGeom>
          <a:noFill/>
        </p:spPr>
        <p:txBody>
          <a:bodyPr wrap="none">
            <a:spAutoFit/>
          </a:bodyPr>
          <a:lstStyle/>
          <a:p>
            <a:pPr algn="r">
              <a:defRPr sz="1000">
                <a:solidFill>
                  <a:srgbClr val="5F636E"/>
                </a:solidFill>
              </a:defRPr>
            </a:pPr>
            <a:r>
              <a:t>GCG Phases 4–7 Summary  |  Jul 7–12, 2026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65760"/>
          </a:xfrm>
          <a:prstGeom prst="rect">
            <a:avLst/>
          </a:prstGeom>
          <a:noFill/>
        </p:spPr>
        <p:txBody>
          <a:bodyPr wrap="none">
            <a:spAutoFit/>
          </a:bodyPr>
          <a:lstStyle/>
          <a:p>
            <a:pPr>
              <a:defRPr sz="1400" b="1">
                <a:solidFill>
                  <a:srgbClr val="2E6BE0"/>
                </a:solidFill>
              </a:defRPr>
            </a:pPr>
            <a:r>
              <a:t>✅ COMPLETE</a:t>
            </a:r>
          </a:p>
        </p:txBody>
      </p:sp>
      <p:sp>
        <p:nvSpPr>
          <p:cNvPr id="3" name="TextBox 2"/>
          <p:cNvSpPr txBox="1"/>
          <p:nvPr/>
        </p:nvSpPr>
        <p:spPr>
          <a:xfrm>
            <a:off x="548640" y="685800"/>
            <a:ext cx="11064240" cy="822960"/>
          </a:xfrm>
          <a:prstGeom prst="rect">
            <a:avLst/>
          </a:prstGeom>
          <a:noFill/>
        </p:spPr>
        <p:txBody>
          <a:bodyPr wrap="square">
            <a:spAutoFit/>
          </a:bodyPr>
          <a:lstStyle/>
          <a:p>
            <a:pPr>
              <a:defRPr sz="3000" b="1">
                <a:solidFill>
                  <a:srgbClr val="1B1F2A"/>
                </a:solidFill>
              </a:defRPr>
            </a:pPr>
            <a:r>
              <a:t>Phase 7C: Is Gemma4 Truly Robust?</a:t>
            </a:r>
          </a:p>
        </p:txBody>
      </p:sp>
      <p:sp>
        <p:nvSpPr>
          <p:cNvPr id="4" name="Rectangle 3"/>
          <p:cNvSpPr/>
          <p:nvPr/>
        </p:nvSpPr>
        <p:spPr>
          <a:xfrm>
            <a:off x="548640" y="1417320"/>
            <a:ext cx="11064240" cy="25400"/>
          </a:xfrm>
          <a:prstGeom prst="rect">
            <a:avLst/>
          </a:prstGeom>
          <a:solidFill>
            <a:srgbClr val="2E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64240" cy="4572000"/>
          </a:xfrm>
          <a:prstGeom prst="rect">
            <a:avLst/>
          </a:prstGeom>
          <a:noFill/>
        </p:spPr>
        <p:txBody>
          <a:bodyPr wrap="square">
            <a:spAutoFit/>
          </a:bodyPr>
          <a:lstStyle/>
          <a:p>
            <a:pPr>
              <a:spcAft>
                <a:spcPts val="1000"/>
              </a:spcAft>
              <a:defRPr sz="1600" b="1">
                <a:solidFill>
                  <a:srgbClr val="1B1F2A"/>
                </a:solidFill>
              </a:defRPr>
            </a:pPr>
            <a:r>
              <a:t>•  Background: Gemma4 showed 0% ASR under every condition tested in Phases 4 and 6. Two competing explanations: (a) Gemma4 is intrinsically safer, or (b) the standard target ("Sure, here is...") is misaligned the same way it was for Qwen3, because Gemma4 also emits a special reasoning-channel token first when thinking is enabled</a:t>
            </a:r>
          </a:p>
          <a:p>
            <a:pPr>
              <a:spcAft>
                <a:spcPts val="1000"/>
              </a:spcAft>
              <a:defRPr sz="1600" b="1">
                <a:solidFill>
                  <a:srgbClr val="1B1F2A"/>
                </a:solidFill>
              </a:defRPr>
            </a:pPr>
            <a:r>
              <a:t>•  7C's test: disable CoT entirely (enable_thinking=False), so "Sure, here is..." IS genuinely the model's true first token — this removes the format-misalignment explanation entirely</a:t>
            </a:r>
          </a:p>
          <a:p>
            <a:pPr>
              <a:spcAft>
                <a:spcPts val="1000"/>
              </a:spcAft>
              <a:defRPr sz="1600" b="1">
                <a:solidFill>
                  <a:srgbClr val="1B1F2A"/>
                </a:solidFill>
              </a:defRPr>
            </a:pPr>
            <a:r>
              <a:t>•  Optimization result: converged BETTER than 5A's Qwen3 run — final loss 12.47 (0.62 per-behavior average) vs. 5A's 1.03 per-behavior average</a:t>
            </a:r>
          </a:p>
          <a:p>
            <a:pPr>
              <a:spcAft>
                <a:spcPts val="1000"/>
              </a:spcAft>
              <a:defRPr sz="1600" b="1">
                <a:solidFill>
                  <a:srgbClr val="1B1F2A"/>
                </a:solidFill>
              </a:defRPr>
            </a:pPr>
            <a:r>
              <a:t>•  Despite better convergence than the project's best-ever Qwen3 attack, ASR = 0% across all 25 behaviors and all 4 conditions (including the no-suffix task_only baseline, also 0%)</a:t>
            </a:r>
          </a:p>
          <a:p>
            <a:pPr>
              <a:spcAft>
                <a:spcPts val="1000"/>
              </a:spcAft>
              <a:defRPr sz="1600" b="1">
                <a:solidFill>
                  <a:srgbClr val="1B1F2A"/>
                </a:solidFill>
              </a:defRPr>
            </a:pPr>
            <a:r>
              <a:t>•  Detection: AUC = 1.000 at position 0 (all 32 generated-token positions checked score ≥ 0.825) — the suffix IS detectable even though it never succeeds</a:t>
            </a:r>
          </a:p>
          <a:p>
            <a:pPr>
              <a:spcAft>
                <a:spcPts val="1000"/>
              </a:spcAft>
              <a:defRPr sz="1600" b="1">
                <a:solidFill>
                  <a:srgbClr val="1B1F2A"/>
                </a:solidFill>
              </a:defRPr>
            </a:pPr>
            <a:r>
              <a:t>•  → Conclusion: the channel-token format-mismatch hypothesis is ruled out — Gemma4 resisted all 5 tested GCG configurations. It has a measurably stronger internal 'refusal direction' signal (0.498 vs. Qwen3's 0.315), an observed representational difference; whether that difference (or a more distributed safety mechanism) causally explains the robustness is a hypothesis for future work, not established by this test</a:t>
            </a:r>
          </a:p>
        </p:txBody>
      </p:sp>
      <p:sp>
        <p:nvSpPr>
          <p:cNvPr id="6" name="TextBox 5"/>
          <p:cNvSpPr txBox="1"/>
          <p:nvPr/>
        </p:nvSpPr>
        <p:spPr>
          <a:xfrm>
            <a:off x="548640" y="6537960"/>
            <a:ext cx="11064240" cy="274320"/>
          </a:xfrm>
          <a:prstGeom prst="rect">
            <a:avLst/>
          </a:prstGeom>
          <a:noFill/>
        </p:spPr>
        <p:txBody>
          <a:bodyPr wrap="none">
            <a:spAutoFit/>
          </a:bodyPr>
          <a:lstStyle/>
          <a:p>
            <a:pPr algn="r">
              <a:defRPr sz="1000">
                <a:solidFill>
                  <a:srgbClr val="5F636E"/>
                </a:solidFill>
              </a:defRPr>
            </a:pPr>
            <a:r>
              <a:t>GCG Phases 4–7 Summary  |  Jul 7–12, 2026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65760"/>
          </a:xfrm>
          <a:prstGeom prst="rect">
            <a:avLst/>
          </a:prstGeom>
          <a:noFill/>
        </p:spPr>
        <p:txBody>
          <a:bodyPr wrap="none">
            <a:spAutoFit/>
          </a:bodyPr>
          <a:lstStyle/>
          <a:p>
            <a:pPr>
              <a:defRPr sz="1400" b="1">
                <a:solidFill>
                  <a:srgbClr val="2E6BE0"/>
                </a:solidFill>
              </a:defRPr>
            </a:pPr>
            <a:r>
              <a:t>REFERENCE</a:t>
            </a:r>
          </a:p>
        </p:txBody>
      </p:sp>
      <p:sp>
        <p:nvSpPr>
          <p:cNvPr id="3" name="TextBox 2"/>
          <p:cNvSpPr txBox="1"/>
          <p:nvPr/>
        </p:nvSpPr>
        <p:spPr>
          <a:xfrm>
            <a:off x="548640" y="685800"/>
            <a:ext cx="11064240" cy="822960"/>
          </a:xfrm>
          <a:prstGeom prst="rect">
            <a:avLst/>
          </a:prstGeom>
          <a:noFill/>
        </p:spPr>
        <p:txBody>
          <a:bodyPr wrap="square">
            <a:spAutoFit/>
          </a:bodyPr>
          <a:lstStyle/>
          <a:p>
            <a:pPr>
              <a:defRPr sz="3000" b="1">
                <a:solidFill>
                  <a:srgbClr val="1B1F2A"/>
                </a:solidFill>
              </a:defRPr>
            </a:pPr>
            <a:r>
              <a:t>Master Results Table — All Experiments, Phases 4–7 (*6A/Qwen3: vs. task_only, since it uses the standard target, not CoT-prefix)</a:t>
            </a:r>
          </a:p>
        </p:txBody>
      </p:sp>
      <p:sp>
        <p:nvSpPr>
          <p:cNvPr id="4" name="Rectangle 3"/>
          <p:cNvSpPr/>
          <p:nvPr/>
        </p:nvSpPr>
        <p:spPr>
          <a:xfrm>
            <a:off x="548640" y="1417320"/>
            <a:ext cx="11064240" cy="25400"/>
          </a:xfrm>
          <a:prstGeom prst="rect">
            <a:avLst/>
          </a:prstGeom>
          <a:solidFill>
            <a:srgbClr val="2E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48640" y="1417320"/>
          <a:ext cx="11064240" cy="4846320"/>
        </p:xfrm>
        <a:graphic>
          <a:graphicData uri="http://schemas.openxmlformats.org/drawingml/2006/table">
            <a:tbl>
              <a:tblPr firstRow="1" bandRow="1">
                <a:tableStyleId>{5C22544A-7EE6-4342-B048-85BDC9FD1C3A}</a:tableStyleId>
              </a:tblPr>
              <a:tblGrid>
                <a:gridCol w="1280160"/>
                <a:gridCol w="1463040"/>
                <a:gridCol w="2194560"/>
                <a:gridCol w="1737360"/>
                <a:gridCol w="1645920"/>
                <a:gridCol w="1097280"/>
                <a:gridCol w="1645920"/>
              </a:tblGrid>
              <a:tr h="285077">
                <a:tc>
                  <a:txBody>
                    <a:bodyPr/>
                    <a:lstStyle/>
                    <a:p>
                      <a:pPr>
                        <a:defRPr b="1" sz="1000">
                          <a:solidFill>
                            <a:srgbClr val="FFFFFF"/>
                          </a:solidFill>
                        </a:defRPr>
                      </a:pPr>
                      <a:r>
                        <a:t>Exp</a:t>
                      </a:r>
                    </a:p>
                  </a:txBody>
                  <a:tcPr anchor="ctr">
                    <a:solidFill>
                      <a:srgbClr val="1B1F2A"/>
                    </a:solidFill>
                  </a:tcPr>
                </a:tc>
                <a:tc>
                  <a:txBody>
                    <a:bodyPr/>
                    <a:lstStyle/>
                    <a:p>
                      <a:pPr>
                        <a:defRPr b="1" sz="1000">
                          <a:solidFill>
                            <a:srgbClr val="FFFFFF"/>
                          </a:solidFill>
                        </a:defRPr>
                      </a:pPr>
                      <a:r>
                        <a:t>Model</a:t>
                      </a:r>
                    </a:p>
                  </a:txBody>
                  <a:tcPr anchor="ctr">
                    <a:solidFill>
                      <a:srgbClr val="1B1F2A"/>
                    </a:solidFill>
                  </a:tcPr>
                </a:tc>
                <a:tc>
                  <a:txBody>
                    <a:bodyPr/>
                    <a:lstStyle/>
                    <a:p>
                      <a:pPr>
                        <a:defRPr b="1" sz="1000">
                          <a:solidFill>
                            <a:srgbClr val="FFFFFF"/>
                          </a:solidFill>
                        </a:defRPr>
                      </a:pPr>
                      <a:r>
                        <a:t>Method</a:t>
                      </a:r>
                    </a:p>
                  </a:txBody>
                  <a:tcPr anchor="ctr">
                    <a:solidFill>
                      <a:srgbClr val="1B1F2A"/>
                    </a:solidFill>
                  </a:tcPr>
                </a:tc>
                <a:tc>
                  <a:txBody>
                    <a:bodyPr/>
                    <a:lstStyle/>
                    <a:p>
                      <a:pPr>
                        <a:defRPr b="1" sz="1000">
                          <a:solidFill>
                            <a:srgbClr val="FFFFFF"/>
                          </a:solidFill>
                        </a:defRPr>
                      </a:pPr>
                      <a:r>
                        <a:t>ASR (train)</a:t>
                      </a:r>
                    </a:p>
                  </a:txBody>
                  <a:tcPr anchor="ctr">
                    <a:solidFill>
                      <a:srgbClr val="1B1F2A"/>
                    </a:solidFill>
                  </a:tcPr>
                </a:tc>
                <a:tc>
                  <a:txBody>
                    <a:bodyPr/>
                    <a:lstStyle/>
                    <a:p>
                      <a:pPr>
                        <a:defRPr b="1" sz="1000">
                          <a:solidFill>
                            <a:srgbClr val="FFFFFF"/>
                          </a:solidFill>
                        </a:defRPr>
                      </a:pPr>
                      <a:r>
                        <a:t>ASR (unseen)</a:t>
                      </a:r>
                    </a:p>
                  </a:txBody>
                  <a:tcPr anchor="ctr">
                    <a:solidFill>
                      <a:srgbClr val="1B1F2A"/>
                    </a:solidFill>
                  </a:tcPr>
                </a:tc>
                <a:tc>
                  <a:txBody>
                    <a:bodyPr/>
                    <a:lstStyle/>
                    <a:p>
                      <a:pPr>
                        <a:defRPr b="1" sz="1000">
                          <a:solidFill>
                            <a:srgbClr val="FFFFFF"/>
                          </a:solidFill>
                        </a:defRPr>
                      </a:pPr>
                      <a:r>
                        <a:t>AUC@0</a:t>
                      </a:r>
                    </a:p>
                  </a:txBody>
                  <a:tcPr anchor="ctr">
                    <a:solidFill>
                      <a:srgbClr val="1B1F2A"/>
                    </a:solidFill>
                  </a:tcPr>
                </a:tc>
                <a:tc>
                  <a:txBody>
                    <a:bodyPr/>
                    <a:lstStyle/>
                    <a:p>
                      <a:pPr>
                        <a:defRPr b="1" sz="1000">
                          <a:solidFill>
                            <a:srgbClr val="FFFFFF"/>
                          </a:solidFill>
                        </a:defRPr>
                      </a:pPr>
                      <a:r>
                        <a:t>vs. Baseline</a:t>
                      </a:r>
                    </a:p>
                  </a:txBody>
                  <a:tcPr anchor="ctr">
                    <a:solidFill>
                      <a:srgbClr val="1B1F2A"/>
                    </a:solidFill>
                  </a:tcPr>
                </a:tc>
              </a:tr>
              <a:tr h="285077">
                <a:tc>
                  <a:txBody>
                    <a:bodyPr/>
                    <a:lstStyle/>
                    <a:p>
                      <a:pPr>
                        <a:defRPr sz="900">
                          <a:solidFill>
                            <a:srgbClr val="1B1F2A"/>
                          </a:solidFill>
                        </a:defRPr>
                      </a:pPr>
                      <a:r>
                        <a:t>Standard</a:t>
                      </a:r>
                    </a:p>
                  </a:txBody>
                  <a:tcPr anchor="ctr">
                    <a:solidFill>
                      <a:srgbClr val="F4F6F9"/>
                    </a:solidFill>
                  </a:tcPr>
                </a:tc>
                <a:tc>
                  <a:txBody>
                    <a:bodyPr/>
                    <a:lstStyle/>
                    <a:p>
                      <a:pPr>
                        <a:defRPr sz="900">
                          <a:solidFill>
                            <a:srgbClr val="1B1F2A"/>
                          </a:solidFill>
                        </a:defRPr>
                      </a:pPr>
                      <a:r>
                        <a:t>Qwen3</a:t>
                      </a:r>
                    </a:p>
                  </a:txBody>
                  <a:tcPr anchor="ctr">
                    <a:solidFill>
                      <a:srgbClr val="F4F6F9"/>
                    </a:solidFill>
                  </a:tcPr>
                </a:tc>
                <a:tc>
                  <a:txBody>
                    <a:bodyPr/>
                    <a:lstStyle/>
                    <a:p>
                      <a:pPr>
                        <a:defRPr sz="900">
                          <a:solidFill>
                            <a:srgbClr val="1B1F2A"/>
                          </a:solidFill>
                        </a:defRPr>
                      </a:pPr>
                      <a:r>
                        <a:t>GCG weighted</a:t>
                      </a:r>
                    </a:p>
                  </a:txBody>
                  <a:tcPr anchor="ctr">
                    <a:solidFill>
                      <a:srgbClr val="F4F6F9"/>
                    </a:solidFill>
                  </a:tcPr>
                </a:tc>
                <a:tc>
                  <a:txBody>
                    <a:bodyPr/>
                    <a:lstStyle/>
                    <a:p>
                      <a:pPr>
                        <a:defRPr sz="900">
                          <a:solidFill>
                            <a:srgbClr val="1B1F2A"/>
                          </a:solidFill>
                        </a:defRPr>
                      </a:pPr>
                      <a:r>
                        <a:t>4.0%</a:t>
                      </a:r>
                    </a:p>
                  </a:txBody>
                  <a:tcPr anchor="ctr">
                    <a:solidFill>
                      <a:srgbClr val="F4F6F9"/>
                    </a:solidFill>
                  </a:tcPr>
                </a:tc>
                <a:tc>
                  <a:txBody>
                    <a:bodyPr/>
                    <a:lstStyle/>
                    <a:p>
                      <a:pPr>
                        <a:defRPr sz="900">
                          <a:solidFill>
                            <a:srgbClr val="1B1F2A"/>
                          </a:solidFill>
                        </a:defRPr>
                      </a:pPr>
                      <a:r>
                        <a:t>6.7%</a:t>
                      </a:r>
                    </a:p>
                  </a:txBody>
                  <a:tcPr anchor="ctr">
                    <a:solidFill>
                      <a:srgbClr val="F4F6F9"/>
                    </a:solidFill>
                  </a:tcPr>
                </a:tc>
                <a:tc>
                  <a:txBody>
                    <a:bodyPr/>
                    <a:lstStyle/>
                    <a:p>
                      <a:pPr>
                        <a:defRPr sz="900">
                          <a:solidFill>
                            <a:srgbClr val="1B1F2A"/>
                          </a:solidFill>
                        </a:defRPr>
                      </a:pPr>
                      <a:r>
                        <a:t>1.000</a:t>
                      </a:r>
                    </a:p>
                  </a:txBody>
                  <a:tcPr anchor="ctr">
                    <a:solidFill>
                      <a:srgbClr val="F4F6F9"/>
                    </a:solidFill>
                  </a:tcPr>
                </a:tc>
                <a:tc>
                  <a:txBody>
                    <a:bodyPr/>
                    <a:lstStyle/>
                    <a:p>
                      <a:pPr>
                        <a:defRPr sz="900">
                          <a:solidFill>
                            <a:srgbClr val="1B1F2A"/>
                          </a:solidFill>
                        </a:defRPr>
                      </a:pPr>
                      <a:r>
                        <a:t>≈ baseline</a:t>
                      </a:r>
                    </a:p>
                  </a:txBody>
                  <a:tcPr anchor="ctr">
                    <a:solidFill>
                      <a:srgbClr val="F4F6F9"/>
                    </a:solidFill>
                  </a:tcPr>
                </a:tc>
              </a:tr>
              <a:tr h="285077">
                <a:tc>
                  <a:txBody>
                    <a:bodyPr/>
                    <a:lstStyle/>
                    <a:p>
                      <a:pPr>
                        <a:defRPr sz="900">
                          <a:solidFill>
                            <a:srgbClr val="1B1F2A"/>
                          </a:solidFill>
                        </a:defRPr>
                      </a:pPr>
                      <a:r>
                        <a:t>4B</a:t>
                      </a:r>
                    </a:p>
                  </a:txBody>
                  <a:tcPr anchor="ctr">
                    <a:solidFill>
                      <a:srgbClr val="FFFFFF"/>
                    </a:solidFill>
                  </a:tcPr>
                </a:tc>
                <a:tc>
                  <a:txBody>
                    <a:bodyPr/>
                    <a:lstStyle/>
                    <a:p>
                      <a:pPr>
                        <a:defRPr sz="900">
                          <a:solidFill>
                            <a:srgbClr val="1B1F2A"/>
                          </a:solidFill>
                        </a:defRPr>
                      </a:pPr>
                      <a:r>
                        <a:t>Qwen3</a:t>
                      </a:r>
                    </a:p>
                  </a:txBody>
                  <a:tcPr anchor="ctr">
                    <a:solidFill>
                      <a:srgbClr val="FFFFFF"/>
                    </a:solidFill>
                  </a:tcPr>
                </a:tc>
                <a:tc>
                  <a:txBody>
                    <a:bodyPr/>
                    <a:lstStyle/>
                    <a:p>
                      <a:pPr>
                        <a:defRPr sz="900">
                          <a:solidFill>
                            <a:srgbClr val="1B1F2A"/>
                          </a:solidFill>
                        </a:defRPr>
                      </a:pPr>
                      <a:r>
                        <a:t>λ_repr=0</a:t>
                      </a:r>
                    </a:p>
                  </a:txBody>
                  <a:tcPr anchor="ctr">
                    <a:solidFill>
                      <a:srgbClr val="FFFFFF"/>
                    </a:solidFill>
                  </a:tcPr>
                </a:tc>
                <a:tc>
                  <a:txBody>
                    <a:bodyPr/>
                    <a:lstStyle/>
                    <a:p>
                      <a:pPr>
                        <a:defRPr sz="900">
                          <a:solidFill>
                            <a:srgbClr val="1B1F2A"/>
                          </a:solidFill>
                        </a:defRPr>
                      </a:pPr>
                      <a:r>
                        <a:t>1.3%</a:t>
                      </a:r>
                    </a:p>
                  </a:txBody>
                  <a:tcPr anchor="ctr">
                    <a:solidFill>
                      <a:srgbClr val="FFFFFF"/>
                    </a:solidFill>
                  </a:tcPr>
                </a:tc>
                <a:tc>
                  <a:txBody>
                    <a:bodyPr/>
                    <a:lstStyle/>
                    <a:p>
                      <a:pPr>
                        <a:defRPr sz="900">
                          <a:solidFill>
                            <a:srgbClr val="1B1F2A"/>
                          </a:solidFill>
                        </a:defRPr>
                      </a:pPr>
                      <a:r>
                        <a:t>1.3%</a:t>
                      </a:r>
                    </a:p>
                  </a:txBody>
                  <a:tcPr anchor="ctr">
                    <a:solidFill>
                      <a:srgbClr val="FFFFFF"/>
                    </a:solidFill>
                  </a:tcPr>
                </a:tc>
                <a:tc>
                  <a:txBody>
                    <a:bodyPr/>
                    <a:lstStyle/>
                    <a:p>
                      <a:pPr>
                        <a:defRPr sz="900">
                          <a:solidFill>
                            <a:srgbClr val="1B1F2A"/>
                          </a:solidFill>
                        </a:defRPr>
                      </a:pPr>
                      <a:r>
                        <a:t>0.500</a:t>
                      </a:r>
                    </a:p>
                  </a:txBody>
                  <a:tcPr anchor="ctr">
                    <a:solidFill>
                      <a:srgbClr val="FFFFFF"/>
                    </a:solidFill>
                  </a:tcPr>
                </a:tc>
                <a:tc>
                  <a:txBody>
                    <a:bodyPr/>
                    <a:lstStyle/>
                    <a:p>
                      <a:pPr>
                        <a:defRPr sz="900">
                          <a:solidFill>
                            <a:srgbClr val="1B1F2A"/>
                          </a:solidFill>
                        </a:defRPr>
                      </a:pPr>
                      <a:r>
                        <a:t>≈ baseline</a:t>
                      </a:r>
                    </a:p>
                  </a:txBody>
                  <a:tcPr anchor="ctr">
                    <a:solidFill>
                      <a:srgbClr val="FFFFFF"/>
                    </a:solidFill>
                  </a:tcPr>
                </a:tc>
              </a:tr>
              <a:tr h="285077">
                <a:tc>
                  <a:txBody>
                    <a:bodyPr/>
                    <a:lstStyle/>
                    <a:p>
                      <a:pPr>
                        <a:defRPr sz="900">
                          <a:solidFill>
                            <a:srgbClr val="1B1F2A"/>
                          </a:solidFill>
                        </a:defRPr>
                      </a:pPr>
                      <a:r>
                        <a:t>4C</a:t>
                      </a:r>
                    </a:p>
                  </a:txBody>
                  <a:tcPr anchor="ctr">
                    <a:solidFill>
                      <a:srgbClr val="F4F6F9"/>
                    </a:solidFill>
                  </a:tcPr>
                </a:tc>
                <a:tc>
                  <a:txBody>
                    <a:bodyPr/>
                    <a:lstStyle/>
                    <a:p>
                      <a:pPr>
                        <a:defRPr sz="900">
                          <a:solidFill>
                            <a:srgbClr val="1B1F2A"/>
                          </a:solidFill>
                        </a:defRPr>
                      </a:pPr>
                      <a:r>
                        <a:t>Gemma4</a:t>
                      </a:r>
                    </a:p>
                  </a:txBody>
                  <a:tcPr anchor="ctr">
                    <a:solidFill>
                      <a:srgbClr val="F4F6F9"/>
                    </a:solidFill>
                  </a:tcPr>
                </a:tc>
                <a:tc>
                  <a:txBody>
                    <a:bodyPr/>
                    <a:lstStyle/>
                    <a:p>
                      <a:pPr>
                        <a:defRPr sz="900">
                          <a:solidFill>
                            <a:srgbClr val="1B1F2A"/>
                          </a:solidFill>
                        </a:defRPr>
                      </a:pPr>
                      <a:r>
                        <a:t>GCG weighted</a:t>
                      </a:r>
                    </a:p>
                  </a:txBody>
                  <a:tcPr anchor="ctr">
                    <a:solidFill>
                      <a:srgbClr val="F4F6F9"/>
                    </a:solidFill>
                  </a:tcPr>
                </a:tc>
                <a:tc>
                  <a:txBody>
                    <a:bodyPr/>
                    <a:lstStyle/>
                    <a:p>
                      <a:pPr>
                        <a:defRPr sz="900">
                          <a:solidFill>
                            <a:srgbClr val="1B1F2A"/>
                          </a:solidFill>
                        </a:defRPr>
                      </a:pPr>
                      <a:r>
                        <a:t>0%</a:t>
                      </a:r>
                    </a:p>
                  </a:txBody>
                  <a:tcPr anchor="ctr">
                    <a:solidFill>
                      <a:srgbClr val="F4F6F9"/>
                    </a:solidFill>
                  </a:tcPr>
                </a:tc>
                <a:tc>
                  <a:txBody>
                    <a:bodyPr/>
                    <a:lstStyle/>
                    <a:p>
                      <a:pPr>
                        <a:defRPr sz="900">
                          <a:solidFill>
                            <a:srgbClr val="1B1F2A"/>
                          </a:solidFill>
                        </a:defRPr>
                      </a:pPr>
                      <a:r>
                        <a:t>0%</a:t>
                      </a:r>
                    </a:p>
                  </a:txBody>
                  <a:tcPr anchor="ctr">
                    <a:solidFill>
                      <a:srgbClr val="F4F6F9"/>
                    </a:solidFill>
                  </a:tcPr>
                </a:tc>
                <a:tc>
                  <a:txBody>
                    <a:bodyPr/>
                    <a:lstStyle/>
                    <a:p>
                      <a:pPr>
                        <a:defRPr sz="900">
                          <a:solidFill>
                            <a:srgbClr val="1B1F2A"/>
                          </a:solidFill>
                        </a:defRPr>
                      </a:pPr>
                      <a:r>
                        <a:t>0.698</a:t>
                      </a:r>
                    </a:p>
                  </a:txBody>
                  <a:tcPr anchor="ctr">
                    <a:solidFill>
                      <a:srgbClr val="F4F6F9"/>
                    </a:solidFill>
                  </a:tcPr>
                </a:tc>
                <a:tc>
                  <a:txBody>
                    <a:bodyPr/>
                    <a:lstStyle/>
                    <a:p>
                      <a:pPr>
                        <a:defRPr sz="900">
                          <a:solidFill>
                            <a:srgbClr val="1B1F2A"/>
                          </a:solidFill>
                        </a:defRPr>
                      </a:pPr>
                      <a:r>
                        <a:t>= 0%</a:t>
                      </a:r>
                    </a:p>
                  </a:txBody>
                  <a:tcPr anchor="ctr">
                    <a:solidFill>
                      <a:srgbClr val="F4F6F9"/>
                    </a:solidFill>
                  </a:tcPr>
                </a:tc>
              </a:tr>
              <a:tr h="285077">
                <a:tc>
                  <a:txBody>
                    <a:bodyPr/>
                    <a:lstStyle/>
                    <a:p>
                      <a:pPr>
                        <a:defRPr sz="900">
                          <a:solidFill>
                            <a:srgbClr val="1B1F2A"/>
                          </a:solidFill>
                        </a:defRPr>
                      </a:pPr>
                      <a:r>
                        <a:t>4E</a:t>
                      </a:r>
                    </a:p>
                  </a:txBody>
                  <a:tcPr anchor="ctr">
                    <a:solidFill>
                      <a:srgbClr val="FFFFFF"/>
                    </a:solidFill>
                  </a:tcPr>
                </a:tc>
                <a:tc>
                  <a:txBody>
                    <a:bodyPr/>
                    <a:lstStyle/>
                    <a:p>
                      <a:pPr>
                        <a:defRPr sz="900">
                          <a:solidFill>
                            <a:srgbClr val="1B1F2A"/>
                          </a:solidFill>
                        </a:defRPr>
                      </a:pPr>
                      <a:r>
                        <a:t>Qwen3→Gemma4</a:t>
                      </a:r>
                    </a:p>
                  </a:txBody>
                  <a:tcPr anchor="ctr">
                    <a:solidFill>
                      <a:srgbClr val="FFFFFF"/>
                    </a:solidFill>
                  </a:tcPr>
                </a:tc>
                <a:tc>
                  <a:txBody>
                    <a:bodyPr/>
                    <a:lstStyle/>
                    <a:p>
                      <a:pPr>
                        <a:defRPr sz="900">
                          <a:solidFill>
                            <a:srgbClr val="1B1F2A"/>
                          </a:solidFill>
                        </a:defRPr>
                      </a:pPr>
                      <a:r>
                        <a:t>Text transfer</a:t>
                      </a:r>
                    </a:p>
                  </a:txBody>
                  <a:tcPr anchor="ctr">
                    <a:solidFill>
                      <a:srgbClr val="FFFFFF"/>
                    </a:solidFill>
                  </a:tcPr>
                </a:tc>
                <a:tc>
                  <a:txBody>
                    <a:bodyPr/>
                    <a:lstStyle/>
                    <a:p>
                      <a:pPr>
                        <a:defRPr sz="900">
                          <a:solidFill>
                            <a:srgbClr val="1B1F2A"/>
                          </a:solidFill>
                        </a:defRPr>
                      </a:pPr>
                      <a:r>
                        <a:t>0%</a:t>
                      </a:r>
                    </a:p>
                  </a:txBody>
                  <a:tcPr anchor="ctr">
                    <a:solidFill>
                      <a:srgbClr val="FFFFFF"/>
                    </a:solidFill>
                  </a:tcPr>
                </a:tc>
                <a:tc>
                  <a:txBody>
                    <a:bodyPr/>
                    <a:lstStyle/>
                    <a:p>
                      <a:pPr>
                        <a:defRPr sz="900">
                          <a:solidFill>
                            <a:srgbClr val="1B1F2A"/>
                          </a:solidFill>
                        </a:defRPr>
                      </a:pPr>
                      <a:r>
                        <a:t>—</a:t>
                      </a:r>
                    </a:p>
                  </a:txBody>
                  <a:tcPr anchor="ctr">
                    <a:solidFill>
                      <a:srgbClr val="FFFFFF"/>
                    </a:solidFill>
                  </a:tcPr>
                </a:tc>
                <a:tc>
                  <a:txBody>
                    <a:bodyPr/>
                    <a:lstStyle/>
                    <a:p>
                      <a:pPr>
                        <a:defRPr sz="900">
                          <a:solidFill>
                            <a:srgbClr val="1B1F2A"/>
                          </a:solidFill>
                        </a:defRPr>
                      </a:pPr>
                      <a:r>
                        <a:t>—</a:t>
                      </a:r>
                    </a:p>
                  </a:txBody>
                  <a:tcPr anchor="ctr">
                    <a:solidFill>
                      <a:srgbClr val="FFFFFF"/>
                    </a:solidFill>
                  </a:tcPr>
                </a:tc>
                <a:tc>
                  <a:txBody>
                    <a:bodyPr/>
                    <a:lstStyle/>
                    <a:p>
                      <a:pPr>
                        <a:defRPr sz="900">
                          <a:solidFill>
                            <a:srgbClr val="1B1F2A"/>
                          </a:solidFill>
                        </a:defRPr>
                      </a:pPr>
                      <a:r>
                        <a:t>= 0%</a:t>
                      </a:r>
                    </a:p>
                  </a:txBody>
                  <a:tcPr anchor="ctr">
                    <a:solidFill>
                      <a:srgbClr val="FFFFFF"/>
                    </a:solidFill>
                  </a:tcPr>
                </a:tc>
              </a:tr>
              <a:tr h="285077">
                <a:tc>
                  <a:txBody>
                    <a:bodyPr/>
                    <a:lstStyle/>
                    <a:p>
                      <a:pPr>
                        <a:defRPr sz="900">
                          <a:solidFill>
                            <a:srgbClr val="1B1F2A"/>
                          </a:solidFill>
                        </a:defRPr>
                      </a:pPr>
                      <a:r>
                        <a:t>4F (520)</a:t>
                      </a:r>
                    </a:p>
                  </a:txBody>
                  <a:tcPr anchor="ctr">
                    <a:solidFill>
                      <a:srgbClr val="F4F6F9"/>
                    </a:solidFill>
                  </a:tcPr>
                </a:tc>
                <a:tc>
                  <a:txBody>
                    <a:bodyPr/>
                    <a:lstStyle/>
                    <a:p>
                      <a:pPr>
                        <a:defRPr sz="900">
                          <a:solidFill>
                            <a:srgbClr val="1B1F2A"/>
                          </a:solidFill>
                        </a:defRPr>
                      </a:pPr>
                      <a:r>
                        <a:t>Qwen3</a:t>
                      </a:r>
                    </a:p>
                  </a:txBody>
                  <a:tcPr anchor="ctr">
                    <a:solidFill>
                      <a:srgbClr val="F4F6F9"/>
                    </a:solidFill>
                  </a:tcPr>
                </a:tc>
                <a:tc>
                  <a:txBody>
                    <a:bodyPr/>
                    <a:lstStyle/>
                    <a:p>
                      <a:pPr>
                        <a:defRPr sz="900">
                          <a:solidFill>
                            <a:srgbClr val="1B1F2A"/>
                          </a:solidFill>
                        </a:defRPr>
                      </a:pPr>
                      <a:r>
                        <a:t>GCG weighted</a:t>
                      </a:r>
                    </a:p>
                  </a:txBody>
                  <a:tcPr anchor="ctr">
                    <a:solidFill>
                      <a:srgbClr val="F4F6F9"/>
                    </a:solidFill>
                  </a:tcPr>
                </a:tc>
                <a:tc>
                  <a:txBody>
                    <a:bodyPr/>
                    <a:lstStyle/>
                    <a:p>
                      <a:pPr>
                        <a:defRPr sz="900">
                          <a:solidFill>
                            <a:srgbClr val="1B1F2A"/>
                          </a:solidFill>
                        </a:defRPr>
                      </a:pPr>
                      <a:r>
                        <a:t>1.9%</a:t>
                      </a:r>
                    </a:p>
                  </a:txBody>
                  <a:tcPr anchor="ctr">
                    <a:solidFill>
                      <a:srgbClr val="F4F6F9"/>
                    </a:solidFill>
                  </a:tcPr>
                </a:tc>
                <a:tc>
                  <a:txBody>
                    <a:bodyPr/>
                    <a:lstStyle/>
                    <a:p>
                      <a:pPr>
                        <a:defRPr sz="900">
                          <a:solidFill>
                            <a:srgbClr val="1B1F2A"/>
                          </a:solidFill>
                        </a:defRPr>
                      </a:pPr>
                      <a:r>
                        <a:t>—</a:t>
                      </a:r>
                    </a:p>
                  </a:txBody>
                  <a:tcPr anchor="ctr">
                    <a:solidFill>
                      <a:srgbClr val="F4F6F9"/>
                    </a:solidFill>
                  </a:tcPr>
                </a:tc>
                <a:tc>
                  <a:txBody>
                    <a:bodyPr/>
                    <a:lstStyle/>
                    <a:p>
                      <a:pPr>
                        <a:defRPr sz="900">
                          <a:solidFill>
                            <a:srgbClr val="1B1F2A"/>
                          </a:solidFill>
                        </a:defRPr>
                      </a:pPr>
                      <a:r>
                        <a:t>—</a:t>
                      </a:r>
                    </a:p>
                  </a:txBody>
                  <a:tcPr anchor="ctr">
                    <a:solidFill>
                      <a:srgbClr val="F4F6F9"/>
                    </a:solidFill>
                  </a:tcPr>
                </a:tc>
                <a:tc>
                  <a:txBody>
                    <a:bodyPr/>
                    <a:lstStyle/>
                    <a:p>
                      <a:pPr>
                        <a:defRPr sz="900">
                          <a:solidFill>
                            <a:srgbClr val="1B1F2A"/>
                          </a:solidFill>
                        </a:defRPr>
                      </a:pPr>
                      <a:r>
                        <a:t>−0.5pp net-neg</a:t>
                      </a:r>
                    </a:p>
                  </a:txBody>
                  <a:tcPr anchor="ctr">
                    <a:solidFill>
                      <a:srgbClr val="F4F6F9"/>
                    </a:solidFill>
                  </a:tcPr>
                </a:tc>
              </a:tr>
              <a:tr h="285077">
                <a:tc>
                  <a:txBody>
                    <a:bodyPr/>
                    <a:lstStyle/>
                    <a:p>
                      <a:pPr>
                        <a:defRPr sz="900">
                          <a:solidFill>
                            <a:srgbClr val="1B1F2A"/>
                          </a:solidFill>
                        </a:defRPr>
                      </a:pPr>
                      <a:r>
                        <a:t>5A</a:t>
                      </a:r>
                    </a:p>
                  </a:txBody>
                  <a:tcPr anchor="ctr">
                    <a:solidFill>
                      <a:srgbClr val="FFFFFF"/>
                    </a:solidFill>
                  </a:tcPr>
                </a:tc>
                <a:tc>
                  <a:txBody>
                    <a:bodyPr/>
                    <a:lstStyle/>
                    <a:p>
                      <a:pPr>
                        <a:defRPr sz="900">
                          <a:solidFill>
                            <a:srgbClr val="1B1F2A"/>
                          </a:solidFill>
                        </a:defRPr>
                      </a:pPr>
                      <a:r>
                        <a:t>Qwen3</a:t>
                      </a:r>
                    </a:p>
                  </a:txBody>
                  <a:tcPr anchor="ctr">
                    <a:solidFill>
                      <a:srgbClr val="FFFFFF"/>
                    </a:solidFill>
                  </a:tcPr>
                </a:tc>
                <a:tc>
                  <a:txBody>
                    <a:bodyPr/>
                    <a:lstStyle/>
                    <a:p>
                      <a:pPr>
                        <a:defRPr sz="900">
                          <a:solidFill>
                            <a:srgbClr val="1B1F2A"/>
                          </a:solidFill>
                        </a:defRPr>
                      </a:pPr>
                      <a:r>
                        <a:t>CoT-prefix target</a:t>
                      </a:r>
                    </a:p>
                  </a:txBody>
                  <a:tcPr anchor="ctr">
                    <a:solidFill>
                      <a:srgbClr val="FFFFFF"/>
                    </a:solidFill>
                  </a:tcPr>
                </a:tc>
                <a:tc>
                  <a:txBody>
                    <a:bodyPr/>
                    <a:lstStyle/>
                    <a:p>
                      <a:pPr>
                        <a:defRPr sz="900">
                          <a:solidFill>
                            <a:srgbClr val="1B1F2A"/>
                          </a:solidFill>
                        </a:defRPr>
                      </a:pPr>
                      <a:r>
                        <a:t>10.7%</a:t>
                      </a:r>
                    </a:p>
                  </a:txBody>
                  <a:tcPr anchor="ctr">
                    <a:solidFill>
                      <a:srgbClr val="FFFFFF"/>
                    </a:solidFill>
                  </a:tcPr>
                </a:tc>
                <a:tc>
                  <a:txBody>
                    <a:bodyPr/>
                    <a:lstStyle/>
                    <a:p>
                      <a:pPr>
                        <a:defRPr sz="900">
                          <a:solidFill>
                            <a:srgbClr val="1B1F2A"/>
                          </a:solidFill>
                        </a:defRPr>
                      </a:pPr>
                      <a:r>
                        <a:t>14.7%</a:t>
                      </a:r>
                    </a:p>
                  </a:txBody>
                  <a:tcPr anchor="ctr">
                    <a:solidFill>
                      <a:srgbClr val="FFFFFF"/>
                    </a:solidFill>
                  </a:tcPr>
                </a:tc>
                <a:tc>
                  <a:txBody>
                    <a:bodyPr/>
                    <a:lstStyle/>
                    <a:p>
                      <a:pPr>
                        <a:defRPr sz="900">
                          <a:solidFill>
                            <a:srgbClr val="1B1F2A"/>
                          </a:solidFill>
                        </a:defRPr>
                      </a:pPr>
                      <a:r>
                        <a:t>1.000</a:t>
                      </a:r>
                    </a:p>
                  </a:txBody>
                  <a:tcPr anchor="ctr">
                    <a:solidFill>
                      <a:srgbClr val="FFFFFF"/>
                    </a:solidFill>
                  </a:tcPr>
                </a:tc>
                <a:tc>
                  <a:txBody>
                    <a:bodyPr/>
                    <a:lstStyle/>
                    <a:p>
                      <a:pPr>
                        <a:defRPr sz="900">
                          <a:solidFill>
                            <a:srgbClr val="1B1F2A"/>
                          </a:solidFill>
                        </a:defRPr>
                      </a:pPr>
                      <a:r>
                        <a:t>+8pp</a:t>
                      </a:r>
                    </a:p>
                  </a:txBody>
                  <a:tcPr anchor="ctr">
                    <a:solidFill>
                      <a:srgbClr val="FFFFFF"/>
                    </a:solidFill>
                  </a:tcPr>
                </a:tc>
              </a:tr>
              <a:tr h="285077">
                <a:tc>
                  <a:txBody>
                    <a:bodyPr/>
                    <a:lstStyle/>
                    <a:p>
                      <a:pPr>
                        <a:defRPr sz="900">
                          <a:solidFill>
                            <a:srgbClr val="1B1F2A"/>
                          </a:solidFill>
                        </a:defRPr>
                      </a:pPr>
                      <a:r>
                        <a:t>5B</a:t>
                      </a:r>
                    </a:p>
                  </a:txBody>
                  <a:tcPr anchor="ctr">
                    <a:solidFill>
                      <a:srgbClr val="F4F6F9"/>
                    </a:solidFill>
                  </a:tcPr>
                </a:tc>
                <a:tc>
                  <a:txBody>
                    <a:bodyPr/>
                    <a:lstStyle/>
                    <a:p>
                      <a:pPr>
                        <a:defRPr sz="900">
                          <a:solidFill>
                            <a:srgbClr val="1B1F2A"/>
                          </a:solidFill>
                        </a:defRPr>
                      </a:pPr>
                      <a:r>
                        <a:t>Qwen3</a:t>
                      </a:r>
                    </a:p>
                  </a:txBody>
                  <a:tcPr anchor="ctr">
                    <a:solidFill>
                      <a:srgbClr val="F4F6F9"/>
                    </a:solidFill>
                  </a:tcPr>
                </a:tc>
                <a:tc>
                  <a:txBody>
                    <a:bodyPr/>
                    <a:lstStyle/>
                    <a:p>
                      <a:pPr>
                        <a:defRPr sz="900">
                          <a:solidFill>
                            <a:srgbClr val="1B1F2A"/>
                          </a:solidFill>
                        </a:defRPr>
                      </a:pPr>
                      <a:r>
                        <a:t>CoT-pos0 repr</a:t>
                      </a:r>
                    </a:p>
                  </a:txBody>
                  <a:tcPr anchor="ctr">
                    <a:solidFill>
                      <a:srgbClr val="F4F6F9"/>
                    </a:solidFill>
                  </a:tcPr>
                </a:tc>
                <a:tc>
                  <a:txBody>
                    <a:bodyPr/>
                    <a:lstStyle/>
                    <a:p>
                      <a:pPr>
                        <a:defRPr sz="900">
                          <a:solidFill>
                            <a:srgbClr val="1B1F2A"/>
                          </a:solidFill>
                        </a:defRPr>
                      </a:pPr>
                      <a:r>
                        <a:t>1.3%</a:t>
                      </a:r>
                    </a:p>
                  </a:txBody>
                  <a:tcPr anchor="ctr">
                    <a:solidFill>
                      <a:srgbClr val="F4F6F9"/>
                    </a:solidFill>
                  </a:tcPr>
                </a:tc>
                <a:tc>
                  <a:txBody>
                    <a:bodyPr/>
                    <a:lstStyle/>
                    <a:p>
                      <a:pPr>
                        <a:defRPr sz="900">
                          <a:solidFill>
                            <a:srgbClr val="1B1F2A"/>
                          </a:solidFill>
                        </a:defRPr>
                      </a:pPr>
                      <a:r>
                        <a:t>—</a:t>
                      </a:r>
                    </a:p>
                  </a:txBody>
                  <a:tcPr anchor="ctr">
                    <a:solidFill>
                      <a:srgbClr val="F4F6F9"/>
                    </a:solidFill>
                  </a:tcPr>
                </a:tc>
                <a:tc>
                  <a:txBody>
                    <a:bodyPr/>
                    <a:lstStyle/>
                    <a:p>
                      <a:pPr>
                        <a:defRPr sz="900">
                          <a:solidFill>
                            <a:srgbClr val="1B1F2A"/>
                          </a:solidFill>
                        </a:defRPr>
                      </a:pPr>
                      <a:r>
                        <a:t>1.000</a:t>
                      </a:r>
                    </a:p>
                  </a:txBody>
                  <a:tcPr anchor="ctr">
                    <a:solidFill>
                      <a:srgbClr val="F4F6F9"/>
                    </a:solidFill>
                  </a:tcPr>
                </a:tc>
                <a:tc>
                  <a:txBody>
                    <a:bodyPr/>
                    <a:lstStyle/>
                    <a:p>
                      <a:pPr>
                        <a:defRPr sz="900">
                          <a:solidFill>
                            <a:srgbClr val="1B1F2A"/>
                          </a:solidFill>
                        </a:defRPr>
                      </a:pPr>
                      <a:r>
                        <a:t>−2.7pp</a:t>
                      </a:r>
                    </a:p>
                  </a:txBody>
                  <a:tcPr anchor="ctr">
                    <a:solidFill>
                      <a:srgbClr val="F4F6F9"/>
                    </a:solidFill>
                  </a:tcPr>
                </a:tc>
              </a:tr>
              <a:tr h="285077">
                <a:tc>
                  <a:txBody>
                    <a:bodyPr/>
                    <a:lstStyle/>
                    <a:p>
                      <a:pPr>
                        <a:defRPr sz="900">
                          <a:solidFill>
                            <a:srgbClr val="1B1F2A"/>
                          </a:solidFill>
                        </a:defRPr>
                      </a:pPr>
                      <a:r>
                        <a:t>5C</a:t>
                      </a:r>
                    </a:p>
                  </a:txBody>
                  <a:tcPr anchor="ctr">
                    <a:solidFill>
                      <a:srgbClr val="FFFFFF"/>
                    </a:solidFill>
                  </a:tcPr>
                </a:tc>
                <a:tc>
                  <a:txBody>
                    <a:bodyPr/>
                    <a:lstStyle/>
                    <a:p>
                      <a:pPr>
                        <a:defRPr sz="900">
                          <a:solidFill>
                            <a:srgbClr val="1B1F2A"/>
                          </a:solidFill>
                        </a:defRPr>
                      </a:pPr>
                      <a:r>
                        <a:t>Qwen3</a:t>
                      </a:r>
                    </a:p>
                  </a:txBody>
                  <a:tcPr anchor="ctr">
                    <a:solidFill>
                      <a:srgbClr val="FFFFFF"/>
                    </a:solidFill>
                  </a:tcPr>
                </a:tc>
                <a:tc>
                  <a:txBody>
                    <a:bodyPr/>
                    <a:lstStyle/>
                    <a:p>
                      <a:pPr>
                        <a:defRPr sz="900">
                          <a:solidFill>
                            <a:srgbClr val="1B1F2A"/>
                          </a:solidFill>
                        </a:defRPr>
                      </a:pPr>
                      <a:r>
                        <a:t>Quick-ASR select</a:t>
                      </a:r>
                    </a:p>
                  </a:txBody>
                  <a:tcPr anchor="ctr">
                    <a:solidFill>
                      <a:srgbClr val="FFFFFF"/>
                    </a:solidFill>
                  </a:tcPr>
                </a:tc>
                <a:tc>
                  <a:txBody>
                    <a:bodyPr/>
                    <a:lstStyle/>
                    <a:p>
                      <a:pPr>
                        <a:defRPr sz="900">
                          <a:solidFill>
                            <a:srgbClr val="1B1F2A"/>
                          </a:solidFill>
                        </a:defRPr>
                      </a:pPr>
                      <a:r>
                        <a:t>10.7%</a:t>
                      </a:r>
                    </a:p>
                  </a:txBody>
                  <a:tcPr anchor="ctr">
                    <a:solidFill>
                      <a:srgbClr val="FFFFFF"/>
                    </a:solidFill>
                  </a:tcPr>
                </a:tc>
                <a:tc>
                  <a:txBody>
                    <a:bodyPr/>
                    <a:lstStyle/>
                    <a:p>
                      <a:pPr>
                        <a:defRPr sz="900">
                          <a:solidFill>
                            <a:srgbClr val="1B1F2A"/>
                          </a:solidFill>
                        </a:defRPr>
                      </a:pPr>
                      <a:r>
                        <a:t>—</a:t>
                      </a:r>
                    </a:p>
                  </a:txBody>
                  <a:tcPr anchor="ctr">
                    <a:solidFill>
                      <a:srgbClr val="FFFFFF"/>
                    </a:solidFill>
                  </a:tcPr>
                </a:tc>
                <a:tc>
                  <a:txBody>
                    <a:bodyPr/>
                    <a:lstStyle/>
                    <a:p>
                      <a:pPr>
                        <a:defRPr sz="900">
                          <a:solidFill>
                            <a:srgbClr val="1B1F2A"/>
                          </a:solidFill>
                        </a:defRPr>
                      </a:pPr>
                      <a:r>
                        <a:t>1.000</a:t>
                      </a:r>
                    </a:p>
                  </a:txBody>
                  <a:tcPr anchor="ctr">
                    <a:solidFill>
                      <a:srgbClr val="FFFFFF"/>
                    </a:solidFill>
                  </a:tcPr>
                </a:tc>
                <a:tc>
                  <a:txBody>
                    <a:bodyPr/>
                    <a:lstStyle/>
                    <a:p>
                      <a:pPr>
                        <a:defRPr sz="900">
                          <a:solidFill>
                            <a:srgbClr val="1B1F2A"/>
                          </a:solidFill>
                        </a:defRPr>
                      </a:pPr>
                      <a:r>
                        <a:t>= 5A</a:t>
                      </a:r>
                    </a:p>
                  </a:txBody>
                  <a:tcPr anchor="ctr">
                    <a:solidFill>
                      <a:srgbClr val="FFFFFF"/>
                    </a:solidFill>
                  </a:tcPr>
                </a:tc>
              </a:tr>
              <a:tr h="285077">
                <a:tc>
                  <a:txBody>
                    <a:bodyPr/>
                    <a:lstStyle/>
                    <a:p>
                      <a:pPr>
                        <a:defRPr sz="900">
                          <a:solidFill>
                            <a:srgbClr val="1B1F2A"/>
                          </a:solidFill>
                        </a:defRPr>
                      </a:pPr>
                      <a:r>
                        <a:t>6A</a:t>
                      </a:r>
                    </a:p>
                  </a:txBody>
                  <a:tcPr anchor="ctr">
                    <a:solidFill>
                      <a:srgbClr val="F4F6F9"/>
                    </a:solidFill>
                  </a:tcPr>
                </a:tc>
                <a:tc>
                  <a:txBody>
                    <a:bodyPr/>
                    <a:lstStyle/>
                    <a:p>
                      <a:pPr>
                        <a:defRPr sz="900">
                          <a:solidFill>
                            <a:srgbClr val="1B1F2A"/>
                          </a:solidFill>
                        </a:defRPr>
                      </a:pPr>
                      <a:r>
                        <a:t>Qwen3</a:t>
                      </a:r>
                    </a:p>
                  </a:txBody>
                  <a:tcPr anchor="ctr">
                    <a:solidFill>
                      <a:srgbClr val="F4F6F9"/>
                    </a:solidFill>
                  </a:tcPr>
                </a:tc>
                <a:tc>
                  <a:txBody>
                    <a:bodyPr/>
                    <a:lstStyle/>
                    <a:p>
                      <a:pPr>
                        <a:defRPr sz="900">
                          <a:solidFill>
                            <a:srgbClr val="1B1F2A"/>
                          </a:solidFill>
                        </a:defRPr>
                      </a:pPr>
                      <a:r>
                        <a:t>+refusal_dir_loss</a:t>
                      </a:r>
                    </a:p>
                  </a:txBody>
                  <a:tcPr anchor="ctr">
                    <a:solidFill>
                      <a:srgbClr val="F4F6F9"/>
                    </a:solidFill>
                  </a:tcPr>
                </a:tc>
                <a:tc>
                  <a:txBody>
                    <a:bodyPr/>
                    <a:lstStyle/>
                    <a:p>
                      <a:pPr>
                        <a:defRPr sz="900">
                          <a:solidFill>
                            <a:srgbClr val="1B1F2A"/>
                          </a:solidFill>
                        </a:defRPr>
                      </a:pPr>
                      <a:r>
                        <a:t>0% net-neg</a:t>
                      </a:r>
                    </a:p>
                  </a:txBody>
                  <a:tcPr anchor="ctr">
                    <a:solidFill>
                      <a:srgbClr val="F4F6F9"/>
                    </a:solidFill>
                  </a:tcPr>
                </a:tc>
                <a:tc>
                  <a:txBody>
                    <a:bodyPr/>
                    <a:lstStyle/>
                    <a:p>
                      <a:pPr>
                        <a:defRPr sz="900">
                          <a:solidFill>
                            <a:srgbClr val="1B1F2A"/>
                          </a:solidFill>
                        </a:defRPr>
                      </a:pPr>
                      <a:r>
                        <a:t>0% net-neg</a:t>
                      </a:r>
                    </a:p>
                  </a:txBody>
                  <a:tcPr anchor="ctr">
                    <a:solidFill>
                      <a:srgbClr val="F4F6F9"/>
                    </a:solidFill>
                  </a:tcPr>
                </a:tc>
                <a:tc>
                  <a:txBody>
                    <a:bodyPr/>
                    <a:lstStyle/>
                    <a:p>
                      <a:pPr>
                        <a:defRPr sz="900">
                          <a:solidFill>
                            <a:srgbClr val="1B1F2A"/>
                          </a:solidFill>
                        </a:defRPr>
                      </a:pPr>
                      <a:r>
                        <a:t>1.000</a:t>
                      </a:r>
                    </a:p>
                  </a:txBody>
                  <a:tcPr anchor="ctr">
                    <a:solidFill>
                      <a:srgbClr val="F4F6F9"/>
                    </a:solidFill>
                  </a:tcPr>
                </a:tc>
                <a:tc>
                  <a:txBody>
                    <a:bodyPr/>
                    <a:lstStyle/>
                    <a:p>
                      <a:pPr>
                        <a:defRPr sz="900">
                          <a:solidFill>
                            <a:srgbClr val="1B1F2A"/>
                          </a:solidFill>
                        </a:defRPr>
                      </a:pPr>
                      <a:r>
                        <a:t>−2.7pp*</a:t>
                      </a:r>
                    </a:p>
                  </a:txBody>
                  <a:tcPr anchor="ctr">
                    <a:solidFill>
                      <a:srgbClr val="F4F6F9"/>
                    </a:solidFill>
                  </a:tcPr>
                </a:tc>
              </a:tr>
              <a:tr h="285077">
                <a:tc>
                  <a:txBody>
                    <a:bodyPr/>
                    <a:lstStyle/>
                    <a:p>
                      <a:pPr>
                        <a:defRPr sz="900">
                          <a:solidFill>
                            <a:srgbClr val="1B1F2A"/>
                          </a:solidFill>
                        </a:defRPr>
                      </a:pPr>
                      <a:r>
                        <a:t>6A</a:t>
                      </a:r>
                    </a:p>
                  </a:txBody>
                  <a:tcPr anchor="ctr">
                    <a:solidFill>
                      <a:srgbClr val="FFFFFF"/>
                    </a:solidFill>
                  </a:tcPr>
                </a:tc>
                <a:tc>
                  <a:txBody>
                    <a:bodyPr/>
                    <a:lstStyle/>
                    <a:p>
                      <a:pPr>
                        <a:defRPr sz="900">
                          <a:solidFill>
                            <a:srgbClr val="1B1F2A"/>
                          </a:solidFill>
                        </a:defRPr>
                      </a:pPr>
                      <a:r>
                        <a:t>Gemma4</a:t>
                      </a:r>
                    </a:p>
                  </a:txBody>
                  <a:tcPr anchor="ctr">
                    <a:solidFill>
                      <a:srgbClr val="FFFFFF"/>
                    </a:solidFill>
                  </a:tcPr>
                </a:tc>
                <a:tc>
                  <a:txBody>
                    <a:bodyPr/>
                    <a:lstStyle/>
                    <a:p>
                      <a:pPr>
                        <a:defRPr sz="900">
                          <a:solidFill>
                            <a:srgbClr val="1B1F2A"/>
                          </a:solidFill>
                        </a:defRPr>
                      </a:pPr>
                      <a:r>
                        <a:t>+refusal_dir_loss</a:t>
                      </a:r>
                    </a:p>
                  </a:txBody>
                  <a:tcPr anchor="ctr">
                    <a:solidFill>
                      <a:srgbClr val="FFFFFF"/>
                    </a:solidFill>
                  </a:tcPr>
                </a:tc>
                <a:tc>
                  <a:txBody>
                    <a:bodyPr/>
                    <a:lstStyle/>
                    <a:p>
                      <a:pPr>
                        <a:defRPr sz="900">
                          <a:solidFill>
                            <a:srgbClr val="1B1F2A"/>
                          </a:solidFill>
                        </a:defRPr>
                      </a:pPr>
                      <a:r>
                        <a:t>0% (noise)</a:t>
                      </a:r>
                    </a:p>
                  </a:txBody>
                  <a:tcPr anchor="ctr">
                    <a:solidFill>
                      <a:srgbClr val="FFFFFF"/>
                    </a:solidFill>
                  </a:tcPr>
                </a:tc>
                <a:tc>
                  <a:txBody>
                    <a:bodyPr/>
                    <a:lstStyle/>
                    <a:p>
                      <a:pPr>
                        <a:defRPr sz="900">
                          <a:solidFill>
                            <a:srgbClr val="1B1F2A"/>
                          </a:solidFill>
                        </a:defRPr>
                      </a:pPr>
                      <a:r>
                        <a:t>0%</a:t>
                      </a:r>
                    </a:p>
                  </a:txBody>
                  <a:tcPr anchor="ctr">
                    <a:solidFill>
                      <a:srgbClr val="FFFFFF"/>
                    </a:solidFill>
                  </a:tcPr>
                </a:tc>
                <a:tc>
                  <a:txBody>
                    <a:bodyPr/>
                    <a:lstStyle/>
                    <a:p>
                      <a:pPr>
                        <a:defRPr sz="900">
                          <a:solidFill>
                            <a:srgbClr val="1B1F2A"/>
                          </a:solidFill>
                        </a:defRPr>
                      </a:pPr>
                      <a:r>
                        <a:t>0.070</a:t>
                      </a:r>
                    </a:p>
                  </a:txBody>
                  <a:tcPr anchor="ctr">
                    <a:solidFill>
                      <a:srgbClr val="FFFFFF"/>
                    </a:solidFill>
                  </a:tcPr>
                </a:tc>
                <a:tc>
                  <a:txBody>
                    <a:bodyPr/>
                    <a:lstStyle/>
                    <a:p>
                      <a:pPr>
                        <a:defRPr sz="900">
                          <a:solidFill>
                            <a:srgbClr val="1B1F2A"/>
                          </a:solidFill>
                        </a:defRPr>
                      </a:pPr>
                      <a:r>
                        <a:t>+0pp</a:t>
                      </a:r>
                    </a:p>
                  </a:txBody>
                  <a:tcPr anchor="ctr">
                    <a:solidFill>
                      <a:srgbClr val="FFFFFF"/>
                    </a:solidFill>
                  </a:tcPr>
                </a:tc>
              </a:tr>
              <a:tr h="285077">
                <a:tc>
                  <a:txBody>
                    <a:bodyPr/>
                    <a:lstStyle/>
                    <a:p>
                      <a:pPr>
                        <a:defRPr sz="900">
                          <a:solidFill>
                            <a:srgbClr val="1B1F2A"/>
                          </a:solidFill>
                        </a:defRPr>
                      </a:pPr>
                      <a:r>
                        <a:t>6C</a:t>
                      </a:r>
                    </a:p>
                  </a:txBody>
                  <a:tcPr anchor="ctr">
                    <a:solidFill>
                      <a:srgbClr val="F4F6F9"/>
                    </a:solidFill>
                  </a:tcPr>
                </a:tc>
                <a:tc>
                  <a:txBody>
                    <a:bodyPr/>
                    <a:lstStyle/>
                    <a:p>
                      <a:pPr>
                        <a:defRPr sz="900">
                          <a:solidFill>
                            <a:srgbClr val="1B1F2A"/>
                          </a:solidFill>
                        </a:defRPr>
                      </a:pPr>
                      <a:r>
                        <a:t>Qwen3</a:t>
                      </a:r>
                    </a:p>
                  </a:txBody>
                  <a:tcPr anchor="ctr">
                    <a:solidFill>
                      <a:srgbClr val="F4F6F9"/>
                    </a:solidFill>
                  </a:tcPr>
                </a:tc>
                <a:tc>
                  <a:txBody>
                    <a:bodyPr/>
                    <a:lstStyle/>
                    <a:p>
                      <a:pPr>
                        <a:defRPr sz="900">
                          <a:solidFill>
                            <a:srgbClr val="1B1F2A"/>
                          </a:solidFill>
                        </a:defRPr>
                      </a:pPr>
                      <a:r>
                        <a:t>CoT+refusal_dir</a:t>
                      </a:r>
                    </a:p>
                  </a:txBody>
                  <a:tcPr anchor="ctr">
                    <a:solidFill>
                      <a:srgbClr val="F4F6F9"/>
                    </a:solidFill>
                  </a:tcPr>
                </a:tc>
                <a:tc>
                  <a:txBody>
                    <a:bodyPr/>
                    <a:lstStyle/>
                    <a:p>
                      <a:pPr>
                        <a:defRPr sz="900">
                          <a:solidFill>
                            <a:srgbClr val="1B1F2A"/>
                          </a:solidFill>
                        </a:defRPr>
                      </a:pPr>
                      <a:r>
                        <a:t>0% net-neg</a:t>
                      </a:r>
                    </a:p>
                  </a:txBody>
                  <a:tcPr anchor="ctr">
                    <a:solidFill>
                      <a:srgbClr val="F4F6F9"/>
                    </a:solidFill>
                  </a:tcPr>
                </a:tc>
                <a:tc>
                  <a:txBody>
                    <a:bodyPr/>
                    <a:lstStyle/>
                    <a:p>
                      <a:pPr>
                        <a:defRPr sz="900">
                          <a:solidFill>
                            <a:srgbClr val="1B1F2A"/>
                          </a:solidFill>
                        </a:defRPr>
                      </a:pPr>
                      <a:r>
                        <a:t>0% net-neg</a:t>
                      </a:r>
                    </a:p>
                  </a:txBody>
                  <a:tcPr anchor="ctr">
                    <a:solidFill>
                      <a:srgbClr val="F4F6F9"/>
                    </a:solidFill>
                  </a:tcPr>
                </a:tc>
                <a:tc>
                  <a:txBody>
                    <a:bodyPr/>
                    <a:lstStyle/>
                    <a:p>
                      <a:pPr>
                        <a:defRPr sz="900">
                          <a:solidFill>
                            <a:srgbClr val="1B1F2A"/>
                          </a:solidFill>
                        </a:defRPr>
                      </a:pPr>
                      <a:r>
                        <a:t>1.000</a:t>
                      </a:r>
                    </a:p>
                  </a:txBody>
                  <a:tcPr anchor="ctr">
                    <a:solidFill>
                      <a:srgbClr val="F4F6F9"/>
                    </a:solidFill>
                  </a:tcPr>
                </a:tc>
                <a:tc>
                  <a:txBody>
                    <a:bodyPr/>
                    <a:lstStyle/>
                    <a:p>
                      <a:pPr>
                        <a:defRPr sz="900">
                          <a:solidFill>
                            <a:srgbClr val="1B1F2A"/>
                          </a:solidFill>
                        </a:defRPr>
                      </a:pPr>
                      <a:r>
                        <a:t>−10.7pp</a:t>
                      </a:r>
                    </a:p>
                  </a:txBody>
                  <a:tcPr anchor="ctr">
                    <a:solidFill>
                      <a:srgbClr val="F4F6F9"/>
                    </a:solidFill>
                  </a:tcPr>
                </a:tc>
              </a:tr>
              <a:tr h="285077">
                <a:tc>
                  <a:txBody>
                    <a:bodyPr/>
                    <a:lstStyle/>
                    <a:p>
                      <a:pPr>
                        <a:defRPr sz="900">
                          <a:solidFill>
                            <a:srgbClr val="1B1F2A"/>
                          </a:solidFill>
                        </a:defRPr>
                      </a:pPr>
                      <a:r>
                        <a:t>7B s=43</a:t>
                      </a:r>
                    </a:p>
                  </a:txBody>
                  <a:tcPr anchor="ctr">
                    <a:solidFill>
                      <a:srgbClr val="FFFFFF"/>
                    </a:solidFill>
                  </a:tcPr>
                </a:tc>
                <a:tc>
                  <a:txBody>
                    <a:bodyPr/>
                    <a:lstStyle/>
                    <a:p>
                      <a:pPr>
                        <a:defRPr sz="900">
                          <a:solidFill>
                            <a:srgbClr val="1B1F2A"/>
                          </a:solidFill>
                        </a:defRPr>
                      </a:pPr>
                      <a:r>
                        <a:t>Qwen3</a:t>
                      </a:r>
                    </a:p>
                  </a:txBody>
                  <a:tcPr anchor="ctr">
                    <a:solidFill>
                      <a:srgbClr val="FFFFFF"/>
                    </a:solidFill>
                  </a:tcPr>
                </a:tc>
                <a:tc>
                  <a:txBody>
                    <a:bodyPr/>
                    <a:lstStyle/>
                    <a:p>
                      <a:pPr>
                        <a:defRPr sz="900">
                          <a:solidFill>
                            <a:srgbClr val="1B1F2A"/>
                          </a:solidFill>
                        </a:defRPr>
                      </a:pPr>
                      <a:r>
                        <a:t>CoT-prefix, seed 43</a:t>
                      </a:r>
                    </a:p>
                  </a:txBody>
                  <a:tcPr anchor="ctr">
                    <a:solidFill>
                      <a:srgbClr val="FFFFFF"/>
                    </a:solidFill>
                  </a:tcPr>
                </a:tc>
                <a:tc>
                  <a:txBody>
                    <a:bodyPr/>
                    <a:lstStyle/>
                    <a:p>
                      <a:pPr>
                        <a:defRPr sz="900">
                          <a:solidFill>
                            <a:srgbClr val="1B1F2A"/>
                          </a:solidFill>
                        </a:defRPr>
                      </a:pPr>
                      <a:r>
                        <a:t>10.7%</a:t>
                      </a:r>
                    </a:p>
                  </a:txBody>
                  <a:tcPr anchor="ctr">
                    <a:solidFill>
                      <a:srgbClr val="FFFFFF"/>
                    </a:solidFill>
                  </a:tcPr>
                </a:tc>
                <a:tc>
                  <a:txBody>
                    <a:bodyPr/>
                    <a:lstStyle/>
                    <a:p>
                      <a:pPr>
                        <a:defRPr sz="900">
                          <a:solidFill>
                            <a:srgbClr val="1B1F2A"/>
                          </a:solidFill>
                        </a:defRPr>
                      </a:pPr>
                      <a:r>
                        <a:t>16.0%</a:t>
                      </a:r>
                    </a:p>
                  </a:txBody>
                  <a:tcPr anchor="ctr">
                    <a:solidFill>
                      <a:srgbClr val="FFFFFF"/>
                    </a:solidFill>
                  </a:tcPr>
                </a:tc>
                <a:tc>
                  <a:txBody>
                    <a:bodyPr/>
                    <a:lstStyle/>
                    <a:p>
                      <a:pPr>
                        <a:defRPr sz="900">
                          <a:solidFill>
                            <a:srgbClr val="1B1F2A"/>
                          </a:solidFill>
                        </a:defRPr>
                      </a:pPr>
                      <a:r>
                        <a:t>1.000</a:t>
                      </a:r>
                    </a:p>
                  </a:txBody>
                  <a:tcPr anchor="ctr">
                    <a:solidFill>
                      <a:srgbClr val="FFFFFF"/>
                    </a:solidFill>
                  </a:tcPr>
                </a:tc>
                <a:tc>
                  <a:txBody>
                    <a:bodyPr/>
                    <a:lstStyle/>
                    <a:p>
                      <a:pPr>
                        <a:defRPr sz="900">
                          <a:solidFill>
                            <a:srgbClr val="1B1F2A"/>
                          </a:solidFill>
                        </a:defRPr>
                      </a:pPr>
                      <a:r>
                        <a:t>+6.7 / +4.0pp</a:t>
                      </a:r>
                    </a:p>
                  </a:txBody>
                  <a:tcPr anchor="ctr">
                    <a:solidFill>
                      <a:srgbClr val="FFFFFF"/>
                    </a:solidFill>
                  </a:tcPr>
                </a:tc>
              </a:tr>
              <a:tr h="285077">
                <a:tc>
                  <a:txBody>
                    <a:bodyPr/>
                    <a:lstStyle/>
                    <a:p>
                      <a:pPr>
                        <a:defRPr sz="900">
                          <a:solidFill>
                            <a:srgbClr val="1B1F2A"/>
                          </a:solidFill>
                        </a:defRPr>
                      </a:pPr>
                      <a:r>
                        <a:t>7B s=44</a:t>
                      </a:r>
                    </a:p>
                  </a:txBody>
                  <a:tcPr anchor="ctr">
                    <a:solidFill>
                      <a:srgbClr val="F4F6F9"/>
                    </a:solidFill>
                  </a:tcPr>
                </a:tc>
                <a:tc>
                  <a:txBody>
                    <a:bodyPr/>
                    <a:lstStyle/>
                    <a:p>
                      <a:pPr>
                        <a:defRPr sz="900">
                          <a:solidFill>
                            <a:srgbClr val="1B1F2A"/>
                          </a:solidFill>
                        </a:defRPr>
                      </a:pPr>
                      <a:r>
                        <a:t>Qwen3</a:t>
                      </a:r>
                    </a:p>
                  </a:txBody>
                  <a:tcPr anchor="ctr">
                    <a:solidFill>
                      <a:srgbClr val="F4F6F9"/>
                    </a:solidFill>
                  </a:tcPr>
                </a:tc>
                <a:tc>
                  <a:txBody>
                    <a:bodyPr/>
                    <a:lstStyle/>
                    <a:p>
                      <a:pPr>
                        <a:defRPr sz="900">
                          <a:solidFill>
                            <a:srgbClr val="1B1F2A"/>
                          </a:solidFill>
                        </a:defRPr>
                      </a:pPr>
                      <a:r>
                        <a:t>CoT-prefix, seed 44</a:t>
                      </a:r>
                    </a:p>
                  </a:txBody>
                  <a:tcPr anchor="ctr">
                    <a:solidFill>
                      <a:srgbClr val="F4F6F9"/>
                    </a:solidFill>
                  </a:tcPr>
                </a:tc>
                <a:tc>
                  <a:txBody>
                    <a:bodyPr/>
                    <a:lstStyle/>
                    <a:p>
                      <a:pPr>
                        <a:defRPr sz="900">
                          <a:solidFill>
                            <a:srgbClr val="1B1F2A"/>
                          </a:solidFill>
                        </a:defRPr>
                      </a:pPr>
                      <a:r>
                        <a:t>1.3% net-neg</a:t>
                      </a:r>
                    </a:p>
                  </a:txBody>
                  <a:tcPr anchor="ctr">
                    <a:solidFill>
                      <a:srgbClr val="F4F6F9"/>
                    </a:solidFill>
                  </a:tcPr>
                </a:tc>
                <a:tc>
                  <a:txBody>
                    <a:bodyPr/>
                    <a:lstStyle/>
                    <a:p>
                      <a:pPr>
                        <a:defRPr sz="900">
                          <a:solidFill>
                            <a:srgbClr val="1B1F2A"/>
                          </a:solidFill>
                        </a:defRPr>
                      </a:pPr>
                      <a:r>
                        <a:t>2.7% net-neg</a:t>
                      </a:r>
                    </a:p>
                  </a:txBody>
                  <a:tcPr anchor="ctr">
                    <a:solidFill>
                      <a:srgbClr val="F4F6F9"/>
                    </a:solidFill>
                  </a:tcPr>
                </a:tc>
                <a:tc>
                  <a:txBody>
                    <a:bodyPr/>
                    <a:lstStyle/>
                    <a:p>
                      <a:pPr>
                        <a:defRPr sz="900">
                          <a:solidFill>
                            <a:srgbClr val="1B1F2A"/>
                          </a:solidFill>
                        </a:defRPr>
                      </a:pPr>
                      <a:r>
                        <a:t>1.000</a:t>
                      </a:r>
                    </a:p>
                  </a:txBody>
                  <a:tcPr anchor="ctr">
                    <a:solidFill>
                      <a:srgbClr val="F4F6F9"/>
                    </a:solidFill>
                  </a:tcPr>
                </a:tc>
                <a:tc>
                  <a:txBody>
                    <a:bodyPr/>
                    <a:lstStyle/>
                    <a:p>
                      <a:pPr>
                        <a:defRPr sz="900">
                          <a:solidFill>
                            <a:srgbClr val="1B1F2A"/>
                          </a:solidFill>
                        </a:defRPr>
                      </a:pPr>
                      <a:r>
                        <a:t>net-neg both</a:t>
                      </a:r>
                    </a:p>
                  </a:txBody>
                  <a:tcPr anchor="ctr">
                    <a:solidFill>
                      <a:srgbClr val="F4F6F9"/>
                    </a:solidFill>
                  </a:tcPr>
                </a:tc>
              </a:tr>
              <a:tr h="285077">
                <a:tc>
                  <a:txBody>
                    <a:bodyPr/>
                    <a:lstStyle/>
                    <a:p>
                      <a:pPr>
                        <a:defRPr sz="900">
                          <a:solidFill>
                            <a:srgbClr val="1B1F2A"/>
                          </a:solidFill>
                        </a:defRPr>
                      </a:pPr>
                      <a:r>
                        <a:t>7B s=45</a:t>
                      </a:r>
                    </a:p>
                  </a:txBody>
                  <a:tcPr anchor="ctr">
                    <a:solidFill>
                      <a:srgbClr val="FFFFFF"/>
                    </a:solidFill>
                  </a:tcPr>
                </a:tc>
                <a:tc>
                  <a:txBody>
                    <a:bodyPr/>
                    <a:lstStyle/>
                    <a:p>
                      <a:pPr>
                        <a:defRPr sz="900">
                          <a:solidFill>
                            <a:srgbClr val="1B1F2A"/>
                          </a:solidFill>
                        </a:defRPr>
                      </a:pPr>
                      <a:r>
                        <a:t>Qwen3</a:t>
                      </a:r>
                    </a:p>
                  </a:txBody>
                  <a:tcPr anchor="ctr">
                    <a:solidFill>
                      <a:srgbClr val="FFFFFF"/>
                    </a:solidFill>
                  </a:tcPr>
                </a:tc>
                <a:tc>
                  <a:txBody>
                    <a:bodyPr/>
                    <a:lstStyle/>
                    <a:p>
                      <a:pPr>
                        <a:defRPr sz="900">
                          <a:solidFill>
                            <a:srgbClr val="1B1F2A"/>
                          </a:solidFill>
                        </a:defRPr>
                      </a:pPr>
                      <a:r>
                        <a:t>CoT-prefix, seed 45</a:t>
                      </a:r>
                    </a:p>
                  </a:txBody>
                  <a:tcPr anchor="ctr">
                    <a:solidFill>
                      <a:srgbClr val="FFFFFF"/>
                    </a:solidFill>
                  </a:tcPr>
                </a:tc>
                <a:tc>
                  <a:txBody>
                    <a:bodyPr/>
                    <a:lstStyle/>
                    <a:p>
                      <a:pPr>
                        <a:defRPr sz="900">
                          <a:solidFill>
                            <a:srgbClr val="1B1F2A"/>
                          </a:solidFill>
                        </a:defRPr>
                      </a:pPr>
                      <a:r>
                        <a:t>16.0%</a:t>
                      </a:r>
                    </a:p>
                  </a:txBody>
                  <a:tcPr anchor="ctr">
                    <a:solidFill>
                      <a:srgbClr val="FFFFFF"/>
                    </a:solidFill>
                  </a:tcPr>
                </a:tc>
                <a:tc>
                  <a:txBody>
                    <a:bodyPr/>
                    <a:lstStyle/>
                    <a:p>
                      <a:pPr>
                        <a:defRPr sz="900">
                          <a:solidFill>
                            <a:srgbClr val="1B1F2A"/>
                          </a:solidFill>
                        </a:defRPr>
                      </a:pPr>
                      <a:r>
                        <a:t>21.3%</a:t>
                      </a:r>
                    </a:p>
                  </a:txBody>
                  <a:tcPr anchor="ctr">
                    <a:solidFill>
                      <a:srgbClr val="FFFFFF"/>
                    </a:solidFill>
                  </a:tcPr>
                </a:tc>
                <a:tc>
                  <a:txBody>
                    <a:bodyPr/>
                    <a:lstStyle/>
                    <a:p>
                      <a:pPr>
                        <a:defRPr sz="900">
                          <a:solidFill>
                            <a:srgbClr val="1B1F2A"/>
                          </a:solidFill>
                        </a:defRPr>
                      </a:pPr>
                      <a:r>
                        <a:t>1.000</a:t>
                      </a:r>
                    </a:p>
                  </a:txBody>
                  <a:tcPr anchor="ctr">
                    <a:solidFill>
                      <a:srgbClr val="FFFFFF"/>
                    </a:solidFill>
                  </a:tcPr>
                </a:tc>
                <a:tc>
                  <a:txBody>
                    <a:bodyPr/>
                    <a:lstStyle/>
                    <a:p>
                      <a:pPr>
                        <a:defRPr sz="900">
                          <a:solidFill>
                            <a:srgbClr val="1B1F2A"/>
                          </a:solidFill>
                        </a:defRPr>
                      </a:pPr>
                      <a:r>
                        <a:t>+12.0 / +9.3pp</a:t>
                      </a:r>
                    </a:p>
                  </a:txBody>
                  <a:tcPr anchor="ctr">
                    <a:solidFill>
                      <a:srgbClr val="FFFFFF"/>
                    </a:solidFill>
                  </a:tcPr>
                </a:tc>
              </a:tr>
              <a:tr h="285077">
                <a:tc>
                  <a:txBody>
                    <a:bodyPr/>
                    <a:lstStyle/>
                    <a:p>
                      <a:pPr>
                        <a:defRPr sz="900">
                          <a:solidFill>
                            <a:srgbClr val="1B1F2A"/>
                          </a:solidFill>
                        </a:defRPr>
                      </a:pPr>
                      <a:r>
                        <a:t>7C</a:t>
                      </a:r>
                    </a:p>
                  </a:txBody>
                  <a:tcPr anchor="ctr">
                    <a:solidFill>
                      <a:srgbClr val="F4F6F9"/>
                    </a:solidFill>
                  </a:tcPr>
                </a:tc>
                <a:tc>
                  <a:txBody>
                    <a:bodyPr/>
                    <a:lstStyle/>
                    <a:p>
                      <a:pPr>
                        <a:defRPr sz="900">
                          <a:solidFill>
                            <a:srgbClr val="1B1F2A"/>
                          </a:solidFill>
                        </a:defRPr>
                      </a:pPr>
                      <a:r>
                        <a:t>Gemma4</a:t>
                      </a:r>
                    </a:p>
                  </a:txBody>
                  <a:tcPr anchor="ctr">
                    <a:solidFill>
                      <a:srgbClr val="F4F6F9"/>
                    </a:solidFill>
                  </a:tcPr>
                </a:tc>
                <a:tc>
                  <a:txBody>
                    <a:bodyPr/>
                    <a:lstStyle/>
                    <a:p>
                      <a:pPr>
                        <a:defRPr sz="900">
                          <a:solidFill>
                            <a:srgbClr val="1B1F2A"/>
                          </a:solidFill>
                        </a:defRPr>
                      </a:pPr>
                      <a:r>
                        <a:t>thinking=OFF</a:t>
                      </a:r>
                    </a:p>
                  </a:txBody>
                  <a:tcPr anchor="ctr">
                    <a:solidFill>
                      <a:srgbClr val="F4F6F9"/>
                    </a:solidFill>
                  </a:tcPr>
                </a:tc>
                <a:tc>
                  <a:txBody>
                    <a:bodyPr/>
                    <a:lstStyle/>
                    <a:p>
                      <a:pPr>
                        <a:defRPr sz="900">
                          <a:solidFill>
                            <a:srgbClr val="1B1F2A"/>
                          </a:solidFill>
                        </a:defRPr>
                      </a:pPr>
                      <a:r>
                        <a:t>0%</a:t>
                      </a:r>
                    </a:p>
                  </a:txBody>
                  <a:tcPr anchor="ctr">
                    <a:solidFill>
                      <a:srgbClr val="F4F6F9"/>
                    </a:solidFill>
                  </a:tcPr>
                </a:tc>
                <a:tc>
                  <a:txBody>
                    <a:bodyPr/>
                    <a:lstStyle/>
                    <a:p>
                      <a:pPr>
                        <a:defRPr sz="900">
                          <a:solidFill>
                            <a:srgbClr val="1B1F2A"/>
                          </a:solidFill>
                        </a:defRPr>
                      </a:pPr>
                      <a:r>
                        <a:t>0%</a:t>
                      </a:r>
                    </a:p>
                  </a:txBody>
                  <a:tcPr anchor="ctr">
                    <a:solidFill>
                      <a:srgbClr val="F4F6F9"/>
                    </a:solidFill>
                  </a:tcPr>
                </a:tc>
                <a:tc>
                  <a:txBody>
                    <a:bodyPr/>
                    <a:lstStyle/>
                    <a:p>
                      <a:pPr>
                        <a:defRPr sz="900">
                          <a:solidFill>
                            <a:srgbClr val="1B1F2A"/>
                          </a:solidFill>
                        </a:defRPr>
                      </a:pPr>
                      <a:r>
                        <a:t>1.000</a:t>
                      </a:r>
                    </a:p>
                  </a:txBody>
                  <a:tcPr anchor="ctr">
                    <a:solidFill>
                      <a:srgbClr val="F4F6F9"/>
                    </a:solidFill>
                  </a:tcPr>
                </a:tc>
                <a:tc>
                  <a:txBody>
                    <a:bodyPr/>
                    <a:lstStyle/>
                    <a:p>
                      <a:pPr>
                        <a:defRPr sz="900">
                          <a:solidFill>
                            <a:srgbClr val="1B1F2A"/>
                          </a:solidFill>
                        </a:defRPr>
                      </a:pPr>
                      <a:r>
                        <a:t>0%</a:t>
                      </a:r>
                    </a:p>
                  </a:txBody>
                  <a:tcPr anchor="ctr">
                    <a:solidFill>
                      <a:srgbClr val="F4F6F9"/>
                    </a:solidFill>
                  </a:tcPr>
                </a:tc>
              </a:tr>
              <a:tr h="285088">
                <a:tc>
                  <a:txBody>
                    <a:bodyPr/>
                    <a:lstStyle/>
                    <a:p>
                      <a:pPr>
                        <a:defRPr sz="900">
                          <a:solidFill>
                            <a:srgbClr val="1B1F2A"/>
                          </a:solidFill>
                        </a:defRPr>
                      </a:pPr>
                      <a:r>
                        <a:t>7A (FINAL, 520 beh.)</a:t>
                      </a:r>
                    </a:p>
                  </a:txBody>
                  <a:tcPr anchor="ctr">
                    <a:solidFill>
                      <a:srgbClr val="FFFFFF"/>
                    </a:solidFill>
                  </a:tcPr>
                </a:tc>
                <a:tc>
                  <a:txBody>
                    <a:bodyPr/>
                    <a:lstStyle/>
                    <a:p>
                      <a:pPr>
                        <a:defRPr sz="900">
                          <a:solidFill>
                            <a:srgbClr val="1B1F2A"/>
                          </a:solidFill>
                        </a:defRPr>
                      </a:pPr>
                      <a:r>
                        <a:t>Qwen3</a:t>
                      </a:r>
                    </a:p>
                  </a:txBody>
                  <a:tcPr anchor="ctr">
                    <a:solidFill>
                      <a:srgbClr val="FFFFFF"/>
                    </a:solidFill>
                  </a:tcPr>
                </a:tc>
                <a:tc>
                  <a:txBody>
                    <a:bodyPr/>
                    <a:lstStyle/>
                    <a:p>
                      <a:pPr>
                        <a:defRPr sz="900">
                          <a:solidFill>
                            <a:srgbClr val="1B1F2A"/>
                          </a:solidFill>
                        </a:defRPr>
                      </a:pPr>
                      <a:r>
                        <a:t>5A on all 520 behaviors</a:t>
                      </a:r>
                    </a:p>
                  </a:txBody>
                  <a:tcPr anchor="ctr">
                    <a:solidFill>
                      <a:srgbClr val="FFFFFF"/>
                    </a:solidFill>
                  </a:tcPr>
                </a:tc>
                <a:tc>
                  <a:txBody>
                    <a:bodyPr/>
                    <a:lstStyle/>
                    <a:p>
                      <a:pPr>
                        <a:defRPr sz="900">
                          <a:solidFill>
                            <a:srgbClr val="1B1F2A"/>
                          </a:solidFill>
                        </a:defRPr>
                      </a:pPr>
                      <a:r>
                        <a:t>8.01% (125/1560)</a:t>
                      </a:r>
                    </a:p>
                  </a:txBody>
                  <a:tcPr anchor="ctr">
                    <a:solidFill>
                      <a:srgbClr val="FFFFFF"/>
                    </a:solidFill>
                  </a:tcPr>
                </a:tc>
                <a:tc>
                  <a:txBody>
                    <a:bodyPr/>
                    <a:lstStyle/>
                    <a:p>
                      <a:pPr>
                        <a:defRPr sz="900">
                          <a:solidFill>
                            <a:srgbClr val="1B1F2A"/>
                          </a:solidFill>
                        </a:defRPr>
                      </a:pPr>
                      <a:r>
                        <a:t>8.92% (131/1468, 493/520 beh.)</a:t>
                      </a:r>
                    </a:p>
                  </a:txBody>
                  <a:tcPr anchor="ctr">
                    <a:solidFill>
                      <a:srgbClr val="FFFFFF"/>
                    </a:solidFill>
                  </a:tcPr>
                </a:tc>
                <a:tc>
                  <a:txBody>
                    <a:bodyPr/>
                    <a:lstStyle/>
                    <a:p>
                      <a:pPr>
                        <a:defRPr sz="900">
                          <a:solidFill>
                            <a:srgbClr val="1B1F2A"/>
                          </a:solidFill>
                        </a:defRPr>
                      </a:pPr>
                      <a:r>
                        <a:t>1.000</a:t>
                      </a:r>
                    </a:p>
                  </a:txBody>
                  <a:tcPr anchor="ctr">
                    <a:solidFill>
                      <a:srgbClr val="FFFFFF"/>
                    </a:solidFill>
                  </a:tcPr>
                </a:tc>
                <a:tc>
                  <a:txBody>
                    <a:bodyPr/>
                    <a:lstStyle/>
                    <a:p>
                      <a:pPr>
                        <a:defRPr sz="900">
                          <a:solidFill>
                            <a:srgbClr val="1B1F2A"/>
                          </a:solidFill>
                        </a:defRPr>
                      </a:pPr>
                      <a:r>
                        <a:t>+5.83 / +5.09pp</a:t>
                      </a:r>
                    </a:p>
                  </a:txBody>
                  <a:tcPr anchor="ctr">
                    <a:solidFill>
                      <a:srgbClr val="FFFFFF"/>
                    </a:solidFill>
                  </a:tcPr>
                </a:tc>
              </a:tr>
            </a:tbl>
          </a:graphicData>
        </a:graphic>
      </p:graphicFrame>
      <p:sp>
        <p:nvSpPr>
          <p:cNvPr id="6" name="TextBox 5"/>
          <p:cNvSpPr txBox="1"/>
          <p:nvPr/>
        </p:nvSpPr>
        <p:spPr>
          <a:xfrm>
            <a:off x="548640" y="6537960"/>
            <a:ext cx="11064240" cy="274320"/>
          </a:xfrm>
          <a:prstGeom prst="rect">
            <a:avLst/>
          </a:prstGeom>
          <a:noFill/>
        </p:spPr>
        <p:txBody>
          <a:bodyPr wrap="none">
            <a:spAutoFit/>
          </a:bodyPr>
          <a:lstStyle/>
          <a:p>
            <a:pPr algn="r">
              <a:defRPr sz="1000">
                <a:solidFill>
                  <a:srgbClr val="5F636E"/>
                </a:solidFill>
              </a:defRPr>
            </a:pPr>
            <a:r>
              <a:t>GCG Phases 4–7 Summary  |  Jul 7–12, 2026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65760"/>
          </a:xfrm>
          <a:prstGeom prst="rect">
            <a:avLst/>
          </a:prstGeom>
          <a:noFill/>
        </p:spPr>
        <p:txBody>
          <a:bodyPr wrap="none">
            <a:spAutoFit/>
          </a:bodyPr>
          <a:lstStyle/>
          <a:p>
            <a:pPr>
              <a:defRPr sz="1400" b="1">
                <a:solidFill>
                  <a:srgbClr val="2E6BE0"/>
                </a:solidFill>
              </a:defRPr>
            </a:pPr>
            <a:r>
              <a:t>KEY FINDING 1 OF 6</a:t>
            </a:r>
          </a:p>
        </p:txBody>
      </p:sp>
      <p:sp>
        <p:nvSpPr>
          <p:cNvPr id="3" name="TextBox 2"/>
          <p:cNvSpPr txBox="1"/>
          <p:nvPr/>
        </p:nvSpPr>
        <p:spPr>
          <a:xfrm>
            <a:off x="548640" y="685800"/>
            <a:ext cx="11064240" cy="822960"/>
          </a:xfrm>
          <a:prstGeom prst="rect">
            <a:avLst/>
          </a:prstGeom>
          <a:noFill/>
        </p:spPr>
        <p:txBody>
          <a:bodyPr wrap="square">
            <a:spAutoFit/>
          </a:bodyPr>
          <a:lstStyle/>
          <a:p>
            <a:pPr>
              <a:defRPr sz="3000" b="1">
                <a:solidFill>
                  <a:srgbClr val="1B1F2A"/>
                </a:solidFill>
              </a:defRPr>
            </a:pPr>
            <a:r>
              <a:t>Finding 1: CoT Target Misalignment Was the Primary Barrier</a:t>
            </a:r>
          </a:p>
        </p:txBody>
      </p:sp>
      <p:sp>
        <p:nvSpPr>
          <p:cNvPr id="4" name="Rectangle 3"/>
          <p:cNvSpPr/>
          <p:nvPr/>
        </p:nvSpPr>
        <p:spPr>
          <a:xfrm>
            <a:off x="548640" y="1417320"/>
            <a:ext cx="11064240" cy="25400"/>
          </a:xfrm>
          <a:prstGeom prst="rect">
            <a:avLst/>
          </a:prstGeom>
          <a:solidFill>
            <a:srgbClr val="2E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1064240" cy="4572000"/>
          </a:xfrm>
          <a:prstGeom prst="rect">
            <a:avLst/>
          </a:prstGeom>
          <a:noFill/>
        </p:spPr>
        <p:txBody>
          <a:bodyPr wrap="square">
            <a:spAutoFit/>
          </a:bodyPr>
          <a:lstStyle/>
          <a:p>
            <a:pPr>
              <a:spcAft>
                <a:spcPts val="1000"/>
              </a:spcAft>
              <a:defRPr sz="1800" b="1">
                <a:solidFill>
                  <a:srgbClr val="1B1F2A"/>
                </a:solidFill>
              </a:defRPr>
            </a:pPr>
            <a:r>
              <a:t>•  Standard GCG assumes the model's first generated token will be the start of its answer (e.g., "Sure")</a:t>
            </a:r>
          </a:p>
          <a:p>
            <a:pPr>
              <a:spcAft>
                <a:spcPts val="1000"/>
              </a:spcAft>
              <a:defRPr sz="1800" b="1">
                <a:solidFill>
                  <a:srgbClr val="1B1F2A"/>
                </a:solidFill>
              </a:defRPr>
            </a:pPr>
            <a:r>
              <a:t>•  But Qwen3 with CoT enabled always generates &lt;think&gt; first — the target was aimed at the wrong position from the very first token</a:t>
            </a:r>
          </a:p>
          <a:p>
            <a:pPr>
              <a:spcAft>
                <a:spcPts val="1000"/>
              </a:spcAft>
              <a:defRPr sz="1800" b="1">
                <a:solidFill>
                  <a:srgbClr val="1B1F2A"/>
                </a:solidFill>
              </a:defRPr>
            </a:pPr>
            <a:r>
              <a:t>•  Gemma4 has the same problem: its true first token is a special &lt;|channel&gt;thought\n token, not "Sure"</a:t>
            </a:r>
          </a:p>
          <a:p>
            <a:pPr>
              <a:spcAft>
                <a:spcPts val="1000"/>
              </a:spcAft>
              <a:defRPr sz="1800" b="1">
                <a:solidFill>
                  <a:srgbClr val="1B1F2A"/>
                </a:solidFill>
              </a:defRPr>
            </a:pPr>
            <a:r>
              <a:t>•  5A's fix — extend the target through the full reasoning-then-answer trajectory — quadrupled Qwen3's ASR (2.7% → 10.7%) despite WORSE raw optimization loss (7.97 → 20.52)</a:t>
            </a:r>
          </a:p>
          <a:p>
            <a:pPr>
              <a:spcAft>
                <a:spcPts val="1000"/>
              </a:spcAft>
              <a:defRPr sz="1800" b="1">
                <a:solidFill>
                  <a:srgbClr val="1B1F2A"/>
                </a:solidFill>
              </a:defRPr>
            </a:pPr>
            <a:r>
              <a:t>•  Takeaway: GCG success depends on whether the suffix aligns with a behaviorally meaningful generation trajectory, not on how low the teacher-forced loss gets</a:t>
            </a:r>
          </a:p>
        </p:txBody>
      </p:sp>
      <p:sp>
        <p:nvSpPr>
          <p:cNvPr id="6" name="TextBox 5"/>
          <p:cNvSpPr txBox="1"/>
          <p:nvPr/>
        </p:nvSpPr>
        <p:spPr>
          <a:xfrm>
            <a:off x="548640" y="6537960"/>
            <a:ext cx="11064240" cy="274320"/>
          </a:xfrm>
          <a:prstGeom prst="rect">
            <a:avLst/>
          </a:prstGeom>
          <a:noFill/>
        </p:spPr>
        <p:txBody>
          <a:bodyPr wrap="none">
            <a:spAutoFit/>
          </a:bodyPr>
          <a:lstStyle/>
          <a:p>
            <a:pPr algn="r">
              <a:defRPr sz="1000">
                <a:solidFill>
                  <a:srgbClr val="5F636E"/>
                </a:solidFill>
              </a:defRPr>
            </a:pPr>
            <a:r>
              <a:t>GCG Phases 4–7 Summary  |  Jul 7–12, 2026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65760"/>
          </a:xfrm>
          <a:prstGeom prst="rect">
            <a:avLst/>
          </a:prstGeom>
          <a:noFill/>
        </p:spPr>
        <p:txBody>
          <a:bodyPr wrap="none">
            <a:spAutoFit/>
          </a:bodyPr>
          <a:lstStyle/>
          <a:p>
            <a:pPr>
              <a:defRPr sz="1400" b="1">
                <a:solidFill>
                  <a:srgbClr val="2E6BE0"/>
                </a:solidFill>
              </a:defRPr>
            </a:pPr>
            <a:r>
              <a:t>KEY FINDING 2 OF 6</a:t>
            </a:r>
          </a:p>
        </p:txBody>
      </p:sp>
      <p:sp>
        <p:nvSpPr>
          <p:cNvPr id="3" name="TextBox 2"/>
          <p:cNvSpPr txBox="1"/>
          <p:nvPr/>
        </p:nvSpPr>
        <p:spPr>
          <a:xfrm>
            <a:off x="548640" y="685800"/>
            <a:ext cx="11064240" cy="822960"/>
          </a:xfrm>
          <a:prstGeom prst="rect">
            <a:avLst/>
          </a:prstGeom>
          <a:noFill/>
        </p:spPr>
        <p:txBody>
          <a:bodyPr wrap="square">
            <a:spAutoFit/>
          </a:bodyPr>
          <a:lstStyle/>
          <a:p>
            <a:pPr>
              <a:defRPr sz="3000" b="1">
                <a:solidFill>
                  <a:srgbClr val="1B1F2A"/>
                </a:solidFill>
              </a:defRPr>
            </a:pPr>
            <a:r>
              <a:t>Finding 2: Adversarial Suffixes Are Perfectly Detectable at Token 0</a:t>
            </a:r>
          </a:p>
        </p:txBody>
      </p:sp>
      <p:sp>
        <p:nvSpPr>
          <p:cNvPr id="4" name="Rectangle 3"/>
          <p:cNvSpPr/>
          <p:nvPr/>
        </p:nvSpPr>
        <p:spPr>
          <a:xfrm>
            <a:off x="548640" y="1417320"/>
            <a:ext cx="11064240" cy="25400"/>
          </a:xfrm>
          <a:prstGeom prst="rect">
            <a:avLst/>
          </a:prstGeom>
          <a:solidFill>
            <a:srgbClr val="2E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1064240" cy="4572000"/>
          </a:xfrm>
          <a:prstGeom prst="rect">
            <a:avLst/>
          </a:prstGeom>
          <a:noFill/>
        </p:spPr>
        <p:txBody>
          <a:bodyPr wrap="square">
            <a:spAutoFit/>
          </a:bodyPr>
          <a:lstStyle/>
          <a:p>
            <a:pPr>
              <a:spcAft>
                <a:spcPts val="1000"/>
              </a:spcAft>
              <a:defRPr sz="1800" b="1">
                <a:solidFill>
                  <a:srgbClr val="1B1F2A"/>
                </a:solidFill>
              </a:defRPr>
            </a:pPr>
            <a:r>
              <a:t>•  AUC = 1.000 at the very first generated token, across EVERY Qwen3 GCG variant tested — standard, CoT-prefix, refusal-direction, and all 4 optimization seeds</a:t>
            </a:r>
          </a:p>
          <a:p>
            <a:pPr>
              <a:spcAft>
                <a:spcPts val="1000"/>
              </a:spcAft>
              <a:defRPr sz="1800" b="1">
                <a:solidFill>
                  <a:srgbClr val="1B1F2A"/>
                </a:solidFill>
              </a:defRPr>
            </a:pPr>
            <a:r>
              <a:t>•  This detection happens during the hidden "thinking" phase, before any human-readable output text exists</a:t>
            </a:r>
          </a:p>
          <a:p>
            <a:pPr>
              <a:spcAft>
                <a:spcPts val="1000"/>
              </a:spcAft>
              <a:defRPr sz="1800" b="1">
                <a:solidFill>
                  <a:srgbClr val="1B1F2A"/>
                </a:solidFill>
              </a:defRPr>
            </a:pPr>
            <a:r>
              <a:t>•  Detection and attack success are INDEPENDENT: seed 44 (worst ASR, 1.3%) has the LARGEST representation shift from neutral (0.067) of any seed — a suffix can be maximally detectable and still fail to jailbreak</a:t>
            </a:r>
          </a:p>
          <a:p>
            <a:pPr>
              <a:spcAft>
                <a:spcPts val="1000"/>
              </a:spcAft>
              <a:defRPr sz="1800" b="1">
                <a:solidFill>
                  <a:srgbClr val="1B1F2A"/>
                </a:solidFill>
              </a:defRPr>
            </a:pPr>
            <a:r>
              <a:t>•  Exception: 4B (removing the representation-loss term) has AUC=0.500 at position 0 (literally undetectable there), peaking only at AUC=0.807 by position 18 — but this configuration also has near-0% ASR</a:t>
            </a:r>
          </a:p>
          <a:p>
            <a:pPr>
              <a:spcAft>
                <a:spcPts val="1000"/>
              </a:spcAft>
              <a:defRPr sz="1800" b="1">
                <a:solidFill>
                  <a:srgbClr val="1B1F2A"/>
                </a:solidFill>
              </a:defRPr>
            </a:pPr>
            <a:r>
              <a:t>•  → No configuration found in this project achieves both low detectability AND high attack success — there is a detection/evasion tradeoff, but evasion doesn't buy attack success</a:t>
            </a:r>
          </a:p>
        </p:txBody>
      </p:sp>
      <p:sp>
        <p:nvSpPr>
          <p:cNvPr id="6" name="TextBox 5"/>
          <p:cNvSpPr txBox="1"/>
          <p:nvPr/>
        </p:nvSpPr>
        <p:spPr>
          <a:xfrm>
            <a:off x="548640" y="6537960"/>
            <a:ext cx="11064240" cy="274320"/>
          </a:xfrm>
          <a:prstGeom prst="rect">
            <a:avLst/>
          </a:prstGeom>
          <a:noFill/>
        </p:spPr>
        <p:txBody>
          <a:bodyPr wrap="none">
            <a:spAutoFit/>
          </a:bodyPr>
          <a:lstStyle/>
          <a:p>
            <a:pPr algn="r">
              <a:defRPr sz="1000">
                <a:solidFill>
                  <a:srgbClr val="5F636E"/>
                </a:solidFill>
              </a:defRPr>
            </a:pPr>
            <a:r>
              <a:t>GCG Phases 4–7 Summary  |  Jul 7–12, 2026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65760"/>
          </a:xfrm>
          <a:prstGeom prst="rect">
            <a:avLst/>
          </a:prstGeom>
          <a:noFill/>
        </p:spPr>
        <p:txBody>
          <a:bodyPr wrap="none">
            <a:spAutoFit/>
          </a:bodyPr>
          <a:lstStyle/>
          <a:p>
            <a:pPr>
              <a:defRPr sz="1400" b="1">
                <a:solidFill>
                  <a:srgbClr val="2E6BE0"/>
                </a:solidFill>
              </a:defRPr>
            </a:pPr>
            <a:r>
              <a:t>KEY FINDING 3 OF 6</a:t>
            </a:r>
          </a:p>
        </p:txBody>
      </p:sp>
      <p:sp>
        <p:nvSpPr>
          <p:cNvPr id="3" name="TextBox 2"/>
          <p:cNvSpPr txBox="1"/>
          <p:nvPr/>
        </p:nvSpPr>
        <p:spPr>
          <a:xfrm>
            <a:off x="548640" y="685800"/>
            <a:ext cx="11064240" cy="822960"/>
          </a:xfrm>
          <a:prstGeom prst="rect">
            <a:avLst/>
          </a:prstGeom>
          <a:noFill/>
        </p:spPr>
        <p:txBody>
          <a:bodyPr wrap="square">
            <a:spAutoFit/>
          </a:bodyPr>
          <a:lstStyle/>
          <a:p>
            <a:pPr>
              <a:defRPr sz="3000" b="1">
                <a:solidFill>
                  <a:srgbClr val="1B1F2A"/>
                </a:solidFill>
              </a:defRPr>
            </a:pPr>
            <a:r>
              <a:t>Finding 3: Refusal-Direction Suppression Eliminated the CoT-Prefix Gain (Tested Setup)</a:t>
            </a:r>
          </a:p>
        </p:txBody>
      </p:sp>
      <p:sp>
        <p:nvSpPr>
          <p:cNvPr id="4" name="Rectangle 3"/>
          <p:cNvSpPr/>
          <p:nvPr/>
        </p:nvSpPr>
        <p:spPr>
          <a:xfrm>
            <a:off x="548640" y="1417320"/>
            <a:ext cx="11064240" cy="25400"/>
          </a:xfrm>
          <a:prstGeom prst="rect">
            <a:avLst/>
          </a:prstGeom>
          <a:solidFill>
            <a:srgbClr val="2E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1064240" cy="4572000"/>
          </a:xfrm>
          <a:prstGeom prst="rect">
            <a:avLst/>
          </a:prstGeom>
          <a:noFill/>
        </p:spPr>
        <p:txBody>
          <a:bodyPr wrap="square">
            <a:spAutoFit/>
          </a:bodyPr>
          <a:lstStyle/>
          <a:p>
            <a:pPr>
              <a:spcAft>
                <a:spcPts val="1000"/>
              </a:spcAft>
              <a:defRPr sz="1800" b="1">
                <a:solidFill>
                  <a:srgbClr val="1B1F2A"/>
                </a:solidFill>
              </a:defRPr>
            </a:pPr>
            <a:r>
              <a:t>•  Published result (CoT Hijacking paper): directly zeroing out the refusal direction in activations at inference time → 91% ASR on Qwen3</a:t>
            </a:r>
          </a:p>
          <a:p>
            <a:pPr>
              <a:spcAft>
                <a:spcPts val="1000"/>
              </a:spcAft>
              <a:defRPr sz="1800" b="1">
                <a:solidFill>
                  <a:srgbClr val="1B1F2A"/>
                </a:solidFill>
              </a:defRPr>
            </a:pPr>
            <a:r>
              <a:t>•  This project's attempt: LEARN a suffix via GCG that intrinsically produces low refusal-direction activation, as valid tokens (not a direct activation edit)</a:t>
            </a:r>
          </a:p>
          <a:p>
            <a:pPr>
              <a:spcAft>
                <a:spcPts val="1000"/>
              </a:spcAft>
              <a:defRPr sz="1800" b="1">
                <a:solidFill>
                  <a:srgbClr val="1B1F2A"/>
                </a:solidFill>
              </a:defRPr>
            </a:pPr>
            <a:r>
              <a:t>•  Result: 0% ASR, net-negative — the constraint backfires</a:t>
            </a:r>
          </a:p>
          <a:p>
            <a:pPr>
              <a:spcAft>
                <a:spcPts val="1000"/>
              </a:spcAft>
              <a:defRPr sz="1800" b="1">
                <a:solidFill>
                  <a:srgbClr val="1B1F2A"/>
                </a:solidFill>
              </a:defRPr>
            </a:pPr>
            <a:r>
              <a:t>•  Why: forcing the optimizer to also suppress the refusal direction pushes it toward unusual token combinations; those unusual tokens are themselves immediately detectable (AUC=1.000) and trigger refusal through OTHER pathways not captured by the single 1-D refusal-direction vector</a:t>
            </a:r>
          </a:p>
          <a:p>
            <a:pPr>
              <a:spcAft>
                <a:spcPts val="1000"/>
              </a:spcAft>
              <a:defRPr sz="1800" b="1">
                <a:solidFill>
                  <a:srgbClr val="1B1F2A"/>
                </a:solidFill>
              </a:defRPr>
            </a:pPr>
            <a:r>
              <a:t>•  Under the one layer / one lambda / one optimization-seed setup tested here, the two objectives did not combine productively in valid suffix-token space; a broader incompatibility claim would need the layer/lambda/seed sweep flagged as future work in docs/GCG_REFUSAL_DIRECTION_AUDIT.md</a:t>
            </a:r>
          </a:p>
        </p:txBody>
      </p:sp>
      <p:sp>
        <p:nvSpPr>
          <p:cNvPr id="6" name="TextBox 5"/>
          <p:cNvSpPr txBox="1"/>
          <p:nvPr/>
        </p:nvSpPr>
        <p:spPr>
          <a:xfrm>
            <a:off x="548640" y="6537960"/>
            <a:ext cx="11064240" cy="274320"/>
          </a:xfrm>
          <a:prstGeom prst="rect">
            <a:avLst/>
          </a:prstGeom>
          <a:noFill/>
        </p:spPr>
        <p:txBody>
          <a:bodyPr wrap="none">
            <a:spAutoFit/>
          </a:bodyPr>
          <a:lstStyle/>
          <a:p>
            <a:pPr algn="r">
              <a:defRPr sz="1000">
                <a:solidFill>
                  <a:srgbClr val="5F636E"/>
                </a:solidFill>
              </a:defRPr>
            </a:pPr>
            <a:r>
              <a:t>GCG Phases 4–7 Summary  |  Jul 7–12, 2026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65760"/>
          </a:xfrm>
          <a:prstGeom prst="rect">
            <a:avLst/>
          </a:prstGeom>
          <a:noFill/>
        </p:spPr>
        <p:txBody>
          <a:bodyPr wrap="none">
            <a:spAutoFit/>
          </a:bodyPr>
          <a:lstStyle/>
          <a:p>
            <a:pPr>
              <a:defRPr sz="1400" b="1">
                <a:solidFill>
                  <a:srgbClr val="2E6BE0"/>
                </a:solidFill>
              </a:defRPr>
            </a:pPr>
            <a:r>
              <a:t>KEY FINDING 4 OF 6</a:t>
            </a:r>
          </a:p>
        </p:txBody>
      </p:sp>
      <p:sp>
        <p:nvSpPr>
          <p:cNvPr id="3" name="TextBox 2"/>
          <p:cNvSpPr txBox="1"/>
          <p:nvPr/>
        </p:nvSpPr>
        <p:spPr>
          <a:xfrm>
            <a:off x="548640" y="685800"/>
            <a:ext cx="11064240" cy="822960"/>
          </a:xfrm>
          <a:prstGeom prst="rect">
            <a:avLst/>
          </a:prstGeom>
          <a:noFill/>
        </p:spPr>
        <p:txBody>
          <a:bodyPr wrap="square">
            <a:spAutoFit/>
          </a:bodyPr>
          <a:lstStyle/>
          <a:p>
            <a:pPr>
              <a:defRPr sz="3000" b="1">
                <a:solidFill>
                  <a:srgbClr val="1B1F2A"/>
                </a:solidFill>
              </a:defRPr>
            </a:pPr>
            <a:r>
              <a:t>Finding 4: Gemma4 Resisted Every Tested GCG Variant (Format Hypothesis Ruled Out)</a:t>
            </a:r>
          </a:p>
        </p:txBody>
      </p:sp>
      <p:sp>
        <p:nvSpPr>
          <p:cNvPr id="4" name="Rectangle 3"/>
          <p:cNvSpPr/>
          <p:nvPr/>
        </p:nvSpPr>
        <p:spPr>
          <a:xfrm>
            <a:off x="548640" y="1417320"/>
            <a:ext cx="11064240" cy="25400"/>
          </a:xfrm>
          <a:prstGeom prst="rect">
            <a:avLst/>
          </a:prstGeom>
          <a:solidFill>
            <a:srgbClr val="2E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1064240" cy="4572000"/>
          </a:xfrm>
          <a:prstGeom prst="rect">
            <a:avLst/>
          </a:prstGeom>
          <a:noFill/>
        </p:spPr>
        <p:txBody>
          <a:bodyPr wrap="square">
            <a:spAutoFit/>
          </a:bodyPr>
          <a:lstStyle/>
          <a:p>
            <a:pPr>
              <a:spcAft>
                <a:spcPts val="1000"/>
              </a:spcAft>
              <a:defRPr sz="1800" b="1">
                <a:solidFill>
                  <a:srgbClr val="1B1F2A"/>
                </a:solidFill>
              </a:defRPr>
            </a:pPr>
            <a:r>
              <a:t>•  Every Gemma4 condition tested across the whole project landed at 0% ASR (or 1.3% — statistical noise, 1 lucky sample)</a:t>
            </a:r>
          </a:p>
          <a:p>
            <a:pPr>
              <a:spcAft>
                <a:spcPts val="1000"/>
              </a:spcAft>
              <a:defRPr sz="1800" b="1">
                <a:solidFill>
                  <a:srgbClr val="1B1F2A"/>
                </a:solidFill>
              </a:defRPr>
            </a:pPr>
            <a:r>
              <a:t>•  Ruled out one by one: standard GCG with thinking ON (4C) — 0%; text transfer from Qwen3 (4E) — 0%; refusal-direction loss (6A) — 0% (noise); CoT-channel targeting (6B) — optimizer couldn't even converge; thinking OFF, format barrier removed (7C) — still 0%, despite BETTER loss convergence than the best Qwen3 attack</a:t>
            </a:r>
          </a:p>
          <a:p>
            <a:pPr>
              <a:spcAft>
                <a:spcPts val="1000"/>
              </a:spcAft>
              <a:defRPr sz="1800" b="1">
                <a:solidFill>
                  <a:srgbClr val="1B1F2A"/>
                </a:solidFill>
              </a:defRPr>
            </a:pPr>
            <a:r>
              <a:t>•  Structural explanation: Gemma4's measured refusal-direction separation (0.498) is 58% stronger than Qwen3's (0.315) — a bigger, cleaner internal safety signal</a:t>
            </a:r>
          </a:p>
          <a:p>
            <a:pPr>
              <a:spcAft>
                <a:spcPts val="1000"/>
              </a:spcAft>
              <a:defRPr sz="1800" b="1">
                <a:solidFill>
                  <a:srgbClr val="1B1F2A"/>
                </a:solidFill>
              </a:defRPr>
            </a:pPr>
            <a:r>
              <a:t>•  Whether Gemma4's safety is distributed across multiple mechanisms rather than reducible to one 1-D direction is a hypothesis suggested by these results, not directly tested (would need activation-patching analogous to the prior paper's Qwen3 ablation, applied to Gemma4)</a:t>
            </a:r>
          </a:p>
        </p:txBody>
      </p:sp>
      <p:sp>
        <p:nvSpPr>
          <p:cNvPr id="6" name="TextBox 5"/>
          <p:cNvSpPr txBox="1"/>
          <p:nvPr/>
        </p:nvSpPr>
        <p:spPr>
          <a:xfrm>
            <a:off x="548640" y="6537960"/>
            <a:ext cx="11064240" cy="274320"/>
          </a:xfrm>
          <a:prstGeom prst="rect">
            <a:avLst/>
          </a:prstGeom>
          <a:noFill/>
        </p:spPr>
        <p:txBody>
          <a:bodyPr wrap="none">
            <a:spAutoFit/>
          </a:bodyPr>
          <a:lstStyle/>
          <a:p>
            <a:pPr algn="r">
              <a:defRPr sz="1000">
                <a:solidFill>
                  <a:srgbClr val="5F636E"/>
                </a:solidFill>
              </a:defRPr>
            </a:pPr>
            <a:r>
              <a:t>GCG Phases 4–7 Summary  |  Jul 7–12, 2026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65760"/>
          </a:xfrm>
          <a:prstGeom prst="rect">
            <a:avLst/>
          </a:prstGeom>
          <a:noFill/>
        </p:spPr>
        <p:txBody>
          <a:bodyPr wrap="none">
            <a:spAutoFit/>
          </a:bodyPr>
          <a:lstStyle/>
          <a:p>
            <a:pPr>
              <a:defRPr sz="1400" b="1">
                <a:solidFill>
                  <a:srgbClr val="2E6BE0"/>
                </a:solidFill>
              </a:defRPr>
            </a:pPr>
            <a:r>
              <a:t>KEY FINDING 5 OF 6</a:t>
            </a:r>
          </a:p>
        </p:txBody>
      </p:sp>
      <p:sp>
        <p:nvSpPr>
          <p:cNvPr id="3" name="TextBox 2"/>
          <p:cNvSpPr txBox="1"/>
          <p:nvPr/>
        </p:nvSpPr>
        <p:spPr>
          <a:xfrm>
            <a:off x="548640" y="685800"/>
            <a:ext cx="11064240" cy="822960"/>
          </a:xfrm>
          <a:prstGeom prst="rect">
            <a:avLst/>
          </a:prstGeom>
          <a:noFill/>
        </p:spPr>
        <p:txBody>
          <a:bodyPr wrap="square">
            <a:spAutoFit/>
          </a:bodyPr>
          <a:lstStyle/>
          <a:p>
            <a:pPr>
              <a:defRPr sz="3000" b="1">
                <a:solidFill>
                  <a:srgbClr val="1B1F2A"/>
                </a:solidFill>
              </a:defRPr>
            </a:pPr>
            <a:r>
              <a:t>Finding 5: Unseen-Seed Baselines Are Inflated — and Uplift Varies by Seed</a:t>
            </a:r>
          </a:p>
        </p:txBody>
      </p:sp>
      <p:sp>
        <p:nvSpPr>
          <p:cNvPr id="4" name="Rectangle 3"/>
          <p:cNvSpPr/>
          <p:nvPr/>
        </p:nvSpPr>
        <p:spPr>
          <a:xfrm>
            <a:off x="548640" y="1417320"/>
            <a:ext cx="11064240" cy="25400"/>
          </a:xfrm>
          <a:prstGeom prst="rect">
            <a:avLst/>
          </a:prstGeom>
          <a:solidFill>
            <a:srgbClr val="2E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1064240" cy="4572000"/>
          </a:xfrm>
          <a:prstGeom prst="rect">
            <a:avLst/>
          </a:prstGeom>
          <a:noFill/>
        </p:spPr>
        <p:txBody>
          <a:bodyPr wrap="square">
            <a:spAutoFit/>
          </a:bodyPr>
          <a:lstStyle/>
          <a:p>
            <a:pPr>
              <a:spcAft>
                <a:spcPts val="1000"/>
              </a:spcAft>
              <a:defRPr sz="1800" b="1">
                <a:solidFill>
                  <a:srgbClr val="1B1F2A"/>
                </a:solidFill>
              </a:defRPr>
            </a:pPr>
            <a:r>
              <a:t>•  The no-suffix baseline (neutral_control) ASR is much higher for unseen seeds 100/200/300 (~12.0%) than for training seeds 42/43/44 (1.9–4.0%) — seeds 100/200/300 are intrinsically more 'permissive' during generation, unrelated to any suffix</a:t>
            </a:r>
          </a:p>
          <a:p>
            <a:pPr>
              <a:spcAft>
                <a:spcPts val="1000"/>
              </a:spcAft>
              <a:defRPr sz="1800" b="1">
                <a:solidFill>
                  <a:srgbClr val="1B1F2A"/>
                </a:solidFill>
              </a:defRPr>
            </a:pPr>
            <a:r>
              <a:t>•  This means the headline ASR number for unseen seeds is not directly comparable to training-seed ASR — the meaningful metric is always the pp-uplift over that seed's OWN baseline, not the raw percentage</a:t>
            </a:r>
          </a:p>
          <a:p>
            <a:pPr>
              <a:spcAft>
                <a:spcPts val="1000"/>
              </a:spcAft>
              <a:defRPr sz="1800" b="1">
                <a:solidFill>
                  <a:srgbClr val="1B1F2A"/>
                </a:solidFill>
              </a:defRPr>
            </a:pPr>
            <a:r>
              <a:t>•  Uplift varies substantially by which seed generated the attacking suffix: seed 44 is net-negative in BOTH training (−1.4pp) and unseen (−8.0pp) regimes; seed 45 is best in BOTH regimes (+12.0pp training, +9.3pp unseen)</a:t>
            </a:r>
          </a:p>
          <a:p>
            <a:pPr>
              <a:spcAft>
                <a:spcPts val="1000"/>
              </a:spcAft>
              <a:defRPr sz="1800" b="1">
                <a:solidFill>
                  <a:srgbClr val="1B1F2A"/>
                </a:solidFill>
              </a:defRPr>
            </a:pPr>
            <a:r>
              <a:t>•  Rank order is consistent across regimes: s45 &gt; s43 ≈ s42 ≫ s44 — "good" or "bad" suffix properties generalize, even though the absolute ASR numbers shift with the evaluation seed</a:t>
            </a:r>
          </a:p>
        </p:txBody>
      </p:sp>
      <p:sp>
        <p:nvSpPr>
          <p:cNvPr id="6" name="TextBox 5"/>
          <p:cNvSpPr txBox="1"/>
          <p:nvPr/>
        </p:nvSpPr>
        <p:spPr>
          <a:xfrm>
            <a:off x="548640" y="6537960"/>
            <a:ext cx="11064240" cy="274320"/>
          </a:xfrm>
          <a:prstGeom prst="rect">
            <a:avLst/>
          </a:prstGeom>
          <a:noFill/>
        </p:spPr>
        <p:txBody>
          <a:bodyPr wrap="none">
            <a:spAutoFit/>
          </a:bodyPr>
          <a:lstStyle/>
          <a:p>
            <a:pPr algn="r">
              <a:defRPr sz="1000">
                <a:solidFill>
                  <a:srgbClr val="5F636E"/>
                </a:solidFill>
              </a:defRPr>
            </a:pPr>
            <a:r>
              <a:t>GCG Phases 4–7 Summary  |  Jul 7–12, 2026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65760"/>
          </a:xfrm>
          <a:prstGeom prst="rect">
            <a:avLst/>
          </a:prstGeom>
          <a:noFill/>
        </p:spPr>
        <p:txBody>
          <a:bodyPr wrap="none">
            <a:spAutoFit/>
          </a:bodyPr>
          <a:lstStyle/>
          <a:p>
            <a:pPr>
              <a:defRPr sz="1400" b="1">
                <a:solidFill>
                  <a:srgbClr val="2E6BE0"/>
                </a:solidFill>
              </a:defRPr>
            </a:pPr>
            <a:r>
              <a:t>KEY FINDING 6 OF 6</a:t>
            </a:r>
          </a:p>
        </p:txBody>
      </p:sp>
      <p:sp>
        <p:nvSpPr>
          <p:cNvPr id="3" name="TextBox 2"/>
          <p:cNvSpPr txBox="1"/>
          <p:nvPr/>
        </p:nvSpPr>
        <p:spPr>
          <a:xfrm>
            <a:off x="548640" y="685800"/>
            <a:ext cx="11064240" cy="822960"/>
          </a:xfrm>
          <a:prstGeom prst="rect">
            <a:avLst/>
          </a:prstGeom>
          <a:noFill/>
        </p:spPr>
        <p:txBody>
          <a:bodyPr wrap="square">
            <a:spAutoFit/>
          </a:bodyPr>
          <a:lstStyle/>
          <a:p>
            <a:pPr>
              <a:defRPr sz="3000" b="1">
                <a:solidFill>
                  <a:srgbClr val="1B1F2A"/>
                </a:solidFill>
              </a:defRPr>
            </a:pPr>
            <a:r>
              <a:t>Finding 6: Optimization Loss Does NOT Predict Attack Success</a:t>
            </a:r>
          </a:p>
        </p:txBody>
      </p:sp>
      <p:sp>
        <p:nvSpPr>
          <p:cNvPr id="4" name="Rectangle 3"/>
          <p:cNvSpPr/>
          <p:nvPr/>
        </p:nvSpPr>
        <p:spPr>
          <a:xfrm>
            <a:off x="548640" y="1417320"/>
            <a:ext cx="11064240" cy="25400"/>
          </a:xfrm>
          <a:prstGeom prst="rect">
            <a:avLst/>
          </a:prstGeom>
          <a:solidFill>
            <a:srgbClr val="2E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1064240" cy="4572000"/>
          </a:xfrm>
          <a:prstGeom prst="rect">
            <a:avLst/>
          </a:prstGeom>
          <a:noFill/>
        </p:spPr>
        <p:txBody>
          <a:bodyPr wrap="square">
            <a:spAutoFit/>
          </a:bodyPr>
          <a:lstStyle/>
          <a:p>
            <a:pPr>
              <a:spcAft>
                <a:spcPts val="1000"/>
              </a:spcAft>
              <a:defRPr sz="1800" b="1">
                <a:solidFill>
                  <a:srgbClr val="1B1F2A"/>
                </a:solidFill>
              </a:defRPr>
            </a:pPr>
            <a:r>
              <a:t>•  Seed 44 (loss=19.91) and seed 45 (loss=19.98) differ by only 0.07 in optimization loss — essentially tied</a:t>
            </a:r>
          </a:p>
          <a:p>
            <a:pPr>
              <a:spcAft>
                <a:spcPts val="1000"/>
              </a:spcAft>
              <a:defRPr sz="1800" b="1">
                <a:solidFill>
                  <a:srgbClr val="1B1F2A"/>
                </a:solidFill>
              </a:defRPr>
            </a:pPr>
            <a:r>
              <a:t>•  Yet their ASR differs by 11×: 1.3% (seed 44, net-negative) vs. 16.0% (seed 45, the project's best result)</a:t>
            </a:r>
          </a:p>
          <a:p>
            <a:pPr>
              <a:spcAft>
                <a:spcPts val="1000"/>
              </a:spcAft>
              <a:defRPr sz="1800" b="1">
                <a:solidFill>
                  <a:srgbClr val="1B1F2A"/>
                </a:solidFill>
              </a:defRPr>
            </a:pPr>
            <a:r>
              <a:t>•  Seed 42 (the ORIGINAL 5A run) actually has the BEST loss of all four seeds (20.52) yet only an intermediate ASR (10.7%) — the loss-to-ASR relationship is not even monotonic across the four seeds tested</a:t>
            </a:r>
          </a:p>
          <a:p>
            <a:pPr>
              <a:spcAft>
                <a:spcPts val="1000"/>
              </a:spcAft>
              <a:defRPr sz="1800" b="1">
                <a:solidFill>
                  <a:srgbClr val="1B1F2A"/>
                </a:solidFill>
              </a:defRPr>
            </a:pPr>
            <a:r>
              <a:t>•  Interpretation: teacher-forced loss measures how well a suffix forces the model to PREDICT a fixed target sequence when given that sequence; ASR measures whether the model GENERATES compliant text entirely on its own — different optimization runs (seeds) find different 'local minima' with similar loss but very different free-generation behavior</a:t>
            </a:r>
          </a:p>
          <a:p>
            <a:pPr>
              <a:spcAft>
                <a:spcPts val="1000"/>
              </a:spcAft>
              <a:defRPr sz="1800" b="1">
                <a:solidFill>
                  <a:srgbClr val="1B1F2A"/>
                </a:solidFill>
              </a:defRPr>
            </a:pPr>
            <a:r>
              <a:t>•  Practical implication: selecting/reporting GCG suffixes by loss alone (standard practice in the literature) is inadequate here; live-ASR-based selection (5C) or multi-seed evaluation is necessary for trustworthy results</a:t>
            </a:r>
          </a:p>
        </p:txBody>
      </p:sp>
      <p:sp>
        <p:nvSpPr>
          <p:cNvPr id="6" name="TextBox 5"/>
          <p:cNvSpPr txBox="1"/>
          <p:nvPr/>
        </p:nvSpPr>
        <p:spPr>
          <a:xfrm>
            <a:off x="548640" y="6537960"/>
            <a:ext cx="11064240" cy="274320"/>
          </a:xfrm>
          <a:prstGeom prst="rect">
            <a:avLst/>
          </a:prstGeom>
          <a:noFill/>
        </p:spPr>
        <p:txBody>
          <a:bodyPr wrap="none">
            <a:spAutoFit/>
          </a:bodyPr>
          <a:lstStyle/>
          <a:p>
            <a:pPr algn="r">
              <a:defRPr sz="1000">
                <a:solidFill>
                  <a:srgbClr val="5F636E"/>
                </a:solidFill>
              </a:defRPr>
            </a:pPr>
            <a:r>
              <a:t>GCG Phases 4–7 Summary  |  Jul 7–12, 2026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65760"/>
          </a:xfrm>
          <a:prstGeom prst="rect">
            <a:avLst/>
          </a:prstGeom>
          <a:noFill/>
        </p:spPr>
        <p:txBody>
          <a:bodyPr wrap="none">
            <a:spAutoFit/>
          </a:bodyPr>
          <a:lstStyle/>
          <a:p>
            <a:pPr>
              <a:defRPr sz="1400" b="1">
                <a:solidFill>
                  <a:srgbClr val="2E6BE0"/>
                </a:solidFill>
              </a:defRPr>
            </a:pPr>
            <a:r>
              <a:t>CONTEXT</a:t>
            </a:r>
          </a:p>
        </p:txBody>
      </p:sp>
      <p:sp>
        <p:nvSpPr>
          <p:cNvPr id="3" name="TextBox 2"/>
          <p:cNvSpPr txBox="1"/>
          <p:nvPr/>
        </p:nvSpPr>
        <p:spPr>
          <a:xfrm>
            <a:off x="548640" y="685800"/>
            <a:ext cx="11064240" cy="822960"/>
          </a:xfrm>
          <a:prstGeom prst="rect">
            <a:avLst/>
          </a:prstGeom>
          <a:noFill/>
        </p:spPr>
        <p:txBody>
          <a:bodyPr wrap="square">
            <a:spAutoFit/>
          </a:bodyPr>
          <a:lstStyle/>
          <a:p>
            <a:pPr>
              <a:defRPr sz="3000" b="1">
                <a:solidFill>
                  <a:srgbClr val="1B1F2A"/>
                </a:solidFill>
              </a:defRPr>
            </a:pPr>
            <a:r>
              <a:t>Comparison with Prior Published Work</a:t>
            </a:r>
          </a:p>
        </p:txBody>
      </p:sp>
      <p:sp>
        <p:nvSpPr>
          <p:cNvPr id="4" name="Rectangle 3"/>
          <p:cNvSpPr/>
          <p:nvPr/>
        </p:nvSpPr>
        <p:spPr>
          <a:xfrm>
            <a:off x="548640" y="1417320"/>
            <a:ext cx="11064240" cy="25400"/>
          </a:xfrm>
          <a:prstGeom prst="rect">
            <a:avLst/>
          </a:prstGeom>
          <a:solidFill>
            <a:srgbClr val="2E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48640" y="1554480"/>
          <a:ext cx="11064240" cy="3456432"/>
        </p:xfrm>
        <a:graphic>
          <a:graphicData uri="http://schemas.openxmlformats.org/drawingml/2006/table">
            <a:tbl>
              <a:tblPr firstRow="1" bandRow="1">
                <a:tableStyleId>{5C22544A-7EE6-4342-B048-85BDC9FD1C3A}</a:tableStyleId>
              </a:tblPr>
              <a:tblGrid>
                <a:gridCol w="4023360"/>
                <a:gridCol w="4023360"/>
                <a:gridCol w="3017520"/>
              </a:tblGrid>
              <a:tr h="384048">
                <a:tc>
                  <a:txBody>
                    <a:bodyPr/>
                    <a:lstStyle/>
                    <a:p>
                      <a:pPr>
                        <a:defRPr b="1" sz="1300">
                          <a:solidFill>
                            <a:srgbClr val="FFFFFF"/>
                          </a:solidFill>
                        </a:defRPr>
                      </a:pPr>
                      <a:r>
                        <a:t>Result</a:t>
                      </a:r>
                    </a:p>
                  </a:txBody>
                  <a:tcPr anchor="ctr">
                    <a:solidFill>
                      <a:srgbClr val="1B1F2A"/>
                    </a:solidFill>
                  </a:tcPr>
                </a:tc>
                <a:tc>
                  <a:txBody>
                    <a:bodyPr/>
                    <a:lstStyle/>
                    <a:p>
                      <a:pPr>
                        <a:defRPr b="1" sz="1300">
                          <a:solidFill>
                            <a:srgbClr val="FFFFFF"/>
                          </a:solidFill>
                        </a:defRPr>
                      </a:pPr>
                      <a:r>
                        <a:t>This project</a:t>
                      </a:r>
                    </a:p>
                  </a:txBody>
                  <a:tcPr anchor="ctr">
                    <a:solidFill>
                      <a:srgbClr val="1B1F2A"/>
                    </a:solidFill>
                  </a:tcPr>
                </a:tc>
                <a:tc>
                  <a:txBody>
                    <a:bodyPr/>
                    <a:lstStyle/>
                    <a:p>
                      <a:pPr>
                        <a:defRPr b="1" sz="1300">
                          <a:solidFill>
                            <a:srgbClr val="FFFFFF"/>
                          </a:solidFill>
                        </a:defRPr>
                      </a:pPr>
                      <a:r>
                        <a:t>CoT Hijacking paper</a:t>
                      </a:r>
                    </a:p>
                  </a:txBody>
                  <a:tcPr anchor="ctr">
                    <a:solidFill>
                      <a:srgbClr val="1B1F2A"/>
                    </a:solidFill>
                  </a:tcPr>
                </a:tc>
              </a:tr>
              <a:tr h="384048">
                <a:tc>
                  <a:txBody>
                    <a:bodyPr/>
                    <a:lstStyle/>
                    <a:p>
                      <a:pPr>
                        <a:defRPr sz="1200">
                          <a:solidFill>
                            <a:srgbClr val="1B1F2A"/>
                          </a:solidFill>
                        </a:defRPr>
                      </a:pPr>
                      <a:r>
                        <a:t>Best-single-run Qwen3 ASR via learned GCG suffix</a:t>
                      </a:r>
                    </a:p>
                  </a:txBody>
                  <a:tcPr anchor="ctr">
                    <a:solidFill>
                      <a:srgbClr val="F4F6F9"/>
                    </a:solidFill>
                  </a:tcPr>
                </a:tc>
                <a:tc>
                  <a:txBody>
                    <a:bodyPr/>
                    <a:lstStyle/>
                    <a:p>
                      <a:pPr>
                        <a:defRPr sz="1200">
                          <a:solidFill>
                            <a:srgbClr val="1B1F2A"/>
                          </a:solidFill>
                        </a:defRPr>
                      </a:pPr>
                      <a:r>
                        <a:t>16.0% (7B seed 45, 25 behaviors)</a:t>
                      </a:r>
                    </a:p>
                  </a:txBody>
                  <a:tcPr anchor="ctr">
                    <a:solidFill>
                      <a:srgbClr val="F4F6F9"/>
                    </a:solidFill>
                  </a:tcPr>
                </a:tc>
                <a:tc>
                  <a:txBody>
                    <a:bodyPr/>
                    <a:lstStyle/>
                    <a:p>
                      <a:pPr>
                        <a:defRPr sz="1200">
                          <a:solidFill>
                            <a:srgbClr val="1B1F2A"/>
                          </a:solidFill>
                        </a:defRPr>
                      </a:pPr>
                      <a:r>
                        <a:t>N/A — no GCG experiments in the paper</a:t>
                      </a:r>
                    </a:p>
                  </a:txBody>
                  <a:tcPr anchor="ctr">
                    <a:solidFill>
                      <a:srgbClr val="F4F6F9"/>
                    </a:solidFill>
                  </a:tcPr>
                </a:tc>
              </a:tr>
              <a:tr h="384048">
                <a:tc>
                  <a:txBody>
                    <a:bodyPr/>
                    <a:lstStyle/>
                    <a:p>
                      <a:pPr>
                        <a:defRPr sz="1200">
                          <a:solidFill>
                            <a:srgbClr val="1B1F2A"/>
                          </a:solidFill>
                        </a:defRPr>
                      </a:pPr>
                      <a:r>
                        <a:t>Realistic full-benchmark Qwen3 ASR (7A, 520 behaviors)</a:t>
                      </a:r>
                    </a:p>
                  </a:txBody>
                  <a:tcPr anchor="ctr">
                    <a:solidFill>
                      <a:srgbClr val="FFFFFF"/>
                    </a:solidFill>
                  </a:tcPr>
                </a:tc>
                <a:tc>
                  <a:txBody>
                    <a:bodyPr/>
                    <a:lstStyle/>
                    <a:p>
                      <a:pPr>
                        <a:defRPr sz="1200">
                          <a:solidFill>
                            <a:srgbClr val="1B1F2A"/>
                          </a:solidFill>
                        </a:defRPr>
                      </a:pPr>
                      <a:r>
                        <a:t>8.01% train / 8.92% unseen seeds</a:t>
                      </a:r>
                    </a:p>
                  </a:txBody>
                  <a:tcPr anchor="ctr">
                    <a:solidFill>
                      <a:srgbClr val="FFFFFF"/>
                    </a:solidFill>
                  </a:tcPr>
                </a:tc>
                <a:tc>
                  <a:txBody>
                    <a:bodyPr/>
                    <a:lstStyle/>
                    <a:p>
                      <a:pPr>
                        <a:defRPr sz="1200">
                          <a:solidFill>
                            <a:srgbClr val="1B1F2A"/>
                          </a:solidFill>
                        </a:defRPr>
                      </a:pPr>
                      <a:r>
                        <a:t>N/A</a:t>
                      </a:r>
                    </a:p>
                  </a:txBody>
                  <a:tcPr anchor="ctr">
                    <a:solidFill>
                      <a:srgbClr val="FFFFFF"/>
                    </a:solidFill>
                  </a:tcPr>
                </a:tc>
              </a:tr>
              <a:tr h="384048">
                <a:tc>
                  <a:txBody>
                    <a:bodyPr/>
                    <a:lstStyle/>
                    <a:p>
                      <a:pPr>
                        <a:defRPr sz="1200">
                          <a:solidFill>
                            <a:srgbClr val="1B1F2A"/>
                          </a:solidFill>
                        </a:defRPr>
                      </a:pPr>
                      <a:r>
                        <a:t>Best Qwen3 ASR via direct inference-time activation ablation</a:t>
                      </a:r>
                    </a:p>
                  </a:txBody>
                  <a:tcPr anchor="ctr">
                    <a:solidFill>
                      <a:srgbClr val="F4F6F9"/>
                    </a:solidFill>
                  </a:tcPr>
                </a:tc>
                <a:tc>
                  <a:txBody>
                    <a:bodyPr/>
                    <a:lstStyle/>
                    <a:p>
                      <a:pPr>
                        <a:defRPr sz="1200">
                          <a:solidFill>
                            <a:srgbClr val="1B1F2A"/>
                          </a:solidFill>
                        </a:defRPr>
                      </a:pPr>
                      <a:r>
                        <a:t>N/A — not attempted</a:t>
                      </a:r>
                    </a:p>
                  </a:txBody>
                  <a:tcPr anchor="ctr">
                    <a:solidFill>
                      <a:srgbClr val="F4F6F9"/>
                    </a:solidFill>
                  </a:tcPr>
                </a:tc>
                <a:tc>
                  <a:txBody>
                    <a:bodyPr/>
                    <a:lstStyle/>
                    <a:p>
                      <a:pPr>
                        <a:defRPr sz="1200">
                          <a:solidFill>
                            <a:srgbClr val="1B1F2A"/>
                          </a:solidFill>
                        </a:defRPr>
                      </a:pPr>
                      <a:r>
                        <a:t>91% (direct v_refusal ablation)</a:t>
                      </a:r>
                    </a:p>
                  </a:txBody>
                  <a:tcPr anchor="ctr">
                    <a:solidFill>
                      <a:srgbClr val="F4F6F9"/>
                    </a:solidFill>
                  </a:tcPr>
                </a:tc>
              </a:tr>
              <a:tr h="384048">
                <a:tc>
                  <a:txBody>
                    <a:bodyPr/>
                    <a:lstStyle/>
                    <a:p>
                      <a:pPr>
                        <a:defRPr sz="1200">
                          <a:solidFill>
                            <a:srgbClr val="1B1F2A"/>
                          </a:solidFill>
                        </a:defRPr>
                      </a:pPr>
                      <a:r>
                        <a:t>Detection AUC (Qwen3, GCG suffix present)</a:t>
                      </a:r>
                    </a:p>
                  </a:txBody>
                  <a:tcPr anchor="ctr">
                    <a:solidFill>
                      <a:srgbClr val="FFFFFF"/>
                    </a:solidFill>
                  </a:tcPr>
                </a:tc>
                <a:tc>
                  <a:txBody>
                    <a:bodyPr/>
                    <a:lstStyle/>
                    <a:p>
                      <a:pPr>
                        <a:defRPr sz="1200">
                          <a:solidFill>
                            <a:srgbClr val="1B1F2A"/>
                          </a:solidFill>
                        </a:defRPr>
                      </a:pPr>
                      <a:r>
                        <a:t>1.000 at generated-token position 0 (holds at full 520-behavior scale)</a:t>
                      </a:r>
                    </a:p>
                  </a:txBody>
                  <a:tcPr anchor="ctr">
                    <a:solidFill>
                      <a:srgbClr val="FFFFFF"/>
                    </a:solidFill>
                  </a:tcPr>
                </a:tc>
                <a:tc>
                  <a:txBody>
                    <a:bodyPr/>
                    <a:lstStyle/>
                    <a:p>
                      <a:pPr>
                        <a:defRPr sz="1200">
                          <a:solidFill>
                            <a:srgbClr val="1B1F2A"/>
                          </a:solidFill>
                        </a:defRPr>
                      </a:pPr>
                      <a:r>
                        <a:t>N/A</a:t>
                      </a:r>
                    </a:p>
                  </a:txBody>
                  <a:tcPr anchor="ctr">
                    <a:solidFill>
                      <a:srgbClr val="FFFFFF"/>
                    </a:solidFill>
                  </a:tcPr>
                </a:tc>
              </a:tr>
              <a:tr h="384048">
                <a:tc>
                  <a:txBody>
                    <a:bodyPr/>
                    <a:lstStyle/>
                    <a:p>
                      <a:pPr>
                        <a:defRPr sz="1200">
                          <a:solidFill>
                            <a:srgbClr val="1B1F2A"/>
                          </a:solidFill>
                        </a:defRPr>
                      </a:pPr>
                      <a:r>
                        <a:t>Gemma4 ASR (any method tried)</a:t>
                      </a:r>
                    </a:p>
                  </a:txBody>
                  <a:tcPr anchor="ctr">
                    <a:solidFill>
                      <a:srgbClr val="F4F6F9"/>
                    </a:solidFill>
                  </a:tcPr>
                </a:tc>
                <a:tc>
                  <a:txBody>
                    <a:bodyPr/>
                    <a:lstStyle/>
                    <a:p>
                      <a:pPr>
                        <a:defRPr sz="1200">
                          <a:solidFill>
                            <a:srgbClr val="1B1F2A"/>
                          </a:solidFill>
                        </a:defRPr>
                      </a:pPr>
                      <a:r>
                        <a:t>0% across all methods</a:t>
                      </a:r>
                    </a:p>
                  </a:txBody>
                  <a:tcPr anchor="ctr">
                    <a:solidFill>
                      <a:srgbClr val="F4F6F9"/>
                    </a:solidFill>
                  </a:tcPr>
                </a:tc>
                <a:tc>
                  <a:txBody>
                    <a:bodyPr/>
                    <a:lstStyle/>
                    <a:p>
                      <a:pPr>
                        <a:defRPr sz="1200">
                          <a:solidFill>
                            <a:srgbClr val="1B1F2A"/>
                          </a:solidFill>
                        </a:defRPr>
                      </a:pPr>
                      <a:r>
                        <a:t>N/A</a:t>
                      </a:r>
                    </a:p>
                  </a:txBody>
                  <a:tcPr anchor="ctr">
                    <a:solidFill>
                      <a:srgbClr val="F4F6F9"/>
                    </a:solidFill>
                  </a:tcPr>
                </a:tc>
              </a:tr>
              <a:tr h="384048">
                <a:tc>
                  <a:txBody>
                    <a:bodyPr/>
                    <a:lstStyle/>
                    <a:p>
                      <a:pPr>
                        <a:defRPr sz="1200">
                          <a:solidFill>
                            <a:srgbClr val="1B1F2A"/>
                          </a:solidFill>
                        </a:defRPr>
                      </a:pPr>
                      <a:r>
                        <a:t>v_refusal layer used</a:t>
                      </a:r>
                    </a:p>
                  </a:txBody>
                  <a:tcPr anchor="ctr">
                    <a:solidFill>
                      <a:srgbClr val="FFFFFF"/>
                    </a:solidFill>
                  </a:tcPr>
                </a:tc>
                <a:tc>
                  <a:txBody>
                    <a:bodyPr/>
                    <a:lstStyle/>
                    <a:p>
                      <a:pPr>
                        <a:defRPr sz="1200">
                          <a:solidFill>
                            <a:srgbClr val="1B1F2A"/>
                          </a:solidFill>
                        </a:defRPr>
                      </a:pPr>
                      <a:r>
                        <a:t>25</a:t>
                      </a:r>
                    </a:p>
                  </a:txBody>
                  <a:tcPr anchor="ctr">
                    <a:solidFill>
                      <a:srgbClr val="FFFFFF"/>
                    </a:solidFill>
                  </a:tcPr>
                </a:tc>
                <a:tc>
                  <a:txBody>
                    <a:bodyPr/>
                    <a:lstStyle/>
                    <a:p>
                      <a:pPr>
                        <a:defRPr sz="1200">
                          <a:solidFill>
                            <a:srgbClr val="1B1F2A"/>
                          </a:solidFill>
                        </a:defRPr>
                      </a:pPr>
                      <a:r>
                        <a:t>25 (matches)</a:t>
                      </a:r>
                    </a:p>
                  </a:txBody>
                  <a:tcPr anchor="ctr">
                    <a:solidFill>
                      <a:srgbClr val="FFFFFF"/>
                    </a:solidFill>
                  </a:tcPr>
                </a:tc>
              </a:tr>
              <a:tr h="384048">
                <a:tc>
                  <a:txBody>
                    <a:bodyPr/>
                    <a:lstStyle/>
                    <a:p>
                      <a:pPr>
                        <a:defRPr sz="1200">
                          <a:solidFill>
                            <a:srgbClr val="1B1F2A"/>
                          </a:solidFill>
                        </a:defRPr>
                      </a:pPr>
                      <a:r>
                        <a:t>v_refusal separation, Qwen3</a:t>
                      </a:r>
                    </a:p>
                  </a:txBody>
                  <a:tcPr anchor="ctr">
                    <a:solidFill>
                      <a:srgbClr val="F4F6F9"/>
                    </a:solidFill>
                  </a:tcPr>
                </a:tc>
                <a:tc>
                  <a:txBody>
                    <a:bodyPr/>
                    <a:lstStyle/>
                    <a:p>
                      <a:pPr>
                        <a:defRPr sz="1200">
                          <a:solidFill>
                            <a:srgbClr val="1B1F2A"/>
                          </a:solidFill>
                        </a:defRPr>
                      </a:pPr>
                      <a:r>
                        <a:t>0.315 (measured independently)</a:t>
                      </a:r>
                    </a:p>
                  </a:txBody>
                  <a:tcPr anchor="ctr">
                    <a:solidFill>
                      <a:srgbClr val="F4F6F9"/>
                    </a:solidFill>
                  </a:tcPr>
                </a:tc>
                <a:tc>
                  <a:txBody>
                    <a:bodyPr/>
                    <a:lstStyle/>
                    <a:p>
                      <a:pPr>
                        <a:defRPr sz="1200">
                          <a:solidFill>
                            <a:srgbClr val="1B1F2A"/>
                          </a:solidFill>
                        </a:defRPr>
                      </a:pPr>
                      <a:r>
                        <a:t>0.315 (matches)</a:t>
                      </a:r>
                    </a:p>
                  </a:txBody>
                  <a:tcPr anchor="ctr">
                    <a:solidFill>
                      <a:srgbClr val="F4F6F9"/>
                    </a:solidFill>
                  </a:tcPr>
                </a:tc>
              </a:tr>
              <a:tr h="384048">
                <a:tc>
                  <a:txBody>
                    <a:bodyPr/>
                    <a:lstStyle/>
                    <a:p>
                      <a:pPr>
                        <a:defRPr sz="1200">
                          <a:solidFill>
                            <a:srgbClr val="1B1F2A"/>
                          </a:solidFill>
                        </a:defRPr>
                      </a:pPr>
                      <a:r>
                        <a:t>v_refusal separation, Gemma4</a:t>
                      </a:r>
                    </a:p>
                  </a:txBody>
                  <a:tcPr anchor="ctr">
                    <a:solidFill>
                      <a:srgbClr val="FFFFFF"/>
                    </a:solidFill>
                  </a:tcPr>
                </a:tc>
                <a:tc>
                  <a:txBody>
                    <a:bodyPr/>
                    <a:lstStyle/>
                    <a:p>
                      <a:pPr>
                        <a:defRPr sz="1200">
                          <a:solidFill>
                            <a:srgbClr val="1B1F2A"/>
                          </a:solidFill>
                        </a:defRPr>
                      </a:pPr>
                      <a:r>
                        <a:t>0.498 (measured independently)</a:t>
                      </a:r>
                    </a:p>
                  </a:txBody>
                  <a:tcPr anchor="ctr">
                    <a:solidFill>
                      <a:srgbClr val="FFFFFF"/>
                    </a:solidFill>
                  </a:tcPr>
                </a:tc>
                <a:tc>
                  <a:txBody>
                    <a:bodyPr/>
                    <a:lstStyle/>
                    <a:p>
                      <a:pPr>
                        <a:defRPr sz="1200">
                          <a:solidFill>
                            <a:srgbClr val="1B1F2A"/>
                          </a:solidFill>
                        </a:defRPr>
                      </a:pPr>
                      <a:r>
                        <a:t>0.498 (matches)</a:t>
                      </a:r>
                    </a:p>
                  </a:txBody>
                  <a:tcPr anchor="ctr">
                    <a:solidFill>
                      <a:srgbClr val="FFFFFF"/>
                    </a:solidFill>
                  </a:tcPr>
                </a:tc>
              </a:tr>
            </a:tbl>
          </a:graphicData>
        </a:graphic>
      </p:graphicFrame>
      <p:sp>
        <p:nvSpPr>
          <p:cNvPr id="6" name="TextBox 5"/>
          <p:cNvSpPr txBox="1"/>
          <p:nvPr/>
        </p:nvSpPr>
        <p:spPr>
          <a:xfrm>
            <a:off x="548640" y="5303520"/>
            <a:ext cx="11064240" cy="4572000"/>
          </a:xfrm>
          <a:prstGeom prst="rect">
            <a:avLst/>
          </a:prstGeom>
          <a:noFill/>
        </p:spPr>
        <p:txBody>
          <a:bodyPr wrap="square">
            <a:spAutoFit/>
          </a:bodyPr>
          <a:lstStyle/>
          <a:p>
            <a:pPr>
              <a:spcAft>
                <a:spcPts val="1000"/>
              </a:spcAft>
              <a:defRPr sz="1400" b="1">
                <a:solidFill>
                  <a:srgbClr val="1B1F2A"/>
                </a:solidFill>
              </a:defRPr>
            </a:pPr>
            <a:r>
              <a:t>•  This project independently re-measured the paper's refusal-direction statistics and got matching numbers (0.315 / 0.498) — a good sanity check that the methodology is comparable</a:t>
            </a:r>
          </a:p>
          <a:p>
            <a:pPr>
              <a:spcAft>
                <a:spcPts val="1000"/>
              </a:spcAft>
              <a:defRPr sz="1400" b="1">
                <a:solidFill>
                  <a:srgbClr val="1B1F2A"/>
                </a:solidFill>
              </a:defRPr>
            </a:pPr>
            <a:r>
              <a:t>•  The core gap: the paper's 91% comes from directly editing internal activations at inference time (white-box, requires runtime model access); this project's best single-run result (16%) comes from a suffix that must be expressed as real tokens someone could actually send as input — a fundamentally harder, more realistic threat model. At full benchmark scale, the realistic rate is closer to 8% (see slide 10)</a:t>
            </a:r>
          </a:p>
        </p:txBody>
      </p:sp>
      <p:sp>
        <p:nvSpPr>
          <p:cNvPr id="7" name="TextBox 6"/>
          <p:cNvSpPr txBox="1"/>
          <p:nvPr/>
        </p:nvSpPr>
        <p:spPr>
          <a:xfrm>
            <a:off x="548640" y="6537960"/>
            <a:ext cx="11064240" cy="274320"/>
          </a:xfrm>
          <a:prstGeom prst="rect">
            <a:avLst/>
          </a:prstGeom>
          <a:noFill/>
        </p:spPr>
        <p:txBody>
          <a:bodyPr wrap="none">
            <a:spAutoFit/>
          </a:bodyPr>
          <a:lstStyle/>
          <a:p>
            <a:pPr algn="r">
              <a:defRPr sz="1000">
                <a:solidFill>
                  <a:srgbClr val="5F636E"/>
                </a:solidFill>
              </a:defRPr>
            </a:pPr>
            <a:r>
              <a:t>GCG Phases 4–7 Summary  |  Jul 7–12, 2026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65760"/>
          </a:xfrm>
          <a:prstGeom prst="rect">
            <a:avLst/>
          </a:prstGeom>
          <a:noFill/>
        </p:spPr>
        <p:txBody>
          <a:bodyPr wrap="none">
            <a:spAutoFit/>
          </a:bodyPr>
          <a:lstStyle/>
          <a:p>
            <a:pPr>
              <a:defRPr sz="1400" b="1">
                <a:solidFill>
                  <a:srgbClr val="2E6BE0"/>
                </a:solidFill>
              </a:defRPr>
            </a:pPr>
            <a:r>
              <a:t>SO WHAT?</a:t>
            </a:r>
          </a:p>
        </p:txBody>
      </p:sp>
      <p:sp>
        <p:nvSpPr>
          <p:cNvPr id="3" name="TextBox 2"/>
          <p:cNvSpPr txBox="1"/>
          <p:nvPr/>
        </p:nvSpPr>
        <p:spPr>
          <a:xfrm>
            <a:off x="548640" y="685800"/>
            <a:ext cx="11064240" cy="822960"/>
          </a:xfrm>
          <a:prstGeom prst="rect">
            <a:avLst/>
          </a:prstGeom>
          <a:noFill/>
        </p:spPr>
        <p:txBody>
          <a:bodyPr wrap="square">
            <a:spAutoFit/>
          </a:bodyPr>
          <a:lstStyle/>
          <a:p>
            <a:pPr>
              <a:defRPr sz="3000" b="1">
                <a:solidFill>
                  <a:srgbClr val="1B1F2A"/>
                </a:solidFill>
              </a:defRPr>
            </a:pPr>
            <a:r>
              <a:t>Implications for Defense</a:t>
            </a:r>
          </a:p>
        </p:txBody>
      </p:sp>
      <p:sp>
        <p:nvSpPr>
          <p:cNvPr id="4" name="Rectangle 3"/>
          <p:cNvSpPr/>
          <p:nvPr/>
        </p:nvSpPr>
        <p:spPr>
          <a:xfrm>
            <a:off x="548640" y="1417320"/>
            <a:ext cx="11064240" cy="25400"/>
          </a:xfrm>
          <a:prstGeom prst="rect">
            <a:avLst/>
          </a:prstGeom>
          <a:solidFill>
            <a:srgbClr val="2E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83080"/>
            <a:ext cx="11064240" cy="4572000"/>
          </a:xfrm>
          <a:prstGeom prst="rect">
            <a:avLst/>
          </a:prstGeom>
          <a:noFill/>
        </p:spPr>
        <p:txBody>
          <a:bodyPr wrap="square">
            <a:spAutoFit/>
          </a:bodyPr>
          <a:lstStyle/>
          <a:p>
            <a:pPr>
              <a:spcAft>
                <a:spcPts val="1000"/>
              </a:spcAft>
              <a:defRPr sz="1800" b="1">
                <a:solidFill>
                  <a:srgbClr val="1B1F2A"/>
                </a:solidFill>
              </a:defRPr>
            </a:pPr>
            <a:r>
              <a:t>•  1. Position-0 detection is practical: a lightweight logistic-regression classifier on the hidden state of just the FIRST generated token achieves AUC=1.000 for every Qwen3 GCG variant tested. This requires only one forward pass and a simple, cheap classifier (5-fold cross-validation was sufficient) — detection happens before any visible text is produced</a:t>
            </a:r>
          </a:p>
          <a:p>
            <a:pPr>
              <a:spcAft>
                <a:spcPts val="1000"/>
              </a:spcAft>
              <a:defRPr sz="1800" b="1">
                <a:solidFill>
                  <a:srgbClr val="1B1F2A"/>
                </a:solidFill>
              </a:defRPr>
            </a:pPr>
            <a:r>
              <a:t>•  2. Chain-of-thought is both a vulnerability and a defense: Qwen3's extended thinking is what makes the standard target misaligned (a vulnerability in the sense that naive defenses might assume all models answer directly) AND what flags garbled adversarial tokens for heightened scrutiny (a defense). The same reasoning capability that made 5A's co-opting trick possible (+8pp) is also what makes the resulting suffix so detectable (AUC=1.000)</a:t>
            </a:r>
          </a:p>
          <a:p>
            <a:pPr>
              <a:spcAft>
                <a:spcPts val="1000"/>
              </a:spcAft>
              <a:defRPr sz="1800" b="1">
                <a:solidFill>
                  <a:srgbClr val="1B1F2A"/>
                </a:solidFill>
              </a:defRPr>
            </a:pPr>
            <a:r>
              <a:t>•  3. Gemma4 was meaningfully harder to attack via GCG than Qwen3 across every configuration tried, alongside a 58% stronger measured refusal-direction signal. Whether more "distributed" safety representations are the causal reason (vs. other architectural/training differences) is a hypothesis worth testing directly (e.g. via activation-patching) before it informs hardening recommendations for other models</a:t>
            </a:r>
          </a:p>
        </p:txBody>
      </p:sp>
      <p:sp>
        <p:nvSpPr>
          <p:cNvPr id="6" name="TextBox 5"/>
          <p:cNvSpPr txBox="1"/>
          <p:nvPr/>
        </p:nvSpPr>
        <p:spPr>
          <a:xfrm>
            <a:off x="548640" y="6537960"/>
            <a:ext cx="11064240" cy="274320"/>
          </a:xfrm>
          <a:prstGeom prst="rect">
            <a:avLst/>
          </a:prstGeom>
          <a:noFill/>
        </p:spPr>
        <p:txBody>
          <a:bodyPr wrap="none">
            <a:spAutoFit/>
          </a:bodyPr>
          <a:lstStyle/>
          <a:p>
            <a:pPr algn="r">
              <a:defRPr sz="1000">
                <a:solidFill>
                  <a:srgbClr val="5F636E"/>
                </a:solidFill>
              </a:defRPr>
            </a:pPr>
            <a:r>
              <a:t>GCG Phases 4–7 Summary  |  Jul 7–12, 2026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65760"/>
          </a:xfrm>
          <a:prstGeom prst="rect">
            <a:avLst/>
          </a:prstGeom>
          <a:noFill/>
        </p:spPr>
        <p:txBody>
          <a:bodyPr wrap="none">
            <a:spAutoFit/>
          </a:bodyPr>
          <a:lstStyle/>
          <a:p>
            <a:pPr>
              <a:defRPr sz="1400" b="1">
                <a:solidFill>
                  <a:srgbClr val="2E6BE0"/>
                </a:solidFill>
              </a:defRPr>
            </a:pPr>
            <a:r>
              <a:t>WHERE THINGS STAND RIGHT NOW</a:t>
            </a:r>
          </a:p>
        </p:txBody>
      </p:sp>
      <p:sp>
        <p:nvSpPr>
          <p:cNvPr id="3" name="TextBox 2"/>
          <p:cNvSpPr txBox="1"/>
          <p:nvPr/>
        </p:nvSpPr>
        <p:spPr>
          <a:xfrm>
            <a:off x="548640" y="685800"/>
            <a:ext cx="11064240" cy="822960"/>
          </a:xfrm>
          <a:prstGeom prst="rect">
            <a:avLst/>
          </a:prstGeom>
          <a:noFill/>
        </p:spPr>
        <p:txBody>
          <a:bodyPr wrap="square">
            <a:spAutoFit/>
          </a:bodyPr>
          <a:lstStyle/>
          <a:p>
            <a:pPr>
              <a:defRPr sz="3000" b="1">
                <a:solidFill>
                  <a:srgbClr val="1B1F2A"/>
                </a:solidFill>
              </a:defRPr>
            </a:pPr>
            <a:r>
              <a:t>Current Status (as of this deck's creation)</a:t>
            </a:r>
          </a:p>
        </p:txBody>
      </p:sp>
      <p:sp>
        <p:nvSpPr>
          <p:cNvPr id="4" name="Rectangle 3"/>
          <p:cNvSpPr/>
          <p:nvPr/>
        </p:nvSpPr>
        <p:spPr>
          <a:xfrm>
            <a:off x="548640" y="1417320"/>
            <a:ext cx="11064240" cy="25400"/>
          </a:xfrm>
          <a:prstGeom prst="rect">
            <a:avLst/>
          </a:prstGeom>
          <a:solidFill>
            <a:srgbClr val="2E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48640" y="1645920"/>
          <a:ext cx="11064240" cy="3456432"/>
        </p:xfrm>
        <a:graphic>
          <a:graphicData uri="http://schemas.openxmlformats.org/drawingml/2006/table">
            <a:tbl>
              <a:tblPr firstRow="1" bandRow="1">
                <a:tableStyleId>{5C22544A-7EE6-4342-B048-85BDC9FD1C3A}</a:tableStyleId>
              </a:tblPr>
              <a:tblGrid>
                <a:gridCol w="3017520"/>
                <a:gridCol w="1554480"/>
                <a:gridCol w="6492240"/>
              </a:tblGrid>
              <a:tr h="384048">
                <a:tc>
                  <a:txBody>
                    <a:bodyPr/>
                    <a:lstStyle/>
                    <a:p>
                      <a:pPr>
                        <a:defRPr b="1" sz="1300">
                          <a:solidFill>
                            <a:srgbClr val="FFFFFF"/>
                          </a:solidFill>
                        </a:defRPr>
                      </a:pPr>
                      <a:r>
                        <a:t>Item</a:t>
                      </a:r>
                    </a:p>
                  </a:txBody>
                  <a:tcPr anchor="ctr">
                    <a:solidFill>
                      <a:srgbClr val="1B1F2A"/>
                    </a:solidFill>
                  </a:tcPr>
                </a:tc>
                <a:tc>
                  <a:txBody>
                    <a:bodyPr/>
                    <a:lstStyle/>
                    <a:p>
                      <a:pPr>
                        <a:defRPr b="1" sz="1300">
                          <a:solidFill>
                            <a:srgbClr val="FFFFFF"/>
                          </a:solidFill>
                        </a:defRPr>
                      </a:pPr>
                      <a:r>
                        <a:t>Status</a:t>
                      </a:r>
                    </a:p>
                  </a:txBody>
                  <a:tcPr anchor="ctr">
                    <a:solidFill>
                      <a:srgbClr val="1B1F2A"/>
                    </a:solidFill>
                  </a:tcPr>
                </a:tc>
                <a:tc>
                  <a:txBody>
                    <a:bodyPr/>
                    <a:lstStyle/>
                    <a:p>
                      <a:pPr>
                        <a:defRPr b="1" sz="1300">
                          <a:solidFill>
                            <a:srgbClr val="FFFFFF"/>
                          </a:solidFill>
                        </a:defRPr>
                      </a:pPr>
                      <a:r>
                        <a:t>Detail</a:t>
                      </a:r>
                    </a:p>
                  </a:txBody>
                  <a:tcPr anchor="ctr">
                    <a:solidFill>
                      <a:srgbClr val="1B1F2A"/>
                    </a:solidFill>
                  </a:tcPr>
                </a:tc>
              </a:tr>
              <a:tr h="384048">
                <a:tc>
                  <a:txBody>
                    <a:bodyPr/>
                    <a:lstStyle/>
                    <a:p>
                      <a:pPr>
                        <a:defRPr sz="1300">
                          <a:solidFill>
                            <a:srgbClr val="1B1F2A"/>
                          </a:solidFill>
                        </a:defRPr>
                      </a:pPr>
                      <a:r>
                        <a:t>Phase 4 (A–F)</a:t>
                      </a:r>
                    </a:p>
                  </a:txBody>
                  <a:tcPr anchor="ctr">
                    <a:solidFill>
                      <a:srgbClr val="F4F6F9"/>
                    </a:solidFill>
                  </a:tcPr>
                </a:tc>
                <a:tc>
                  <a:txBody>
                    <a:bodyPr/>
                    <a:lstStyle/>
                    <a:p>
                      <a:pPr>
                        <a:defRPr sz="1300">
                          <a:solidFill>
                            <a:srgbClr val="1B1F2A"/>
                          </a:solidFill>
                        </a:defRPr>
                      </a:pPr>
                      <a:r>
                        <a:t>✅ Complete</a:t>
                      </a:r>
                    </a:p>
                  </a:txBody>
                  <a:tcPr anchor="ctr">
                    <a:solidFill>
                      <a:srgbClr val="F4F6F9"/>
                    </a:solidFill>
                  </a:tcPr>
                </a:tc>
                <a:tc>
                  <a:txBody>
                    <a:bodyPr/>
                    <a:lstStyle/>
                    <a:p>
                      <a:pPr>
                        <a:defRPr sz="1300">
                          <a:solidFill>
                            <a:srgbClr val="1B1F2A"/>
                          </a:solidFill>
                        </a:defRPr>
                      </a:pPr>
                      <a:r>
                        <a:t>All ablations finalized, results committed to git</a:t>
                      </a:r>
                    </a:p>
                  </a:txBody>
                  <a:tcPr anchor="ctr">
                    <a:solidFill>
                      <a:srgbClr val="F4F6F9"/>
                    </a:solidFill>
                  </a:tcPr>
                </a:tc>
              </a:tr>
              <a:tr h="384048">
                <a:tc>
                  <a:txBody>
                    <a:bodyPr/>
                    <a:lstStyle/>
                    <a:p>
                      <a:pPr>
                        <a:defRPr sz="1300">
                          <a:solidFill>
                            <a:srgbClr val="1B1F2A"/>
                          </a:solidFill>
                        </a:defRPr>
                      </a:pPr>
                      <a:r>
                        <a:t>Phase 5 (A–C)</a:t>
                      </a:r>
                    </a:p>
                  </a:txBody>
                  <a:tcPr anchor="ctr">
                    <a:solidFill>
                      <a:srgbClr val="FFFFFF"/>
                    </a:solidFill>
                  </a:tcPr>
                </a:tc>
                <a:tc>
                  <a:txBody>
                    <a:bodyPr/>
                    <a:lstStyle/>
                    <a:p>
                      <a:pPr>
                        <a:defRPr sz="1300">
                          <a:solidFill>
                            <a:srgbClr val="1B1F2A"/>
                          </a:solidFill>
                        </a:defRPr>
                      </a:pPr>
                      <a:r>
                        <a:t>✅ Complete</a:t>
                      </a:r>
                    </a:p>
                  </a:txBody>
                  <a:tcPr anchor="ctr">
                    <a:solidFill>
                      <a:srgbClr val="FFFFFF"/>
                    </a:solidFill>
                  </a:tcPr>
                </a:tc>
                <a:tc>
                  <a:txBody>
                    <a:bodyPr/>
                    <a:lstStyle/>
                    <a:p>
                      <a:pPr>
                        <a:defRPr sz="1300">
                          <a:solidFill>
                            <a:srgbClr val="1B1F2A"/>
                          </a:solidFill>
                        </a:defRPr>
                      </a:pPr>
                      <a:r>
                        <a:t>5A/5C = best small-set Qwen3 attack (10.7% train / 14.7% unseen)</a:t>
                      </a:r>
                    </a:p>
                  </a:txBody>
                  <a:tcPr anchor="ctr">
                    <a:solidFill>
                      <a:srgbClr val="FFFFFF"/>
                    </a:solidFill>
                  </a:tcPr>
                </a:tc>
              </a:tr>
              <a:tr h="384048">
                <a:tc>
                  <a:txBody>
                    <a:bodyPr/>
                    <a:lstStyle/>
                    <a:p>
                      <a:pPr>
                        <a:defRPr sz="1300">
                          <a:solidFill>
                            <a:srgbClr val="1B1F2A"/>
                          </a:solidFill>
                        </a:defRPr>
                      </a:pPr>
                      <a:r>
                        <a:t>Phase 6 (A–C)</a:t>
                      </a:r>
                    </a:p>
                  </a:txBody>
                  <a:tcPr anchor="ctr">
                    <a:solidFill>
                      <a:srgbClr val="F4F6F9"/>
                    </a:solidFill>
                  </a:tcPr>
                </a:tc>
                <a:tc>
                  <a:txBody>
                    <a:bodyPr/>
                    <a:lstStyle/>
                    <a:p>
                      <a:pPr>
                        <a:defRPr sz="1300">
                          <a:solidFill>
                            <a:srgbClr val="1B1F2A"/>
                          </a:solidFill>
                        </a:defRPr>
                      </a:pPr>
                      <a:r>
                        <a:t>✅ Complete</a:t>
                      </a:r>
                    </a:p>
                  </a:txBody>
                  <a:tcPr anchor="ctr">
                    <a:solidFill>
                      <a:srgbClr val="F4F6F9"/>
                    </a:solidFill>
                  </a:tcPr>
                </a:tc>
                <a:tc>
                  <a:txBody>
                    <a:bodyPr/>
                    <a:lstStyle/>
                    <a:p>
                      <a:pPr>
                        <a:defRPr sz="1300">
                          <a:solidFill>
                            <a:srgbClr val="1B1F2A"/>
                          </a:solidFill>
                        </a:defRPr>
                      </a:pPr>
                      <a:r>
                        <a:t>Refusal-direction + GCG eliminated the CoT-prefix ASR gain under the tested setup (one layer/lambda/seed) — see docs/GCG_REFUSAL_DIRECTION_AUDIT.md</a:t>
                      </a:r>
                    </a:p>
                  </a:txBody>
                  <a:tcPr anchor="ctr">
                    <a:solidFill>
                      <a:srgbClr val="F4F6F9"/>
                    </a:solidFill>
                  </a:tcPr>
                </a:tc>
              </a:tr>
              <a:tr h="384048">
                <a:tc>
                  <a:txBody>
                    <a:bodyPr/>
                    <a:lstStyle/>
                    <a:p>
                      <a:pPr>
                        <a:defRPr sz="1300">
                          <a:solidFill>
                            <a:srgbClr val="1B1F2A"/>
                          </a:solidFill>
                        </a:defRPr>
                      </a:pPr>
                      <a:r>
                        <a:t>7A — full-520 generalization</a:t>
                      </a:r>
                    </a:p>
                  </a:txBody>
                  <a:tcPr anchor="ctr">
                    <a:solidFill>
                      <a:srgbClr val="FFFFFF"/>
                    </a:solidFill>
                  </a:tcPr>
                </a:tc>
                <a:tc>
                  <a:txBody>
                    <a:bodyPr/>
                    <a:lstStyle/>
                    <a:p>
                      <a:pPr>
                        <a:defRPr sz="1300">
                          <a:solidFill>
                            <a:srgbClr val="1B1F2A"/>
                          </a:solidFill>
                        </a:defRPr>
                      </a:pPr>
                      <a:r>
                        <a:t>✅ Complete</a:t>
                      </a:r>
                    </a:p>
                  </a:txBody>
                  <a:tcPr anchor="ctr">
                    <a:solidFill>
                      <a:srgbClr val="FFFFFF"/>
                    </a:solidFill>
                  </a:tcPr>
                </a:tc>
                <a:tc>
                  <a:txBody>
                    <a:bodyPr/>
                    <a:lstStyle/>
                    <a:p>
                      <a:pPr>
                        <a:defRPr sz="1300">
                          <a:solidFill>
                            <a:srgbClr val="1B1F2A"/>
                          </a:solidFill>
                        </a:defRPr>
                      </a:pPr>
                      <a:r>
                        <a:t>6,240 rows (train seeds) + 5,849 rows (unseen seeds, 493/520 behaviors) all scored, replayed, and analyzed. Final: 8.01% train / 8.92% unseen ASR, AUC=1.000 at all 32 positions</a:t>
                      </a:r>
                    </a:p>
                  </a:txBody>
                  <a:tcPr anchor="ctr">
                    <a:solidFill>
                      <a:srgbClr val="FFFFFF"/>
                    </a:solidFill>
                  </a:tcPr>
                </a:tc>
              </a:tr>
              <a:tr h="384048">
                <a:tc>
                  <a:txBody>
                    <a:bodyPr/>
                    <a:lstStyle/>
                    <a:p>
                      <a:pPr>
                        <a:defRPr sz="1300">
                          <a:solidFill>
                            <a:srgbClr val="1B1F2A"/>
                          </a:solidFill>
                        </a:defRPr>
                      </a:pPr>
                      <a:r>
                        <a:t>7B — seed variance</a:t>
                      </a:r>
                    </a:p>
                  </a:txBody>
                  <a:tcPr anchor="ctr">
                    <a:solidFill>
                      <a:srgbClr val="F4F6F9"/>
                    </a:solidFill>
                  </a:tcPr>
                </a:tc>
                <a:tc>
                  <a:txBody>
                    <a:bodyPr/>
                    <a:lstStyle/>
                    <a:p>
                      <a:pPr>
                        <a:defRPr sz="1300">
                          <a:solidFill>
                            <a:srgbClr val="1B1F2A"/>
                          </a:solidFill>
                        </a:defRPr>
                      </a:pPr>
                      <a:r>
                        <a:t>✅ Complete</a:t>
                      </a:r>
                    </a:p>
                  </a:txBody>
                  <a:tcPr anchor="ctr">
                    <a:solidFill>
                      <a:srgbClr val="F4F6F9"/>
                    </a:solidFill>
                  </a:tcPr>
                </a:tc>
                <a:tc>
                  <a:txBody>
                    <a:bodyPr/>
                    <a:lstStyle/>
                    <a:p>
                      <a:pPr>
                        <a:defRPr sz="1300">
                          <a:solidFill>
                            <a:srgbClr val="1B1F2A"/>
                          </a:solidFill>
                        </a:defRPr>
                      </a:pPr>
                      <a:r>
                        <a:t>Full pipeline done for seeds 43/44/45 (opt → free-gen → replay → analysis → unseeded eval)</a:t>
                      </a:r>
                    </a:p>
                  </a:txBody>
                  <a:tcPr anchor="ctr">
                    <a:solidFill>
                      <a:srgbClr val="F4F6F9"/>
                    </a:solidFill>
                  </a:tcPr>
                </a:tc>
              </a:tr>
              <a:tr h="384048">
                <a:tc>
                  <a:txBody>
                    <a:bodyPr/>
                    <a:lstStyle/>
                    <a:p>
                      <a:pPr>
                        <a:defRPr sz="1300">
                          <a:solidFill>
                            <a:srgbClr val="1B1F2A"/>
                          </a:solidFill>
                        </a:defRPr>
                      </a:pPr>
                      <a:r>
                        <a:t>7C — Gemma4 no-think</a:t>
                      </a:r>
                    </a:p>
                  </a:txBody>
                  <a:tcPr anchor="ctr">
                    <a:solidFill>
                      <a:srgbClr val="FFFFFF"/>
                    </a:solidFill>
                  </a:tcPr>
                </a:tc>
                <a:tc>
                  <a:txBody>
                    <a:bodyPr/>
                    <a:lstStyle/>
                    <a:p>
                      <a:pPr>
                        <a:defRPr sz="1300">
                          <a:solidFill>
                            <a:srgbClr val="1B1F2A"/>
                          </a:solidFill>
                        </a:defRPr>
                      </a:pPr>
                      <a:r>
                        <a:t>✅ Complete</a:t>
                      </a:r>
                    </a:p>
                  </a:txBody>
                  <a:tcPr anchor="ctr">
                    <a:solidFill>
                      <a:srgbClr val="FFFFFF"/>
                    </a:solidFill>
                  </a:tcPr>
                </a:tc>
                <a:tc>
                  <a:txBody>
                    <a:bodyPr/>
                    <a:lstStyle/>
                    <a:p>
                      <a:pPr>
                        <a:defRPr sz="1300">
                          <a:solidFill>
                            <a:srgbClr val="1B1F2A"/>
                          </a:solidFill>
                        </a:defRPr>
                      </a:pPr>
                      <a:r>
                        <a:t>Rules out the channel-token format-mismatch hypothesis; Gemma4 resisted all 5 tested configurations</a:t>
                      </a:r>
                    </a:p>
                  </a:txBody>
                  <a:tcPr anchor="ctr">
                    <a:solidFill>
                      <a:srgbClr val="FFFFFF"/>
                    </a:solidFill>
                  </a:tcPr>
                </a:tc>
              </a:tr>
              <a:tr h="384048">
                <a:tc>
                  <a:txBody>
                    <a:bodyPr/>
                    <a:lstStyle/>
                    <a:p>
                      <a:pPr>
                        <a:defRPr sz="1300">
                          <a:solidFill>
                            <a:srgbClr val="1B1F2A"/>
                          </a:solidFill>
                        </a:defRPr>
                      </a:pPr>
                      <a:r>
                        <a:t>7D — synthesis document</a:t>
                      </a:r>
                    </a:p>
                  </a:txBody>
                  <a:tcPr anchor="ctr">
                    <a:solidFill>
                      <a:srgbClr val="F4F6F9"/>
                    </a:solidFill>
                  </a:tcPr>
                </a:tc>
                <a:tc>
                  <a:txBody>
                    <a:bodyPr/>
                    <a:lstStyle/>
                    <a:p>
                      <a:pPr>
                        <a:defRPr sz="1300">
                          <a:solidFill>
                            <a:srgbClr val="1B1F2A"/>
                          </a:solidFill>
                        </a:defRPr>
                      </a:pPr>
                      <a:r>
                        <a:t>✅ Complete</a:t>
                      </a:r>
                    </a:p>
                  </a:txBody>
                  <a:tcPr anchor="ctr">
                    <a:solidFill>
                      <a:srgbClr val="F4F6F9"/>
                    </a:solidFill>
                  </a:tcPr>
                </a:tc>
                <a:tc>
                  <a:txBody>
                    <a:bodyPr/>
                    <a:lstStyle/>
                    <a:p>
                      <a:pPr>
                        <a:defRPr sz="1300">
                          <a:solidFill>
                            <a:srgbClr val="1B1F2A"/>
                          </a:solidFill>
                        </a:defRPr>
                      </a:pPr>
                      <a:r>
                        <a:t>docs/GCG_FINDINGS_SYNTHESIS.md — this deck's primary source, now includes Finding 7 (full-scale confirmation)</a:t>
                      </a:r>
                    </a:p>
                  </a:txBody>
                  <a:tcPr anchor="ctr">
                    <a:solidFill>
                      <a:srgbClr val="F4F6F9"/>
                    </a:solidFill>
                  </a:tcPr>
                </a:tc>
              </a:tr>
              <a:tr h="384048">
                <a:tc>
                  <a:txBody>
                    <a:bodyPr/>
                    <a:lstStyle/>
                    <a:p>
                      <a:pPr>
                        <a:defRPr sz="1300">
                          <a:solidFill>
                            <a:srgbClr val="1B1F2A"/>
                          </a:solidFill>
                        </a:defRPr>
                      </a:pPr>
                      <a:r>
                        <a:t>Remaining work</a:t>
                      </a:r>
                    </a:p>
                  </a:txBody>
                  <a:tcPr anchor="ctr">
                    <a:solidFill>
                      <a:srgbClr val="FFFFFF"/>
                    </a:solidFill>
                  </a:tcPr>
                </a:tc>
                <a:tc>
                  <a:txBody>
                    <a:bodyPr/>
                    <a:lstStyle/>
                    <a:p>
                      <a:pPr>
                        <a:defRPr sz="1300">
                          <a:solidFill>
                            <a:srgbClr val="1B1F2A"/>
                          </a:solidFill>
                        </a:defRPr>
                      </a:pPr>
                      <a:r>
                        <a:t>None</a:t>
                      </a:r>
                    </a:p>
                  </a:txBody>
                  <a:tcPr anchor="ctr">
                    <a:solidFill>
                      <a:srgbClr val="FFFFFF"/>
                    </a:solidFill>
                  </a:tcPr>
                </a:tc>
                <a:tc>
                  <a:txBody>
                    <a:bodyPr/>
                    <a:lstStyle/>
                    <a:p>
                      <a:pPr>
                        <a:defRPr sz="1300">
                          <a:solidFill>
                            <a:srgbClr val="1B1F2A"/>
                          </a:solidFill>
                        </a:defRPr>
                      </a:pPr>
                      <a:r>
                        <a:t>The entire Phase 4–7 GCG pipeline is complete as of 2026-07-12. No SLURM jobs are queued or running, and no further experiments are currently planned.</a:t>
                      </a:r>
                    </a:p>
                  </a:txBody>
                  <a:tcPr anchor="ctr">
                    <a:solidFill>
                      <a:srgbClr val="FFFFFF"/>
                    </a:solidFill>
                  </a:tcPr>
                </a:tc>
              </a:tr>
            </a:tbl>
          </a:graphicData>
        </a:graphic>
      </p:graphicFrame>
      <p:sp>
        <p:nvSpPr>
          <p:cNvPr id="6" name="TextBox 5"/>
          <p:cNvSpPr txBox="1"/>
          <p:nvPr/>
        </p:nvSpPr>
        <p:spPr>
          <a:xfrm>
            <a:off x="548640" y="6537960"/>
            <a:ext cx="11064240" cy="274320"/>
          </a:xfrm>
          <a:prstGeom prst="rect">
            <a:avLst/>
          </a:prstGeom>
          <a:noFill/>
        </p:spPr>
        <p:txBody>
          <a:bodyPr wrap="none">
            <a:spAutoFit/>
          </a:bodyPr>
          <a:lstStyle/>
          <a:p>
            <a:pPr algn="r">
              <a:defRPr sz="1000">
                <a:solidFill>
                  <a:srgbClr val="5F636E"/>
                </a:solidFill>
              </a:defRPr>
            </a:pPr>
            <a:r>
              <a:t>GCG Phases 4–7 Summary  |  Jul 7–12, 2026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65760"/>
          </a:xfrm>
          <a:prstGeom prst="rect">
            <a:avLst/>
          </a:prstGeom>
          <a:noFill/>
        </p:spPr>
        <p:txBody>
          <a:bodyPr wrap="none">
            <a:spAutoFit/>
          </a:bodyPr>
          <a:lstStyle/>
          <a:p>
            <a:pPr>
              <a:defRPr sz="1400" b="1">
                <a:solidFill>
                  <a:srgbClr val="2E6BE0"/>
                </a:solidFill>
              </a:defRPr>
            </a:pPr>
            <a:r>
              <a:t>SUMMARY — PIPELINE COMPLETE</a:t>
            </a:r>
          </a:p>
        </p:txBody>
      </p:sp>
      <p:sp>
        <p:nvSpPr>
          <p:cNvPr id="3" name="TextBox 2"/>
          <p:cNvSpPr txBox="1"/>
          <p:nvPr/>
        </p:nvSpPr>
        <p:spPr>
          <a:xfrm>
            <a:off x="548640" y="685800"/>
            <a:ext cx="11064240" cy="822960"/>
          </a:xfrm>
          <a:prstGeom prst="rect">
            <a:avLst/>
          </a:prstGeom>
          <a:noFill/>
        </p:spPr>
        <p:txBody>
          <a:bodyPr wrap="square">
            <a:spAutoFit/>
          </a:bodyPr>
          <a:lstStyle/>
          <a:p>
            <a:pPr>
              <a:defRPr sz="3000" b="1">
                <a:solidFill>
                  <a:srgbClr val="1B1F2A"/>
                </a:solidFill>
              </a:defRPr>
            </a:pPr>
            <a:r>
              <a:t>Conclusions — The Seven Findings at a Glance</a:t>
            </a:r>
          </a:p>
        </p:txBody>
      </p:sp>
      <p:sp>
        <p:nvSpPr>
          <p:cNvPr id="4" name="Rectangle 3"/>
          <p:cNvSpPr/>
          <p:nvPr/>
        </p:nvSpPr>
        <p:spPr>
          <a:xfrm>
            <a:off x="548640" y="1417320"/>
            <a:ext cx="11064240" cy="25400"/>
          </a:xfrm>
          <a:prstGeom prst="rect">
            <a:avLst/>
          </a:prstGeom>
          <a:solidFill>
            <a:srgbClr val="2E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554480"/>
            <a:ext cx="11064240" cy="4572000"/>
          </a:xfrm>
          <a:prstGeom prst="rect">
            <a:avLst/>
          </a:prstGeom>
          <a:noFill/>
        </p:spPr>
        <p:txBody>
          <a:bodyPr wrap="square">
            <a:spAutoFit/>
          </a:bodyPr>
          <a:lstStyle/>
          <a:p>
            <a:pPr>
              <a:spcAft>
                <a:spcPts val="1000"/>
              </a:spcAft>
              <a:defRPr sz="1500" b="1">
                <a:solidFill>
                  <a:srgbClr val="1B1F2A"/>
                </a:solidFill>
              </a:defRPr>
            </a:pPr>
            <a:r>
              <a:t>•  1. Fixing CoT target misalignment (5A) was the single biggest lever: it quadrupled Qwen3 ASR (2.7% → 10.7%) despite worse raw loss</a:t>
            </a:r>
          </a:p>
          <a:p>
            <a:pPr>
              <a:spcAft>
                <a:spcPts val="1000"/>
              </a:spcAft>
              <a:defRPr sz="1500" b="1">
                <a:solidFill>
                  <a:srgbClr val="1B1F2A"/>
                </a:solidFill>
              </a:defRPr>
            </a:pPr>
            <a:r>
              <a:t>•  2. GCG suffixes against Qwen3 are perfectly detectable (AUC=1.000) from the very first generated token, regardless of whether the attack succeeds — holds at full 520-behavior scale (3,120 pairs), not just the small tuning set</a:t>
            </a:r>
          </a:p>
          <a:p>
            <a:pPr>
              <a:spcAft>
                <a:spcPts val="1000"/>
              </a:spcAft>
              <a:defRPr sz="1500" b="1">
                <a:solidFill>
                  <a:srgbClr val="1B1F2A"/>
                </a:solidFill>
              </a:defRPr>
            </a:pPr>
            <a:r>
              <a:t>•  3. Under the tested setup, combining GCG with refusal-direction suppression eliminated the CoT-prefix ASR gain (0% net-negative vs. 91% for direct activation ablation in prior work, a different, white-box intervention) — not established as a fundamental incompatibility beyond this configuration</a:t>
            </a:r>
          </a:p>
          <a:p>
            <a:pPr>
              <a:spcAft>
                <a:spcPts val="1000"/>
              </a:spcAft>
              <a:defRPr sz="1500" b="1">
                <a:solidFill>
                  <a:srgbClr val="1B1F2A"/>
                </a:solidFill>
              </a:defRPr>
            </a:pPr>
            <a:r>
              <a:t>•  4. Gemma4 resisted every attack variant tried (0% ASR, 5 distinct configurations) — the CoT-format-mismatch hypothesis is ruled out; deeper causal explanation remains a hypothesis</a:t>
            </a:r>
          </a:p>
          <a:p>
            <a:pPr>
              <a:spcAft>
                <a:spcPts val="1000"/>
              </a:spcAft>
              <a:defRPr sz="1500" b="1">
                <a:solidFill>
                  <a:srgbClr val="1B1F2A"/>
                </a:solidFill>
              </a:defRPr>
            </a:pPr>
            <a:r>
              <a:t>•  5. Evaluation-seed choice inflates baselines and shifts headline ASR numbers — always compare pp-uplift, not raw percentages</a:t>
            </a:r>
          </a:p>
          <a:p>
            <a:pPr>
              <a:spcAft>
                <a:spcPts val="1000"/>
              </a:spcAft>
              <a:defRPr sz="1500" b="1">
                <a:solidFill>
                  <a:srgbClr val="1B1F2A"/>
                </a:solidFill>
              </a:defRPr>
            </a:pPr>
            <a:r>
              <a:t>•  6. Optimization loss does not predict attack success — two nearly-tied-loss seeds differed 11× in ASR</a:t>
            </a:r>
          </a:p>
          <a:p>
            <a:pPr>
              <a:spcAft>
                <a:spcPts val="1000"/>
              </a:spcAft>
              <a:defRPr sz="1500" b="1">
                <a:solidFill>
                  <a:srgbClr val="1B1F2A"/>
                </a:solidFill>
              </a:defRPr>
            </a:pPr>
            <a:r>
              <a:t>•  7. NEW: the realistic full-benchmark attack rate (8.01% train / 8.92% unseen, 520 behaviors) is lower than the 25-behavior tuning-set rate (10.7%/14.7%) — small-n evaluation sets can overestimate GCG effectiveness, though the positive uplift generalizes robustly</a:t>
            </a:r>
          </a:p>
          <a:p>
            <a:pPr>
              <a:spcAft>
                <a:spcPts val="1000"/>
              </a:spcAft>
              <a:defRPr sz="1500" b="1">
                <a:solidFill>
                  <a:srgbClr val="1B1F2A"/>
                </a:solidFill>
              </a:defRPr>
            </a:pPr>
            <a:r>
              <a:t>•  Best single-run attack: 7B seed-45 CoT-prefix targeting on Qwen3 — up to 21.3% ASR on unseen seeds (25-behavior set)</a:t>
            </a:r>
          </a:p>
          <a:p>
            <a:pPr>
              <a:spcAft>
                <a:spcPts val="1000"/>
              </a:spcAft>
              <a:defRPr sz="1500" b="1">
                <a:solidFill>
                  <a:srgbClr val="1B1F2A"/>
                </a:solidFill>
              </a:defRPr>
            </a:pPr>
            <a:r>
              <a:t>•  Best full-benchmark, most-trustworthy attack rate: 7A, 8.01% train / 8.92% unseen ASR across all 520 AdvBench behaviors</a:t>
            </a:r>
          </a:p>
          <a:p>
            <a:pPr>
              <a:spcAft>
                <a:spcPts val="1000"/>
              </a:spcAft>
              <a:defRPr sz="1500" b="1">
                <a:solidFill>
                  <a:srgbClr val="1B1F2A"/>
                </a:solidFill>
              </a:defRPr>
            </a:pPr>
            <a:r>
              <a:t>•  Best-defended model: Gemma4-E4B-it — 0% ASR under every one of 5 distinct attack configurations tried (4C standard/thinking-ON, 4E text-transfer, 6A-G refusal-direction, 6B CoT-channel target, 7C thinking-OFF)</a:t>
            </a:r>
          </a:p>
        </p:txBody>
      </p:sp>
      <p:sp>
        <p:nvSpPr>
          <p:cNvPr id="6" name="TextBox 5"/>
          <p:cNvSpPr txBox="1"/>
          <p:nvPr/>
        </p:nvSpPr>
        <p:spPr>
          <a:xfrm>
            <a:off x="548640" y="6537960"/>
            <a:ext cx="11064240" cy="274320"/>
          </a:xfrm>
          <a:prstGeom prst="rect">
            <a:avLst/>
          </a:prstGeom>
          <a:noFill/>
        </p:spPr>
        <p:txBody>
          <a:bodyPr wrap="none">
            <a:spAutoFit/>
          </a:bodyPr>
          <a:lstStyle/>
          <a:p>
            <a:pPr algn="r">
              <a:defRPr sz="1000">
                <a:solidFill>
                  <a:srgbClr val="5F636E"/>
                </a:solidFill>
              </a:defRPr>
            </a:pPr>
            <a:r>
              <a:t>GCG Phases 4–7 Summary  |  Jul 7–12, 2026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65760"/>
          </a:xfrm>
          <a:prstGeom prst="rect">
            <a:avLst/>
          </a:prstGeom>
          <a:noFill/>
        </p:spPr>
        <p:txBody>
          <a:bodyPr wrap="none">
            <a:spAutoFit/>
          </a:bodyPr>
          <a:lstStyle/>
          <a:p>
            <a:pPr>
              <a:defRPr sz="1400" b="1">
                <a:solidFill>
                  <a:srgbClr val="2E6BE0"/>
                </a:solidFill>
              </a:defRPr>
            </a:pPr>
            <a:r>
              <a:t>REFERENCE</a:t>
            </a:r>
          </a:p>
        </p:txBody>
      </p:sp>
      <p:sp>
        <p:nvSpPr>
          <p:cNvPr id="3" name="TextBox 2"/>
          <p:cNvSpPr txBox="1"/>
          <p:nvPr/>
        </p:nvSpPr>
        <p:spPr>
          <a:xfrm>
            <a:off x="548640" y="685800"/>
            <a:ext cx="11064240" cy="822960"/>
          </a:xfrm>
          <a:prstGeom prst="rect">
            <a:avLst/>
          </a:prstGeom>
          <a:noFill/>
        </p:spPr>
        <p:txBody>
          <a:bodyPr wrap="square">
            <a:spAutoFit/>
          </a:bodyPr>
          <a:lstStyle/>
          <a:p>
            <a:pPr>
              <a:defRPr sz="3000" b="1">
                <a:solidFill>
                  <a:srgbClr val="1B1F2A"/>
                </a:solidFill>
              </a:defRPr>
            </a:pPr>
            <a:r>
              <a:t>Appendix: Data, Jobs, and Scripts</a:t>
            </a:r>
          </a:p>
        </p:txBody>
      </p:sp>
      <p:sp>
        <p:nvSpPr>
          <p:cNvPr id="4" name="Rectangle 3"/>
          <p:cNvSpPr/>
          <p:nvPr/>
        </p:nvSpPr>
        <p:spPr>
          <a:xfrm>
            <a:off x="548640" y="1417320"/>
            <a:ext cx="11064240" cy="25400"/>
          </a:xfrm>
          <a:prstGeom prst="rect">
            <a:avLst/>
          </a:prstGeom>
          <a:solidFill>
            <a:srgbClr val="2E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17320"/>
            <a:ext cx="11064240" cy="4572000"/>
          </a:xfrm>
          <a:prstGeom prst="rect">
            <a:avLst/>
          </a:prstGeom>
          <a:noFill/>
        </p:spPr>
        <p:txBody>
          <a:bodyPr wrap="square">
            <a:spAutoFit/>
          </a:bodyPr>
          <a:lstStyle/>
          <a:p>
            <a:pPr>
              <a:spcAft>
                <a:spcPts val="1000"/>
              </a:spcAft>
              <a:defRPr sz="1300" b="1">
                <a:solidFill>
                  <a:srgbClr val="1B1F2A"/>
                </a:solidFill>
              </a:defRPr>
            </a:pPr>
            <a:r>
              <a:t>•  Key documents:</a:t>
            </a:r>
          </a:p>
          <a:p>
            <a:pPr>
              <a:spcAft>
                <a:spcPts val="600"/>
              </a:spcAft>
              <a:defRPr sz="1000" b="0">
                <a:solidFill>
                  <a:srgbClr val="5F636E"/>
                </a:solidFill>
              </a:defRPr>
            </a:pPr>
            <a:r>
              <a:t>‒  docs/GCG_FINDINGS_SYNTHESIS.md — master synthesis of all Phase 4–7 findings (this deck's primary source)</a:t>
            </a:r>
          </a:p>
          <a:p>
            <a:pPr>
              <a:spcAft>
                <a:spcPts val="600"/>
              </a:spcAft>
              <a:defRPr sz="1000" b="0">
                <a:solidFill>
                  <a:srgbClr val="5F636E"/>
                </a:solidFill>
              </a:defRPr>
            </a:pPr>
            <a:r>
              <a:t>‒  docs/GCG_PHASE7_PIPELINE_LOG.md — detailed Phase 7 job-by-job log</a:t>
            </a:r>
          </a:p>
          <a:p>
            <a:pPr>
              <a:spcAft>
                <a:spcPts val="600"/>
              </a:spcAft>
              <a:defRPr sz="1000" b="0">
                <a:solidFill>
                  <a:srgbClr val="5F636E"/>
                </a:solidFill>
              </a:defRPr>
            </a:pPr>
            <a:r>
              <a:t>‒  docs/GCG_ABLATION_PIPELINE_LOG.md — detailed Phase 4–6 job-by-job log; docs/GCG_PHASE4_7_AUDIT_REPORT.md + docs/GCG_PHASE4_7_SOURCE_OF_TRUTH.md (table csv in outputs/stage_gcg_full/) + 4 companion audit docs (2026-07-13 audit, source of truth for every number in this deck)</a:t>
            </a:r>
          </a:p>
          <a:p>
            <a:pPr>
              <a:spcAft>
                <a:spcPts val="1000"/>
              </a:spcAft>
              <a:defRPr sz="1300" b="1">
                <a:solidFill>
                  <a:srgbClr val="1B1F2A"/>
                </a:solidFill>
              </a:defRPr>
            </a:pPr>
            <a:r>
              <a:t>•  Key data files:</a:t>
            </a:r>
          </a:p>
          <a:p>
            <a:pPr>
              <a:spcAft>
                <a:spcPts val="600"/>
              </a:spcAft>
              <a:defRPr sz="1000" b="0">
                <a:solidFill>
                  <a:srgbClr val="5F636E"/>
                </a:solidFill>
              </a:defRPr>
            </a:pPr>
            <a:r>
              <a:t>‒  outputs/stage_gcg_full/gcg_full_qwen3_cot_target/ — 5A results (free-gen, detection-delay analysis, unseeded)</a:t>
            </a:r>
          </a:p>
          <a:p>
            <a:pPr>
              <a:spcAft>
                <a:spcPts val="600"/>
              </a:spcAft>
              <a:defRPr sz="1000" b="0">
                <a:solidFill>
                  <a:srgbClr val="5F636E"/>
                </a:solidFill>
              </a:defRPr>
            </a:pPr>
            <a:r>
              <a:t>‒  outputs/stage_gcg_full/gcg_full_qwen3_7b_seed{43,44,45}/ — 7B per-seed results</a:t>
            </a:r>
          </a:p>
          <a:p>
            <a:pPr>
              <a:spcAft>
                <a:spcPts val="600"/>
              </a:spcAft>
              <a:defRPr sz="1000" b="0">
                <a:solidFill>
                  <a:srgbClr val="5F636E"/>
                </a:solidFill>
              </a:defRPr>
            </a:pPr>
            <a:r>
              <a:t>‒  outputs/stage_gcg_full/gcg_full_gemma4_7c_nothink/ — 7C results</a:t>
            </a:r>
          </a:p>
          <a:p>
            <a:pPr>
              <a:spcAft>
                <a:spcPts val="600"/>
              </a:spcAft>
              <a:defRPr sz="1000" b="0">
                <a:solidFill>
                  <a:srgbClr val="5F636E"/>
                </a:solidFill>
              </a:defRPr>
            </a:pPr>
            <a:r>
              <a:t>‒  outputs/stage_gcg_full/gcg_full_qwen3_7a_5a_full520/ — 7A final merged results (6,240 rows train + 5,849 rows unseen seeds (493/520 behaviors))</a:t>
            </a:r>
          </a:p>
          <a:p>
            <a:pPr>
              <a:spcAft>
                <a:spcPts val="600"/>
              </a:spcAft>
              <a:defRPr sz="1000" b="0">
                <a:solidFill>
                  <a:srgbClr val="5F636E"/>
                </a:solidFill>
              </a:defRPr>
            </a:pPr>
            <a:r>
              <a:t>‒  outputs/stage_gcg_full/refusal_direction_{qwen3,gemma4}_L25.pt — measured refusal-direction vectors</a:t>
            </a:r>
          </a:p>
          <a:p>
            <a:pPr>
              <a:spcAft>
                <a:spcPts val="1000"/>
              </a:spcAft>
              <a:defRPr sz="1300" b="1">
                <a:solidFill>
                  <a:srgbClr val="1B1F2A"/>
                </a:solidFill>
              </a:defRPr>
            </a:pPr>
            <a:r>
              <a:t>•  Scripts added for Phase 7A/unseeded-eval parallelization:</a:t>
            </a:r>
          </a:p>
          <a:p>
            <a:pPr>
              <a:spcAft>
                <a:spcPts val="600"/>
              </a:spcAft>
              <a:defRPr sz="1000" b="0">
                <a:solidFill>
                  <a:srgbClr val="5F636E"/>
                </a:solidFill>
              </a:defRPr>
            </a:pPr>
            <a:r>
              <a:t>‒  scripts/split_7a_manifest.py / merge_7a_shards.py — split 520-behavior manifest into 6 shards, merge results back, de-dup by row key</a:t>
            </a:r>
          </a:p>
          <a:p>
            <a:pPr>
              <a:spcAft>
                <a:spcPts val="600"/>
              </a:spcAft>
              <a:defRPr sz="1000" b="0">
                <a:solidFill>
                  <a:srgbClr val="5F636E"/>
                </a:solidFill>
              </a:defRPr>
            </a:pPr>
            <a:r>
              <a:t>‒  scripts/split_unseeded_shards.py / merge_unseeded_shards.py — same pattern for the 3-unseen-seed evaluation (15 shards across 3 waves, matching slide 10 — this bullet was stale from before the 3rd wave ran, corrected 2026-07-13)</a:t>
            </a:r>
          </a:p>
          <a:p>
            <a:pPr>
              <a:spcAft>
                <a:spcPts val="600"/>
              </a:spcAft>
              <a:defRPr sz="1000" b="0">
                <a:solidFill>
                  <a:srgbClr val="5F636E"/>
                </a:solidFill>
              </a:defRPr>
            </a:pPr>
            <a:r>
              <a:t>‒  slurm_scripts/run_gcg_full_7a_shard.slurm — parameterized SLURM job for one main-eval shard (SHARD_ID env var)</a:t>
            </a:r>
          </a:p>
          <a:p>
            <a:pPr>
              <a:spcAft>
                <a:spcPts val="600"/>
              </a:spcAft>
              <a:defRPr sz="1000" b="0">
                <a:solidFill>
                  <a:srgbClr val="5F636E"/>
                </a:solidFill>
              </a:defRPr>
            </a:pPr>
            <a:r>
              <a:t>‒  slurm_scripts/run_gcg_replay_7a.slurm — A6000-constrained replay job (needed after the original L40S-only job stalled in queue)</a:t>
            </a:r>
          </a:p>
          <a:p>
            <a:pPr>
              <a:spcAft>
                <a:spcPts val="1000"/>
              </a:spcAft>
              <a:defRPr sz="1300" b="1">
                <a:solidFill>
                  <a:srgbClr val="1B1F2A"/>
                </a:solidFill>
              </a:defRPr>
            </a:pPr>
            <a:r>
              <a:t>•  Key SLURM job IDs: 7B optimization 652223–652225; 7C optimization 652226; 7A main-eval shards 653888–653893; 7A replay 655618; 7A unseeded-eval shards 655998–656002 + 656263–656267</a:t>
            </a:r>
          </a:p>
        </p:txBody>
      </p:sp>
      <p:sp>
        <p:nvSpPr>
          <p:cNvPr id="6" name="TextBox 5"/>
          <p:cNvSpPr txBox="1"/>
          <p:nvPr/>
        </p:nvSpPr>
        <p:spPr>
          <a:xfrm>
            <a:off x="548640" y="6537960"/>
            <a:ext cx="11064240" cy="274320"/>
          </a:xfrm>
          <a:prstGeom prst="rect">
            <a:avLst/>
          </a:prstGeom>
          <a:noFill/>
        </p:spPr>
        <p:txBody>
          <a:bodyPr wrap="none">
            <a:spAutoFit/>
          </a:bodyPr>
          <a:lstStyle/>
          <a:p>
            <a:pPr algn="r">
              <a:defRPr sz="1000">
                <a:solidFill>
                  <a:srgbClr val="5F636E"/>
                </a:solidFill>
              </a:defRPr>
            </a:pPr>
            <a:r>
              <a:t>GCG Phases 4–7 Summary  |  Jul 7–12, 2026  |  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
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2377440"/>
          </a:xfrm>
          <a:prstGeom prst="rect">
            <a:avLst/>
          </a:prstGeom>
          <a:noFill/>
        </p:spPr>
        <p:txBody>
          <a:bodyPr wrap="square" lIns="0" rIns="0" tIns="0" bIns="0">
            <a:spAutoFit/>
          </a:bodyPr>
          <a:lstStyle/>
          <a:p>
            <a:pPr algn="l">
              <a:spcBef>
                <a:spcPts val="0"/>
              </a:spcBef>
              <a:spcAft>
                <a:spcPts val="200"/>
              </a:spcAft>
            </a:pPr>
            <a:r>
              <a:rPr sz="3000" b="1" i="0">
                <a:solidFill>
                  <a:srgbClr val="153A5C"/>
                </a:solidFill>
                <a:latin typeface="Arial"/>
              </a:rPr>
              <a:t>From observing in-context representation hijacking</a:t>
            </a:r>
          </a:p>
          <a:p>
            <a:pPr algn="l">
              <a:spcBef>
                <a:spcPts val="0"/>
              </a:spcBef>
              <a:spcAft>
                <a:spcPts val="1400"/>
              </a:spcAft>
            </a:pPr>
            <a:r>
              <a:rPr sz="3000" b="1" i="0">
                <a:solidFill>
                  <a:srgbClr val="153A5C"/>
                </a:solidFill>
                <a:latin typeface="Arial"/>
              </a:rPr>
              <a:t>to causally controlling it.</a:t>
            </a:r>
          </a:p>
          <a:p>
            <a:pPr algn="l">
              <a:spcBef>
                <a:spcPts val="0"/>
              </a:spcBef>
              <a:spcAft>
                <a:spcPts val="200"/>
              </a:spcAft>
            </a:pPr>
            <a:r>
              <a:rPr sz="1600" b="0" i="0">
                <a:solidFill>
                  <a:srgbClr val="395B74"/>
                </a:solidFill>
                <a:latin typeface="Arial"/>
              </a:rPr>
              <a:t>A causal-mechanistic study of the Doublespeak attack</a:t>
            </a:r>
          </a:p>
          <a:p>
            <a:pPr algn="l">
              <a:spcBef>
                <a:spcPts val="0"/>
              </a:spcBef>
              <a:spcAft>
                <a:spcPts val="0"/>
              </a:spcAft>
            </a:pPr>
            <a:r>
              <a:rPr sz="1400" b="0" i="1">
                <a:solidFill>
                  <a:srgbClr val="6A727D"/>
                </a:solidFill>
                <a:latin typeface="Arial"/>
              </a:rPr>
              <a:t>In-Context Representation Hijacking, arXiv:2512.03771</a:t>
            </a:r>
          </a:p>
        </p:txBody>
      </p:sp>
      <p:cxnSp>
        <p:nvCxnSpPr>
          <p:cNvPr id="5" name="Connector 4"/>
          <p:cNvCxnSpPr/>
          <p:nvPr/>
        </p:nvCxnSpPr>
        <p:spPr>
          <a:xfrm>
            <a:off x="566928" y="4114800"/>
            <a:ext cx="2926080" cy="0"/>
          </a:xfrm>
          <a:prstGeom prst="bentConnector3">
            <a:avLst/>
          </a:prstGeom>
          <a:ln w="27940">
            <a:solidFill>
              <a:srgbClr val="A84B1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343400"/>
            <a:ext cx="11057839" cy="1463040"/>
          </a:xfrm>
          <a:prstGeom prst="rect">
            <a:avLst/>
          </a:prstGeom>
          <a:noFill/>
        </p:spPr>
        <p:txBody>
          <a:bodyPr wrap="square" lIns="0" rIns="0" tIns="0" bIns="0">
            <a:spAutoFit/>
          </a:bodyPr>
          <a:lstStyle/>
          <a:p>
            <a:pPr algn="l">
              <a:spcBef>
                <a:spcPts val="0"/>
              </a:spcBef>
              <a:spcAft>
                <a:spcPts val="400"/>
              </a:spcAft>
            </a:pPr>
            <a:r>
              <a:rPr sz="1300" b="1" i="0">
                <a:solidFill>
                  <a:srgbClr val="1C222E"/>
                </a:solidFill>
                <a:latin typeface="Arial"/>
              </a:rPr>
              <a:t>Omer Yosef</a:t>
            </a:r>
            <a:r>
              <a:rPr sz="1300" b="0" i="0">
                <a:solidFill>
                  <a:srgbClr val="6A727D"/>
                </a:solidFill>
                <a:latin typeface="Arial"/>
              </a:rPr>
              <a:t>   ·  M.Sc. thesis, Tel Aviv University  ·  advisor Dr. Mahmood Sharif</a:t>
            </a:r>
          </a:p>
          <a:p>
            <a:pPr algn="l">
              <a:spcBef>
                <a:spcPts val="0"/>
              </a:spcBef>
              <a:spcAft>
                <a:spcPts val="400"/>
              </a:spcAft>
            </a:pPr>
            <a:r>
              <a:rPr sz="1200" b="0" i="0">
                <a:solidFill>
                  <a:srgbClr val="395B74"/>
                </a:solidFill>
                <a:latin typeface="Arial"/>
              </a:rPr>
              <a:t>Primary model Llama-3.1-8B-Instruct   ·   fixed pair carrot↔bomb   ·   sprint 25 Jul – 1 Aug 2026</a:t>
            </a:r>
          </a:p>
          <a:p>
            <a:pPr algn="l">
              <a:spcBef>
                <a:spcPts val="0"/>
              </a:spcBef>
              <a:spcAft>
                <a:spcPts val="0"/>
              </a:spcAft>
            </a:pPr>
            <a:r>
              <a:rPr sz="1150" b="0" i="1">
                <a:solidFill>
                  <a:srgbClr val="6A727D"/>
                </a:solidFill>
                <a:latin typeface="Arial"/>
              </a:rPr>
              <a:t>Every number in this deck is checked against the run artifacts and the producing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HOW TO READ THIS DECK</a:t>
            </a:r>
          </a:p>
          <a:p>
            <a:pPr>
              <a:spcBef>
                <a:spcPts val="200"/>
              </a:spcBef>
            </a:pPr>
            <a:r>
              <a:rPr sz="2300" b="1" i="0">
                <a:solidFill>
                  <a:srgbClr val="153A5C"/>
                </a:solidFill>
                <a:latin typeface="Arial"/>
              </a:rPr>
              <a:t>What we did, and how the slides are built</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74519"/>
            <a:ext cx="5346039" cy="3657600"/>
          </a:xfrm>
          <a:prstGeom prst="rect">
            <a:avLst/>
          </a:prstGeom>
          <a:noFill/>
        </p:spPr>
        <p:txBody>
          <a:bodyPr wrap="square" lIns="0" rIns="0" tIns="0" bIns="0">
            <a:spAutoFit/>
          </a:bodyPr>
          <a:lstStyle/>
          <a:p>
            <a:pPr>
              <a:spcBef>
                <a:spcPts val="0"/>
              </a:spcBef>
              <a:spcAft>
                <a:spcPts val="1100"/>
              </a:spcAft>
            </a:pPr>
            <a:r>
              <a:rPr sz="1500" b="1" i="0">
                <a:solidFill>
                  <a:srgbClr val="153A5C"/>
                </a:solidFill>
                <a:latin typeface="Arial"/>
              </a:rPr>
              <a:t>– </a:t>
            </a:r>
            <a:r>
              <a:rPr sz="1500" b="0" i="0">
                <a:solidFill>
                  <a:srgbClr val="1C222E"/>
                </a:solidFill>
                <a:latin typeface="Arial"/>
              </a:rPr>
              <a:t>The paper shows the attack works and that the codeword decodes as the harmful concept. It never intervenes to prove that representation causes the behaviour.</a:t>
            </a:r>
          </a:p>
          <a:p>
            <a:pPr>
              <a:spcBef>
                <a:spcPts val="0"/>
              </a:spcBef>
              <a:spcAft>
                <a:spcPts val="1100"/>
              </a:spcAft>
            </a:pPr>
            <a:r>
              <a:rPr sz="1500" b="1" i="0">
                <a:solidFill>
                  <a:srgbClr val="153A5C"/>
                </a:solidFill>
                <a:latin typeface="Arial"/>
              </a:rPr>
              <a:t>– </a:t>
            </a:r>
            <a:r>
              <a:rPr sz="1500" b="0" i="0">
                <a:solidFill>
                  <a:srgbClr val="1C222E"/>
                </a:solidFill>
                <a:latin typeface="Arial"/>
              </a:rPr>
              <a:t>We ran the causal experiments the paper is missing: transplant, directional add/remove, attention/MLP attribution, path patching, depth-timed refusal tests.</a:t>
            </a:r>
          </a:p>
          <a:p>
            <a:pPr>
              <a:spcBef>
                <a:spcPts val="0"/>
              </a:spcBef>
              <a:spcAft>
                <a:spcPts val="1100"/>
              </a:spcAft>
            </a:pPr>
            <a:r>
              <a:rPr sz="1500" b="1" i="0">
                <a:solidFill>
                  <a:srgbClr val="153A5C"/>
                </a:solidFill>
                <a:latin typeface="Arial"/>
              </a:rPr>
              <a:t>– </a:t>
            </a:r>
            <a:r>
              <a:rPr sz="1500" b="0" i="0">
                <a:solidFill>
                  <a:srgbClr val="1C222E"/>
                </a:solidFill>
                <a:latin typeface="Arial"/>
              </a:rPr>
              <a:t>Result: three new causal findings, a validated circuit, both hypothesised mechanisms tested, honest defence negatives, and a self-audit that corrected one of our own claims.</a:t>
            </a:r>
          </a:p>
        </p:txBody>
      </p:sp>
      <p:sp>
        <p:nvSpPr>
          <p:cNvPr id="5" name="Rounded Rectangle 4"/>
          <p:cNvSpPr/>
          <p:nvPr/>
        </p:nvSpPr>
        <p:spPr>
          <a:xfrm>
            <a:off x="6278727" y="1874519"/>
            <a:ext cx="5346039" cy="35661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lIns="177800" rIns="177800" tIns="152400" bIns="127000" wrap="square"/>
          <a:lstStyle/>
          <a:p>
            <a:pPr algn="l">
              <a:spcBef>
                <a:spcPts val="0"/>
              </a:spcBef>
              <a:spcAft>
                <a:spcPts val="800"/>
              </a:spcAft>
            </a:pPr>
            <a:r>
              <a:rPr sz="1500" b="1" i="0">
                <a:solidFill>
                  <a:srgbClr val="153A5C"/>
                </a:solidFill>
                <a:latin typeface="Arial"/>
              </a:rPr>
              <a:t>The onion structure</a:t>
            </a:r>
          </a:p>
          <a:p>
            <a:pPr algn="l">
              <a:spcBef>
                <a:spcPts val="0"/>
              </a:spcBef>
              <a:spcAft>
                <a:spcPts val="1000"/>
              </a:spcAft>
            </a:pPr>
            <a:r>
              <a:rPr sz="1300" b="0" i="0">
                <a:solidFill>
                  <a:srgbClr val="1C222E"/>
                </a:solidFill>
                <a:latin typeface="Arial"/>
              </a:rPr>
              <a:t>Each topic is two slides.</a:t>
            </a:r>
          </a:p>
          <a:p>
            <a:pPr algn="l">
              <a:spcBef>
                <a:spcPts val="0"/>
              </a:spcBef>
              <a:spcAft>
                <a:spcPts val="800"/>
              </a:spcAft>
            </a:pPr>
            <a:r>
              <a:rPr sz="1250" b="1" i="0">
                <a:solidFill>
                  <a:srgbClr val="153A5C"/>
                </a:solidFill>
                <a:latin typeface="Arial"/>
              </a:rPr>
              <a:t>OVERVIEW  </a:t>
            </a:r>
            <a:r>
              <a:rPr sz="1250" b="0" i="0">
                <a:solidFill>
                  <a:srgbClr val="1C222E"/>
                </a:solidFill>
                <a:latin typeface="Arial"/>
              </a:rPr>
              <a:t>— the claim in plain language: what we found and why it matters.</a:t>
            </a:r>
          </a:p>
          <a:p>
            <a:pPr algn="l">
              <a:spcBef>
                <a:spcPts val="0"/>
              </a:spcBef>
              <a:spcAft>
                <a:spcPts val="1000"/>
              </a:spcAft>
            </a:pPr>
            <a:r>
              <a:rPr sz="1250" b="1" i="0">
                <a:solidFill>
                  <a:srgbClr val="A84B1E"/>
                </a:solidFill>
                <a:latin typeface="Arial"/>
              </a:rPr>
              <a:t>EVIDENCE  </a:t>
            </a:r>
            <a:r>
              <a:rPr sz="1250" b="0" i="0">
                <a:solidFill>
                  <a:srgbClr val="1C222E"/>
                </a:solidFill>
                <a:latin typeface="Arial"/>
              </a:rPr>
              <a:t>— the numbers, controls, artifacts, and the caveats behind the claim.</a:t>
            </a:r>
          </a:p>
          <a:p>
            <a:pPr algn="l">
              <a:spcBef>
                <a:spcPts val="0"/>
              </a:spcBef>
              <a:spcAft>
                <a:spcPts val="500"/>
              </a:spcAft>
            </a:pPr>
            <a:r>
              <a:rPr sz="1250" b="1" i="0">
                <a:solidFill>
                  <a:srgbClr val="395B74"/>
                </a:solidFill>
                <a:latin typeface="Arial"/>
              </a:rPr>
              <a:t>Tags used on evidence slides:</a:t>
            </a:r>
          </a:p>
          <a:p>
            <a:pPr algn="l">
              <a:spcBef>
                <a:spcPts val="0"/>
              </a:spcBef>
              <a:spcAft>
                <a:spcPts val="400"/>
              </a:spcAft>
            </a:pPr>
            <a:r>
              <a:rPr sz="1200" b="1" i="0">
                <a:solidFill>
                  <a:srgbClr val="2B6B45"/>
                </a:solidFill>
                <a:latin typeface="Arial"/>
              </a:rPr>
              <a:t>verified </a:t>
            </a:r>
            <a:r>
              <a:rPr sz="1200" b="0" i="0">
                <a:solidFill>
                  <a:srgbClr val="1C222E"/>
                </a:solidFill>
                <a:latin typeface="Arial"/>
              </a:rPr>
              <a:t>matches the on-disk result.</a:t>
            </a:r>
          </a:p>
          <a:p>
            <a:pPr algn="l">
              <a:spcBef>
                <a:spcPts val="0"/>
              </a:spcBef>
              <a:spcAft>
                <a:spcPts val="400"/>
              </a:spcAft>
            </a:pPr>
            <a:r>
              <a:rPr sz="1200" b="1" i="0">
                <a:solidFill>
                  <a:srgbClr val="A84B1E"/>
                </a:solidFill>
                <a:latin typeface="Arial"/>
              </a:rPr>
              <a:t>corrected </a:t>
            </a:r>
            <a:r>
              <a:rPr sz="1200" b="0" i="0">
                <a:solidFill>
                  <a:srgbClr val="1C222E"/>
                </a:solidFill>
                <a:latin typeface="Arial"/>
              </a:rPr>
              <a:t>a prior number/claim was wrong; fixed here.</a:t>
            </a:r>
          </a:p>
          <a:p>
            <a:pPr algn="l">
              <a:spcBef>
                <a:spcPts val="0"/>
              </a:spcBef>
              <a:spcAft>
                <a:spcPts val="0"/>
              </a:spcAft>
            </a:pPr>
            <a:r>
              <a:rPr sz="1200" b="1" i="0">
                <a:solidFill>
                  <a:srgbClr val="A84B1E"/>
                </a:solidFill>
                <a:latin typeface="Arial"/>
              </a:rPr>
              <a:t>flagged </a:t>
            </a:r>
            <a:r>
              <a:rPr sz="1200" b="0" i="0">
                <a:solidFill>
                  <a:srgbClr val="1C222E"/>
                </a:solidFill>
                <a:latin typeface="Arial"/>
              </a:rPr>
              <a:t>real but with a limitation you should see.</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THE TARGET</a:t>
            </a:r>
          </a:p>
          <a:p>
            <a:pPr>
              <a:spcBef>
                <a:spcPts val="200"/>
              </a:spcBef>
            </a:pPr>
            <a:r>
              <a:rPr sz="2300" b="1" i="0">
                <a:solidFill>
                  <a:srgbClr val="153A5C"/>
                </a:solidFill>
                <a:latin typeface="Arial"/>
              </a:rPr>
              <a:t>Doublespeak turns a benign word into a harmful request</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Demonstrations repeatedly use a benign codeword (carrot) where a harmful concept (bomb) belongs. The final query uses the benign word, and the model complies with the harmful intent.</a:t>
            </a:r>
          </a:p>
          <a:p>
            <a:pPr>
              <a:spcBef>
                <a:spcPts val="0"/>
              </a:spcBef>
              <a:spcAft>
                <a:spcPts val="1300"/>
              </a:spcAft>
            </a:pPr>
            <a:r>
              <a:rPr sz="1650" b="1" i="0">
                <a:solidFill>
                  <a:srgbClr val="153A5C"/>
                </a:solidFill>
                <a:latin typeface="Arial"/>
              </a:rPr>
              <a:t>– </a:t>
            </a:r>
            <a:r>
              <a:rPr sz="1650" b="0" i="0">
                <a:solidFill>
                  <a:srgbClr val="1C222E"/>
                </a:solidFill>
                <a:latin typeface="Arial"/>
              </a:rPr>
              <a:t>The paper's evidence is observational: logit-lens and Patchscopes show carrot decodes more and more like bomb across layers, peaking late.</a:t>
            </a:r>
          </a:p>
          <a:p>
            <a:pPr>
              <a:spcBef>
                <a:spcPts val="0"/>
              </a:spcBef>
              <a:spcAft>
                <a:spcPts val="1300"/>
              </a:spcAft>
            </a:pPr>
            <a:r>
              <a:rPr sz="1650" b="1" i="0">
                <a:solidFill>
                  <a:srgbClr val="153A5C"/>
                </a:solidFill>
                <a:latin typeface="Arial"/>
              </a:rPr>
              <a:t>– </a:t>
            </a:r>
            <a:r>
              <a:rPr sz="1650" b="0" i="0">
                <a:solidFill>
                  <a:srgbClr val="1C222E"/>
                </a:solidFill>
                <a:latin typeface="Arial"/>
              </a:rPr>
              <a:t>It hypothesises two mechanisms but tests neither: TOCTOU (refusal checks early, harm emerges late) and superposition (the codeword carries both meanings).</a:t>
            </a:r>
          </a:p>
          <a:p>
            <a:pPr>
              <a:spcBef>
                <a:spcPts val="0"/>
              </a:spcBef>
              <a:spcAft>
                <a:spcPts val="1300"/>
              </a:spcAft>
            </a:pPr>
            <a:r>
              <a:rPr sz="1650" b="1" i="0">
                <a:solidFill>
                  <a:srgbClr val="153A5C"/>
                </a:solidFill>
                <a:latin typeface="Arial"/>
              </a:rPr>
              <a:t>– </a:t>
            </a:r>
            <a:r>
              <a:rPr sz="1650" b="0" i="0">
                <a:solidFill>
                  <a:srgbClr val="1C222E"/>
                </a:solidFill>
                <a:latin typeface="Arial"/>
              </a:rPr>
              <a:t>Our thesis: control whether, where, and when the hijacked meaning forms, and show that this controls refuse-versus-comply.</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THE TARGET</a:t>
            </a:r>
          </a:p>
          <a:p>
            <a:pPr>
              <a:spcBef>
                <a:spcPts val="200"/>
              </a:spcBef>
            </a:pPr>
            <a:r>
              <a:rPr sz="2300" b="1" i="0">
                <a:solidFill>
                  <a:srgbClr val="153A5C"/>
                </a:solidFill>
                <a:latin typeface="Arial"/>
              </a:rPr>
              <a:t>What the paper established, and the gap we fill</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TextBox 4"/>
          <p:cNvSpPr txBox="1"/>
          <p:nvPr/>
        </p:nvSpPr>
        <p:spPr>
          <a:xfrm>
            <a:off x="566928" y="1828800"/>
            <a:ext cx="5971233" cy="4023360"/>
          </a:xfrm>
          <a:prstGeom prst="rect">
            <a:avLst/>
          </a:prstGeom>
          <a:noFill/>
        </p:spPr>
        <p:txBody>
          <a:bodyPr wrap="square" lIns="0" rIns="0" tIns="0" bIns="0">
            <a:spAutoFit/>
          </a:bodyPr>
          <a:lstStyle/>
          <a:p>
            <a:pPr>
              <a:spcBef>
                <a:spcPts val="0"/>
              </a:spcBef>
              <a:spcAft>
                <a:spcPts val="700"/>
              </a:spcAft>
            </a:pPr>
            <a:r>
              <a:rPr sz="1350" b="1" i="0">
                <a:solidFill>
                  <a:srgbClr val="153A5C"/>
                </a:solidFill>
                <a:latin typeface="Arial"/>
              </a:rPr>
              <a:t>– </a:t>
            </a:r>
            <a:r>
              <a:rPr sz="1350" b="1" i="0">
                <a:solidFill>
                  <a:srgbClr val="1C222E"/>
                </a:solidFill>
                <a:latin typeface="Arial"/>
              </a:rPr>
              <a:t>Attack construction:</a:t>
            </a:r>
          </a:p>
          <a:p>
            <a:pPr lvl="1">
              <a:spcBef>
                <a:spcPts val="0"/>
              </a:spcBef>
              <a:spcAft>
                <a:spcPts val="700"/>
              </a:spcAft>
            </a:pPr>
            <a:r>
              <a:rPr sz="1350" b="1" i="0">
                <a:solidFill>
                  <a:srgbClr val="395B74"/>
                </a:solidFill>
                <a:latin typeface="Arial"/>
              </a:rPr>
              <a:t>· </a:t>
            </a:r>
            <a:r>
              <a:rPr sz="1350" b="0" i="0">
                <a:solidFill>
                  <a:srgbClr val="1C222E"/>
                </a:solidFill>
                <a:latin typeface="Arial"/>
              </a:rPr>
              <a:t>generate N sentences containing the harmful word, replace it with the benign codeword in the demos, then ask the substituted harmful query wrapped with “Do not reason, just … given the context.”</a:t>
            </a:r>
          </a:p>
          <a:p>
            <a:pPr>
              <a:spcBef>
                <a:spcPts val="0"/>
              </a:spcBef>
              <a:spcAft>
                <a:spcPts val="700"/>
              </a:spcAft>
            </a:pPr>
            <a:r>
              <a:rPr sz="1350" b="1" i="0">
                <a:solidFill>
                  <a:srgbClr val="153A5C"/>
                </a:solidFill>
                <a:latin typeface="Arial"/>
              </a:rPr>
              <a:t>– </a:t>
            </a:r>
            <a:r>
              <a:rPr sz="1350" b="1" i="0">
                <a:solidFill>
                  <a:srgbClr val="1C222E"/>
                </a:solidFill>
                <a:latin typeface="Arial"/>
              </a:rPr>
              <a:t>Original evidence:</a:t>
            </a:r>
          </a:p>
          <a:p>
            <a:pPr lvl="1">
              <a:spcBef>
                <a:spcPts val="0"/>
              </a:spcBef>
              <a:spcAft>
                <a:spcPts val="700"/>
              </a:spcAft>
            </a:pPr>
            <a:r>
              <a:rPr sz="1350" b="1" i="0">
                <a:solidFill>
                  <a:srgbClr val="395B74"/>
                </a:solidFill>
                <a:latin typeface="Arial"/>
              </a:rPr>
              <a:t>· </a:t>
            </a:r>
            <a:r>
              <a:rPr sz="1350" b="0" i="0">
                <a:solidFill>
                  <a:srgbClr val="1C222E"/>
                </a:solidFill>
                <a:latin typeface="Arial"/>
              </a:rPr>
              <a:t>logit-lens + Patchscopes decoding only; the concept reading grows across depth and peaks late.</a:t>
            </a:r>
          </a:p>
          <a:p>
            <a:pPr>
              <a:spcBef>
                <a:spcPts val="0"/>
              </a:spcBef>
              <a:spcAft>
                <a:spcPts val="700"/>
              </a:spcAft>
            </a:pPr>
            <a:r>
              <a:rPr sz="1350" b="1" i="0">
                <a:solidFill>
                  <a:srgbClr val="153A5C"/>
                </a:solidFill>
                <a:latin typeface="Arial"/>
              </a:rPr>
              <a:t>– </a:t>
            </a:r>
            <a:r>
              <a:rPr sz="1350" b="1" i="0">
                <a:solidFill>
                  <a:srgbClr val="1C222E"/>
                </a:solidFill>
                <a:latin typeface="Arial"/>
              </a:rPr>
              <a:t>Never done in the paper:</a:t>
            </a:r>
          </a:p>
          <a:p>
            <a:pPr lvl="1">
              <a:spcBef>
                <a:spcPts val="0"/>
              </a:spcBef>
              <a:spcAft>
                <a:spcPts val="700"/>
              </a:spcAft>
            </a:pPr>
            <a:r>
              <a:rPr sz="1350" b="1" i="0">
                <a:solidFill>
                  <a:srgbClr val="395B74"/>
                </a:solidFill>
                <a:latin typeface="Arial"/>
              </a:rPr>
              <a:t>· </a:t>
            </a:r>
            <a:r>
              <a:rPr sz="1350" b="0" i="0">
                <a:solidFill>
                  <a:srgbClr val="1C222E"/>
                </a:solidFill>
                <a:latin typeface="Arial"/>
              </a:rPr>
              <a:t>activation patching, directional add/remove, attention knockout, path patching, or depth-timed refusal manipulation.</a:t>
            </a:r>
          </a:p>
        </p:txBody>
      </p:sp>
      <p:sp>
        <p:nvSpPr>
          <p:cNvPr id="6" name="Rounded Rectangle 5"/>
          <p:cNvSpPr/>
          <p:nvPr/>
        </p:nvSpPr>
        <p:spPr>
          <a:xfrm>
            <a:off x="6869896" y="1828800"/>
            <a:ext cx="4754870" cy="182880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Two hypotheses we set out to test</a:t>
            </a:r>
          </a:p>
          <a:p>
            <a:pPr>
              <a:spcBef>
                <a:spcPts val="300"/>
              </a:spcBef>
            </a:pPr>
            <a:r>
              <a:rPr sz="1150" b="1" i="0">
                <a:solidFill>
                  <a:srgbClr val="153A5C"/>
                </a:solidFill>
                <a:latin typeface="Arial"/>
              </a:rPr>
              <a:t>TOCTOU: </a:t>
            </a:r>
            <a:r>
              <a:rPr sz="1150" b="0" i="0">
                <a:solidFill>
                  <a:srgbClr val="1C222E"/>
                </a:solidFill>
                <a:latin typeface="Arial"/>
              </a:rPr>
              <a:t>refusal reads an early representation; the harmful meaning arrives later and slips past it.</a:t>
            </a:r>
          </a:p>
          <a:p>
            <a:pPr>
              <a:spcBef>
                <a:spcPts val="300"/>
              </a:spcBef>
            </a:pPr>
            <a:r>
              <a:rPr sz="1150" b="1" i="0">
                <a:solidFill>
                  <a:srgbClr val="153A5C"/>
                </a:solidFill>
                <a:latin typeface="Arial"/>
              </a:rPr>
              <a:t>Superposition: </a:t>
            </a:r>
            <a:r>
              <a:rPr sz="1150" b="0" i="0">
                <a:solidFill>
                  <a:srgbClr val="1C222E"/>
                </a:solidFill>
                <a:latin typeface="Arial"/>
              </a:rPr>
              <a:t>the codeword position holds the codeword identity and the harmful concept at once.</a:t>
            </a:r>
          </a:p>
        </p:txBody>
      </p:sp>
      <p:sp>
        <p:nvSpPr>
          <p:cNvPr id="7" name="Rounded Rectangle 6"/>
          <p:cNvSpPr/>
          <p:nvPr/>
        </p:nvSpPr>
        <p:spPr>
          <a:xfrm>
            <a:off x="6869896" y="3840480"/>
            <a:ext cx="4754870" cy="201168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2B6B45"/>
                </a:solidFill>
                <a:latin typeface="Arial"/>
              </a:rPr>
              <a:t>Safe readout (used everywhere)</a:t>
            </a:r>
          </a:p>
          <a:p>
            <a:pPr>
              <a:spcBef>
                <a:spcPts val="300"/>
              </a:spcBef>
            </a:pPr>
            <a:r>
              <a:rPr sz="1150" b="1" i="0">
                <a:solidFill>
                  <a:srgbClr val="2B6B45"/>
                </a:solidFill>
                <a:latin typeface="Arial"/>
              </a:rPr>
              <a:t>p_concept: </a:t>
            </a:r>
            <a:r>
              <a:rPr sz="1150" b="0" i="0">
                <a:solidFill>
                  <a:srgbClr val="1C222E"/>
                </a:solidFill>
                <a:latin typeface="Arial"/>
              </a:rPr>
              <a:t>next-token probability that the model names the concept word. The model never emits a harmful answer, it just names the referent.</a:t>
            </a:r>
          </a:p>
          <a:p>
            <a:pPr>
              <a:spcBef>
                <a:spcPts val="300"/>
              </a:spcBef>
            </a:pPr>
            <a:r>
              <a:rPr sz="1150" b="1" i="0">
                <a:solidFill>
                  <a:srgbClr val="2B6B45"/>
                </a:solidFill>
                <a:latin typeface="Arial"/>
              </a:rPr>
              <a:t>forced_choice, </a:t>
            </a:r>
            <a:r>
              <a:rPr sz="1150" b="0" i="0">
                <a:solidFill>
                  <a:srgbClr val="1C222E"/>
                </a:solidFill>
                <a:latin typeface="Arial"/>
              </a:rPr>
              <a:t>not cloze: cloze floors the positive control (DIRECT 0.005 vs 0.785).</a:t>
            </a:r>
          </a:p>
        </p:txBody>
      </p:sp>
      <p:sp>
        <p:nvSpPr>
          <p:cNvPr id="8" name="TextBox 7"/>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9" name="TextBox 8"/>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DESIGN</a:t>
            </a:r>
          </a:p>
          <a:p>
            <a:pPr>
              <a:spcBef>
                <a:spcPts val="200"/>
              </a:spcBef>
            </a:pPr>
            <a:r>
              <a:rPr sz="2300" b="1" i="0">
                <a:solidFill>
                  <a:srgbClr val="153A5C"/>
                </a:solidFill>
                <a:latin typeface="Arial"/>
              </a:rPr>
              <a:t>Six questions, one fixed pair, matched controls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306324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Necessity and sufficiency: is the harmful codeword representation needed, and is injecting it enough (four distinct levels: probe, semantics, behaviour, refusal bypass)?</a:t>
            </a:r>
          </a:p>
          <a:p>
            <a:pPr>
              <a:spcBef>
                <a:spcPts val="0"/>
              </a:spcBef>
              <a:spcAft>
                <a:spcPts val="1300"/>
              </a:spcAft>
            </a:pPr>
            <a:r>
              <a:rPr sz="1650" b="1" i="0">
                <a:solidFill>
                  <a:srgbClr val="153A5C"/>
                </a:solidFill>
                <a:latin typeface="Arial"/>
              </a:rPr>
              <a:t>– </a:t>
            </a:r>
            <a:r>
              <a:rPr sz="1650" b="0" i="0">
                <a:solidFill>
                  <a:srgbClr val="1C222E"/>
                </a:solidFill>
                <a:latin typeface="Arial"/>
              </a:rPr>
              <a:t>Timing: does the layer where harmful meaning appears decide refuse-versus-comply?</a:t>
            </a:r>
          </a:p>
          <a:p>
            <a:pPr>
              <a:spcBef>
                <a:spcPts val="0"/>
              </a:spcBef>
              <a:spcAft>
                <a:spcPts val="1300"/>
              </a:spcAft>
            </a:pPr>
            <a:r>
              <a:rPr sz="1650" b="1" i="0">
                <a:solidFill>
                  <a:srgbClr val="153A5C"/>
                </a:solidFill>
                <a:latin typeface="Arial"/>
              </a:rPr>
              <a:t>– </a:t>
            </a:r>
            <a:r>
              <a:rPr sz="1650" b="0" i="0">
                <a:solidFill>
                  <a:srgbClr val="1C222E"/>
                </a:solidFill>
                <a:latin typeface="Arial"/>
              </a:rPr>
              <a:t>Information flow: where does the new meaning come from, which heads, which MLPs, which paths?</a:t>
            </a:r>
          </a:p>
          <a:p>
            <a:pPr>
              <a:spcBef>
                <a:spcPts val="0"/>
              </a:spcBef>
              <a:spcAft>
                <a:spcPts val="1300"/>
              </a:spcAft>
            </a:pPr>
            <a:r>
              <a:rPr sz="1650" b="1" i="0">
                <a:solidFill>
                  <a:srgbClr val="153A5C"/>
                </a:solidFill>
                <a:latin typeface="Arial"/>
              </a:rPr>
              <a:t>– </a:t>
            </a:r>
            <a:r>
              <a:rPr sz="1650" b="0" i="0">
                <a:solidFill>
                  <a:srgbClr val="1C222E"/>
                </a:solidFill>
                <a:latin typeface="Arial"/>
              </a:rPr>
              <a:t>Attack objective and codeword choice: can the mechanism be optimised, and is a farther codeword a better carrier?</a:t>
            </a:r>
          </a:p>
        </p:txBody>
      </p:sp>
      <p:sp>
        <p:nvSpPr>
          <p:cNvPr id="6" name="Rounded Rectangle 5"/>
          <p:cNvSpPr/>
          <p:nvPr/>
        </p:nvSpPr>
        <p:spPr>
          <a:xfrm>
            <a:off x="566928" y="5074920"/>
            <a:ext cx="11057839" cy="100584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Standing rule throughout</a:t>
            </a:r>
          </a:p>
          <a:p>
            <a:pPr>
              <a:spcBef>
                <a:spcPts val="300"/>
              </a:spcBef>
            </a:pPr>
            <a:r>
              <a:rPr sz="1150" b="1" i="0">
                <a:solidFill>
                  <a:srgbClr val="A84B1E"/>
                </a:solidFill>
                <a:latin typeface="Arial"/>
              </a:rPr>
              <a:t>Never </a:t>
            </a:r>
            <a:r>
              <a:rPr sz="1150" b="0" i="0">
                <a:solidFill>
                  <a:srgbClr val="1C222E"/>
                </a:solidFill>
                <a:latin typeface="Arial"/>
              </a:rPr>
              <a:t>convert a decoding result into a behavioural claim, and never read causality off a correlation. Rep-level p_concept and behavioural StrongReject are reported separately.</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DESIGN</a:t>
            </a:r>
          </a:p>
          <a:p>
            <a:pPr>
              <a:spcBef>
                <a:spcPts val="200"/>
              </a:spcBef>
            </a:pPr>
            <a:r>
              <a:rPr sz="2300" b="1" i="0">
                <a:solidFill>
                  <a:srgbClr val="153A5C"/>
                </a:solidFill>
                <a:latin typeface="Arial"/>
              </a:rPr>
              <a:t>Models, data, and the statistics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28800"/>
          <a:ext cx="5750075" cy="2816352"/>
        </p:xfrm>
        <a:graphic>
          <a:graphicData uri="http://schemas.openxmlformats.org/drawingml/2006/table">
            <a:tbl>
              <a:tblPr>
                <a:tableStyleId>{5C22544A-7EE6-4342-B048-85BDC9FD1C3A}</a:tableStyleId>
              </a:tblPr>
              <a:tblGrid>
                <a:gridCol w="1955025"/>
                <a:gridCol w="3795050"/>
              </a:tblGrid>
              <a:tr h="402336">
                <a:tc>
                  <a:txBody>
                    <a:bodyPr wrap="square"/>
                    <a:lstStyle/>
                    <a:p>
                      <a:pPr algn="l"/>
                      <a:r>
                        <a:rPr sz="1200" b="1" i="0">
                          <a:solidFill>
                            <a:srgbClr val="FFFFFF"/>
                          </a:solidFill>
                          <a:latin typeface="Arial"/>
                        </a:rPr>
                        <a:t>Element</a:t>
                      </a:r>
                    </a:p>
                  </a:txBody>
                  <a:tcPr marL="76200" marR="76200" marT="25400" marB="25400" anchor="ctr">
                    <a:solidFill>
                      <a:srgbClr val="153A5C"/>
                    </a:solidFill>
                  </a:tcPr>
                </a:tc>
                <a:tc>
                  <a:txBody>
                    <a:bodyPr wrap="square"/>
                    <a:lstStyle/>
                    <a:p>
                      <a:pPr algn="ctr"/>
                      <a:r>
                        <a:rPr sz="1200" b="1" i="0">
                          <a:solidFill>
                            <a:srgbClr val="FFFFFF"/>
                          </a:solidFill>
                          <a:latin typeface="Arial"/>
                        </a:rPr>
                        <a:t>Choice</a:t>
                      </a:r>
                    </a:p>
                  </a:txBody>
                  <a:tcPr marL="76200" marR="76200" marT="25400" marB="25400" anchor="ctr">
                    <a:solidFill>
                      <a:srgbClr val="153A5C"/>
                    </a:solidFill>
                  </a:tcPr>
                </a:tc>
              </a:tr>
              <a:tr h="402336">
                <a:tc>
                  <a:txBody>
                    <a:bodyPr wrap="square"/>
                    <a:lstStyle/>
                    <a:p>
                      <a:pPr algn="l"/>
                      <a:r>
                        <a:rPr sz="1200" b="1" i="0">
                          <a:solidFill>
                            <a:srgbClr val="1C222E"/>
                          </a:solidFill>
                          <a:latin typeface="Arial"/>
                        </a:rPr>
                        <a:t>Primary model</a:t>
                      </a:r>
                    </a:p>
                  </a:txBody>
                  <a:tcPr marL="76200" marR="76200" marT="25400" marB="25400" anchor="ctr">
                    <a:solidFill>
                      <a:srgbClr val="FFFFFF"/>
                    </a:solidFill>
                  </a:tcPr>
                </a:tc>
                <a:tc>
                  <a:txBody>
                    <a:bodyPr wrap="square"/>
                    <a:lstStyle/>
                    <a:p>
                      <a:pPr algn="ctr"/>
                      <a:r>
                        <a:rPr sz="1200" b="0" i="0">
                          <a:solidFill>
                            <a:srgbClr val="1C222E"/>
                          </a:solidFill>
                          <a:latin typeface="Arial"/>
                        </a:rPr>
                        <a:t>Llama-3.1-8B-Instruct (bf16, SDPA)</a:t>
                      </a:r>
                    </a:p>
                  </a:txBody>
                  <a:tcPr marL="76200" marR="76200" marT="25400" marB="25400" anchor="ctr">
                    <a:solidFill>
                      <a:srgbClr val="FFFFFF"/>
                    </a:solidFill>
                  </a:tcPr>
                </a:tc>
              </a:tr>
              <a:tr h="402336">
                <a:tc>
                  <a:txBody>
                    <a:bodyPr wrap="square"/>
                    <a:lstStyle/>
                    <a:p>
                      <a:pPr algn="l"/>
                      <a:r>
                        <a:rPr sz="1200" b="1" i="0">
                          <a:solidFill>
                            <a:srgbClr val="1C222E"/>
                          </a:solidFill>
                          <a:latin typeface="Arial"/>
                        </a:rPr>
                        <a:t>Cross-arch</a:t>
                      </a:r>
                    </a:p>
                  </a:txBody>
                  <a:tcPr marL="76200" marR="76200" marT="25400" marB="25400" anchor="ctr">
                    <a:solidFill>
                      <a:srgbClr val="F3F5F7"/>
                    </a:solidFill>
                  </a:tcPr>
                </a:tc>
                <a:tc>
                  <a:txBody>
                    <a:bodyPr wrap="square"/>
                    <a:lstStyle/>
                    <a:p>
                      <a:pPr algn="ctr"/>
                      <a:r>
                        <a:rPr sz="1200" b="0" i="0">
                          <a:solidFill>
                            <a:srgbClr val="1C222E"/>
                          </a:solidFill>
                          <a:latin typeface="Arial"/>
                        </a:rPr>
                        <a:t>Qwen3-14B, DeepSeek-R1-Distill, Phi-4</a:t>
                      </a:r>
                    </a:p>
                  </a:txBody>
                  <a:tcPr marL="76200" marR="76200" marT="25400" marB="25400" anchor="ctr">
                    <a:solidFill>
                      <a:srgbClr val="F3F5F7"/>
                    </a:solidFill>
                  </a:tcPr>
                </a:tc>
              </a:tr>
              <a:tr h="402336">
                <a:tc>
                  <a:txBody>
                    <a:bodyPr wrap="square"/>
                    <a:lstStyle/>
                    <a:p>
                      <a:pPr algn="l"/>
                      <a:r>
                        <a:rPr sz="1200" b="1" i="0">
                          <a:solidFill>
                            <a:srgbClr val="1C222E"/>
                          </a:solidFill>
                          <a:latin typeface="Arial"/>
                        </a:rPr>
                        <a:t>Concepts</a:t>
                      </a:r>
                    </a:p>
                  </a:txBody>
                  <a:tcPr marL="76200" marR="76200" marT="25400" marB="25400" anchor="ctr">
                    <a:solidFill>
                      <a:srgbClr val="FFFFFF"/>
                    </a:solidFill>
                  </a:tcPr>
                </a:tc>
                <a:tc>
                  <a:txBody>
                    <a:bodyPr wrap="square"/>
                    <a:lstStyle/>
                    <a:p>
                      <a:pPr algn="ctr"/>
                      <a:r>
                        <a:rPr sz="1200" b="0" i="0">
                          <a:solidFill>
                            <a:srgbClr val="1C222E"/>
                          </a:solidFill>
                          <a:latin typeface="Arial"/>
                        </a:rPr>
                        <a:t>bomb, grenade, pistol, chlorine, cocaine</a:t>
                      </a:r>
                    </a:p>
                  </a:txBody>
                  <a:tcPr marL="76200" marR="76200" marT="25400" marB="25400" anchor="ctr">
                    <a:solidFill>
                      <a:srgbClr val="FFFFFF"/>
                    </a:solidFill>
                  </a:tcPr>
                </a:tc>
              </a:tr>
              <a:tr h="402336">
                <a:tc>
                  <a:txBody>
                    <a:bodyPr wrap="square"/>
                    <a:lstStyle/>
                    <a:p>
                      <a:pPr algn="l"/>
                      <a:r>
                        <a:rPr sz="1200" b="1" i="0">
                          <a:solidFill>
                            <a:srgbClr val="1C222E"/>
                          </a:solidFill>
                          <a:latin typeface="Arial"/>
                        </a:rPr>
                        <a:t>Benchmark</a:t>
                      </a:r>
                    </a:p>
                  </a:txBody>
                  <a:tcPr marL="76200" marR="76200" marT="25400" marB="25400" anchor="ctr">
                    <a:solidFill>
                      <a:srgbClr val="F3F5F7"/>
                    </a:solidFill>
                  </a:tcPr>
                </a:tc>
                <a:tc>
                  <a:txBody>
                    <a:bodyPr wrap="square"/>
                    <a:lstStyle/>
                    <a:p>
                      <a:pPr algn="ctr"/>
                      <a:r>
                        <a:rPr sz="1200" b="0" i="0">
                          <a:solidFill>
                            <a:srgbClr val="1C222E"/>
                          </a:solidFill>
                          <a:latin typeface="Arial"/>
                        </a:rPr>
                        <a:t>gpt-4o-mini build, seed 7 (committed)</a:t>
                      </a:r>
                    </a:p>
                  </a:txBody>
                  <a:tcPr marL="76200" marR="76200" marT="25400" marB="25400" anchor="ctr">
                    <a:solidFill>
                      <a:srgbClr val="F3F5F7"/>
                    </a:solidFill>
                  </a:tcPr>
                </a:tc>
              </a:tr>
              <a:tr h="402336">
                <a:tc>
                  <a:txBody>
                    <a:bodyPr wrap="square"/>
                    <a:lstStyle/>
                    <a:p>
                      <a:pPr algn="l"/>
                      <a:r>
                        <a:rPr sz="1200" b="1" i="0">
                          <a:solidFill>
                            <a:srgbClr val="1C222E"/>
                          </a:solidFill>
                          <a:latin typeface="Arial"/>
                        </a:rPr>
                        <a:t>Rep readout</a:t>
                      </a:r>
                    </a:p>
                  </a:txBody>
                  <a:tcPr marL="76200" marR="76200" marT="25400" marB="25400" anchor="ctr">
                    <a:solidFill>
                      <a:srgbClr val="FFFFFF"/>
                    </a:solidFill>
                  </a:tcPr>
                </a:tc>
                <a:tc>
                  <a:txBody>
                    <a:bodyPr wrap="square"/>
                    <a:lstStyle/>
                    <a:p>
                      <a:pPr algn="ctr"/>
                      <a:r>
                        <a:rPr sz="1200" b="0" i="0">
                          <a:solidFill>
                            <a:srgbClr val="1C222E"/>
                          </a:solidFill>
                          <a:latin typeface="Arial"/>
                        </a:rPr>
                        <a:t>p_concept, forced_choice</a:t>
                      </a:r>
                    </a:p>
                  </a:txBody>
                  <a:tcPr marL="76200" marR="76200" marT="25400" marB="25400" anchor="ctr">
                    <a:solidFill>
                      <a:srgbClr val="FFFFFF"/>
                    </a:solidFill>
                  </a:tcPr>
                </a:tc>
              </a:tr>
              <a:tr h="402336">
                <a:tc>
                  <a:txBody>
                    <a:bodyPr wrap="square"/>
                    <a:lstStyle/>
                    <a:p>
                      <a:pPr algn="l"/>
                      <a:r>
                        <a:rPr sz="1200" b="1" i="0">
                          <a:solidFill>
                            <a:srgbClr val="1C222E"/>
                          </a:solidFill>
                          <a:latin typeface="Arial"/>
                        </a:rPr>
                        <a:t>Behaviour</a:t>
                      </a:r>
                    </a:p>
                  </a:txBody>
                  <a:tcPr marL="76200" marR="76200" marT="25400" marB="25400" anchor="ctr">
                    <a:solidFill>
                      <a:srgbClr val="F3F5F7"/>
                    </a:solidFill>
                  </a:tcPr>
                </a:tc>
                <a:tc>
                  <a:txBody>
                    <a:bodyPr wrap="square"/>
                    <a:lstStyle/>
                    <a:p>
                      <a:pPr algn="ctr"/>
                      <a:r>
                        <a:rPr sz="1200" b="0" i="0">
                          <a:solidFill>
                            <a:srgbClr val="1C222E"/>
                          </a:solidFill>
                          <a:latin typeface="Arial"/>
                        </a:rPr>
                        <a:t>StrongReject score + 3-way labels</a:t>
                      </a:r>
                    </a:p>
                  </a:txBody>
                  <a:tcPr marL="76200" marR="76200" marT="25400" marB="25400" anchor="ctr">
                    <a:solidFill>
                      <a:srgbClr val="F3F5F7"/>
                    </a:solidFill>
                  </a:tcPr>
                </a:tc>
              </a:tr>
            </a:tbl>
          </a:graphicData>
        </a:graphic>
      </p:graphicFrame>
      <p:sp>
        <p:nvSpPr>
          <p:cNvPr id="6" name="TextBox 5"/>
          <p:cNvSpPr txBox="1"/>
          <p:nvPr/>
        </p:nvSpPr>
        <p:spPr>
          <a:xfrm>
            <a:off x="6648739" y="1828800"/>
            <a:ext cx="4976027" cy="3840480"/>
          </a:xfrm>
          <a:prstGeom prst="rect">
            <a:avLst/>
          </a:prstGeom>
          <a:noFill/>
        </p:spPr>
        <p:txBody>
          <a:bodyPr wrap="square" lIns="0" rIns="0" tIns="0" bIns="0">
            <a:spAutoFit/>
          </a:bodyPr>
          <a:lstStyle/>
          <a:p>
            <a:pPr>
              <a:spcBef>
                <a:spcPts val="0"/>
              </a:spcBef>
              <a:spcAft>
                <a:spcPts val="700"/>
              </a:spcAft>
            </a:pPr>
            <a:r>
              <a:rPr sz="1300" b="1" i="0">
                <a:solidFill>
                  <a:srgbClr val="153A5C"/>
                </a:solidFill>
                <a:latin typeface="Arial"/>
              </a:rPr>
              <a:t>– </a:t>
            </a:r>
            <a:r>
              <a:rPr sz="1300" b="1" i="0">
                <a:solidFill>
                  <a:srgbClr val="1C222E"/>
                </a:solidFill>
                <a:latin typeface="Arial"/>
              </a:rPr>
              <a:t>Conditions:</a:t>
            </a:r>
          </a:p>
          <a:p>
            <a:pPr lvl="1">
              <a:spcBef>
                <a:spcPts val="0"/>
              </a:spcBef>
              <a:spcAft>
                <a:spcPts val="700"/>
              </a:spcAft>
            </a:pPr>
            <a:r>
              <a:rPr sz="1300" b="1" i="0">
                <a:solidFill>
                  <a:srgbClr val="395B74"/>
                </a:solidFill>
                <a:latin typeface="Arial"/>
              </a:rPr>
              <a:t>· </a:t>
            </a:r>
            <a:r>
              <a:rPr sz="1300" b="0" i="0">
                <a:solidFill>
                  <a:srgbClr val="1C222E"/>
                </a:solidFill>
                <a:latin typeface="Arial"/>
              </a:rPr>
              <a:t>DIRECT concept, NEUTRAL codeword, DOUBLESPEAK, REPEATED codeword, plus benign-remap and unrelated-target context controls.</a:t>
            </a:r>
          </a:p>
          <a:p>
            <a:pPr>
              <a:spcBef>
                <a:spcPts val="0"/>
              </a:spcBef>
              <a:spcAft>
                <a:spcPts val="700"/>
              </a:spcAft>
            </a:pPr>
            <a:r>
              <a:rPr sz="1300" b="1" i="0">
                <a:solidFill>
                  <a:srgbClr val="153A5C"/>
                </a:solidFill>
                <a:latin typeface="Arial"/>
              </a:rPr>
              <a:t>– </a:t>
            </a:r>
            <a:r>
              <a:rPr sz="1300" b="1" i="0">
                <a:solidFill>
                  <a:srgbClr val="1C222E"/>
                </a:solidFill>
                <a:latin typeface="Arial"/>
              </a:rPr>
              <a:t>Controls per intervention:</a:t>
            </a:r>
          </a:p>
          <a:p>
            <a:pPr lvl="1">
              <a:spcBef>
                <a:spcPts val="0"/>
              </a:spcBef>
              <a:spcAft>
                <a:spcPts val="700"/>
              </a:spcAft>
            </a:pPr>
            <a:r>
              <a:rPr sz="1300" b="1" i="0">
                <a:solidFill>
                  <a:srgbClr val="395B74"/>
                </a:solidFill>
                <a:latin typeface="Arial"/>
              </a:rPr>
              <a:t>· </a:t>
            </a:r>
            <a:r>
              <a:rPr sz="1300" b="0" i="0">
                <a:solidFill>
                  <a:srgbClr val="1C222E"/>
                </a:solidFill>
                <a:latin typeface="Arial"/>
              </a:rPr>
              <a:t>norm-matched random, orthogonal, and in-subspace directions, 60 per window.</a:t>
            </a:r>
          </a:p>
          <a:p>
            <a:pPr>
              <a:spcBef>
                <a:spcPts val="0"/>
              </a:spcBef>
              <a:spcAft>
                <a:spcPts val="700"/>
              </a:spcAft>
            </a:pPr>
            <a:r>
              <a:rPr sz="1300" b="1" i="0">
                <a:solidFill>
                  <a:srgbClr val="153A5C"/>
                </a:solidFill>
                <a:latin typeface="Arial"/>
              </a:rPr>
              <a:t>– </a:t>
            </a:r>
            <a:r>
              <a:rPr sz="1300" b="1" i="0">
                <a:solidFill>
                  <a:srgbClr val="1C222E"/>
                </a:solidFill>
                <a:latin typeface="Arial"/>
              </a:rPr>
              <a:t>Statistics:</a:t>
            </a:r>
          </a:p>
          <a:p>
            <a:pPr lvl="1">
              <a:spcBef>
                <a:spcPts val="0"/>
              </a:spcBef>
              <a:spcAft>
                <a:spcPts val="700"/>
              </a:spcAft>
            </a:pPr>
            <a:r>
              <a:rPr sz="1300" b="1" i="0">
                <a:solidFill>
                  <a:srgbClr val="395B74"/>
                </a:solidFill>
                <a:latin typeface="Arial"/>
              </a:rPr>
              <a:t>· </a:t>
            </a:r>
            <a:r>
              <a:rPr sz="1300" b="0" i="0">
                <a:solidFill>
                  <a:srgbClr val="1C222E"/>
                </a:solidFill>
                <a:latin typeface="Arial"/>
              </a:rPr>
              <a:t>paired bootstrap CIs, equivalence tests for the “inert” nulls (margin 0.05), and one Holm-Bonferroni family per sub-sprint.</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PHASE A  ·  REPRODUCTION</a:t>
            </a:r>
          </a:p>
          <a:p>
            <a:pPr>
              <a:spcBef>
                <a:spcPts val="200"/>
              </a:spcBef>
            </a:pPr>
            <a:r>
              <a:rPr sz="2300" b="1" i="0">
                <a:solidFill>
                  <a:srgbClr val="153A5C"/>
                </a:solidFill>
                <a:latin typeface="Arial"/>
              </a:rPr>
              <a:t>We reproduced the hijack, then removed a false behavioural null</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306324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The layer-wise decoding hijack reproduces, once the naive projection metric is replaced by a Patchscope decoder that passes its positive controls.</a:t>
            </a:r>
          </a:p>
          <a:p>
            <a:pPr>
              <a:spcBef>
                <a:spcPts val="0"/>
              </a:spcBef>
              <a:spcAft>
                <a:spcPts val="1300"/>
              </a:spcAft>
            </a:pPr>
            <a:r>
              <a:rPr sz="1650" b="1" i="0">
                <a:solidFill>
                  <a:srgbClr val="153A5C"/>
                </a:solidFill>
                <a:latin typeface="Arial"/>
              </a:rPr>
              <a:t>– </a:t>
            </a:r>
            <a:r>
              <a:rPr sz="1650" b="0" i="0">
                <a:solidFill>
                  <a:srgbClr val="1C222E"/>
                </a:solidFill>
                <a:latin typeface="Arial"/>
              </a:rPr>
              <a:t>The seed's “no behavioural jailbreak” turned out to be two artifacts: harm is rarely in one swappable noun, and the judge scored benign answers as refusals.</a:t>
            </a:r>
          </a:p>
          <a:p>
            <a:pPr>
              <a:spcBef>
                <a:spcPts val="0"/>
              </a:spcBef>
              <a:spcAft>
                <a:spcPts val="1300"/>
              </a:spcAft>
            </a:pPr>
            <a:r>
              <a:rPr sz="1650" b="1" i="0">
                <a:solidFill>
                  <a:srgbClr val="153A5C"/>
                </a:solidFill>
                <a:latin typeface="Arial"/>
              </a:rPr>
              <a:t>– </a:t>
            </a:r>
            <a:r>
              <a:rPr sz="1650" b="0" i="0">
                <a:solidFill>
                  <a:srgbClr val="1C222E"/>
                </a:solidFill>
                <a:latin typeface="Arial"/>
              </a:rPr>
              <a:t>With a curated single-noun benchmark and a language-only refusal label, the clean jailbreak appears: Direct refused, Neutral benign, Doublespeak complies.</a:t>
            </a:r>
          </a:p>
        </p:txBody>
      </p:sp>
      <p:sp>
        <p:nvSpPr>
          <p:cNvPr id="6" name="Rounded Rectangle 5"/>
          <p:cNvSpPr/>
          <p:nvPr/>
        </p:nvSpPr>
        <p:spPr>
          <a:xfrm>
            <a:off x="566928" y="5074920"/>
            <a:ext cx="11057839" cy="100584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Lesson worth publishing</a:t>
            </a:r>
          </a:p>
          <a:p>
            <a:pPr>
              <a:spcBef>
                <a:spcPts val="300"/>
              </a:spcBef>
            </a:pPr>
            <a:r>
              <a:rPr sz="1150" b="1" i="0">
                <a:solidFill>
                  <a:srgbClr val="A84B1E"/>
                </a:solidFill>
                <a:latin typeface="Arial"/>
              </a:rPr>
              <a:t>A harmful-goal judge </a:t>
            </a:r>
            <a:r>
              <a:rPr sz="1150" b="0" i="0">
                <a:solidFill>
                  <a:srgbClr val="1C222E"/>
                </a:solidFill>
                <a:latin typeface="Arial"/>
              </a:rPr>
              <a:t>conflates benign compliance with refusal and can manufacture a false negative. Anyone evaluating substitution attacks can hit this.</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PHASE A  ·  REPRODUCTION</a:t>
            </a:r>
          </a:p>
          <a:p>
            <a:pPr>
              <a:spcBef>
                <a:spcPts val="200"/>
              </a:spcBef>
            </a:pPr>
            <a:r>
              <a:rPr sz="2300" b="1" i="0">
                <a:solidFill>
                  <a:srgbClr val="153A5C"/>
                </a:solidFill>
                <a:latin typeface="Arial"/>
              </a:rPr>
              <a:t>The behavioural jailbreak is real</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Rounded Rectangle 4"/>
          <p:cNvSpPr/>
          <p:nvPr/>
        </p:nvSpPr>
        <p:spPr>
          <a:xfrm>
            <a:off x="566928" y="1874519"/>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18</a:t>
            </a:r>
          </a:p>
          <a:p>
            <a:pPr algn="ctr">
              <a:spcBef>
                <a:spcPts val="100"/>
              </a:spcBef>
            </a:pPr>
            <a:r>
              <a:rPr sz="1050" b="0" i="0">
                <a:solidFill>
                  <a:srgbClr val="395B74"/>
                </a:solidFill>
                <a:latin typeface="Arial"/>
              </a:rPr>
              <a:t>clean-success bases (42 verified conditions, 14 concepts)</a:t>
            </a:r>
          </a:p>
        </p:txBody>
      </p:sp>
      <p:sp>
        <p:nvSpPr>
          <p:cNvPr id="6" name="Rounded Rectangle 5"/>
          <p:cNvSpPr/>
          <p:nvPr/>
        </p:nvSpPr>
        <p:spPr>
          <a:xfrm>
            <a:off x="4437171" y="1874519"/>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~20%</a:t>
            </a:r>
          </a:p>
          <a:p>
            <a:pPr algn="ctr">
              <a:spcBef>
                <a:spcPts val="100"/>
              </a:spcBef>
            </a:pPr>
            <a:r>
              <a:rPr sz="1050" b="0" i="0">
                <a:solidFill>
                  <a:srgbClr val="395B74"/>
                </a:solidFill>
                <a:latin typeface="Arial"/>
              </a:rPr>
              <a:t>Doublespeak-malicious rate on eligible items</a:t>
            </a:r>
          </a:p>
        </p:txBody>
      </p:sp>
      <p:sp>
        <p:nvSpPr>
          <p:cNvPr id="7" name="Rounded Rectangle 6"/>
          <p:cNvSpPr/>
          <p:nvPr/>
        </p:nvSpPr>
        <p:spPr>
          <a:xfrm>
            <a:off x="8307415" y="1874519"/>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26 / 42</a:t>
            </a:r>
          </a:p>
          <a:p>
            <a:pPr algn="ctr">
              <a:spcBef>
                <a:spcPts val="100"/>
              </a:spcBef>
            </a:pPr>
            <a:r>
              <a:rPr sz="1050" b="0" i="0">
                <a:solidFill>
                  <a:srgbClr val="395B74"/>
                </a:solidFill>
                <a:latin typeface="Arial"/>
              </a:rPr>
              <a:t>conditions score ≥ 0.75 (StrongReject)</a:t>
            </a:r>
          </a:p>
        </p:txBody>
      </p:sp>
      <p:sp>
        <p:nvSpPr>
          <p:cNvPr id="8" name="TextBox 7"/>
          <p:cNvSpPr txBox="1"/>
          <p:nvPr/>
        </p:nvSpPr>
        <p:spPr>
          <a:xfrm>
            <a:off x="566928" y="3200400"/>
            <a:ext cx="11057839" cy="2194560"/>
          </a:xfrm>
          <a:prstGeom prst="rect">
            <a:avLst/>
          </a:prstGeom>
          <a:noFill/>
        </p:spPr>
        <p:txBody>
          <a:bodyPr wrap="square" lIns="0" rIns="0" tIns="0" bIns="0">
            <a:spAutoFit/>
          </a:bodyPr>
          <a:lstStyle/>
          <a:p>
            <a:pPr>
              <a:spcBef>
                <a:spcPts val="0"/>
              </a:spcBef>
              <a:spcAft>
                <a:spcPts val="800"/>
              </a:spcAft>
            </a:pPr>
            <a:r>
              <a:rPr sz="1350" b="1" i="0">
                <a:solidFill>
                  <a:srgbClr val="153A5C"/>
                </a:solidFill>
                <a:latin typeface="Arial"/>
              </a:rPr>
              <a:t>– </a:t>
            </a:r>
            <a:r>
              <a:rPr sz="1350" b="0" i="0">
                <a:solidFill>
                  <a:srgbClr val="1C222E"/>
                </a:solidFill>
                <a:latin typeface="Arial"/>
              </a:rPr>
              <a:t>All Neutrals score below 0.05 (harmless); 37 of 42 Doublespeak conditions score ≥ 0.5. The attack restores harmful compliance that Direct requests are refused for.</a:t>
            </a:r>
          </a:p>
          <a:p>
            <a:pPr>
              <a:spcBef>
                <a:spcPts val="0"/>
              </a:spcBef>
              <a:spcAft>
                <a:spcPts val="800"/>
              </a:spcAft>
            </a:pPr>
            <a:r>
              <a:rPr sz="1350" b="1" i="0">
                <a:solidFill>
                  <a:srgbClr val="153A5C"/>
                </a:solidFill>
                <a:latin typeface="Arial"/>
              </a:rPr>
              <a:t>– </a:t>
            </a:r>
            <a:r>
              <a:rPr sz="1350" b="1" i="0">
                <a:solidFill>
                  <a:srgbClr val="1C222E"/>
                </a:solidFill>
                <a:latin typeface="Arial"/>
              </a:rPr>
              <a:t>Benchmark fix:</a:t>
            </a:r>
          </a:p>
          <a:p>
            <a:pPr lvl="1">
              <a:spcBef>
                <a:spcPts val="0"/>
              </a:spcBef>
              <a:spcAft>
                <a:spcPts val="800"/>
              </a:spcAft>
            </a:pPr>
            <a:r>
              <a:rPr sz="1350" b="1" i="0">
                <a:solidFill>
                  <a:srgbClr val="395B74"/>
                </a:solidFill>
                <a:latin typeface="Arial"/>
              </a:rPr>
              <a:t>· </a:t>
            </a:r>
            <a:r>
              <a:rPr sz="1350" b="0" i="0">
                <a:solidFill>
                  <a:srgbClr val="1C222E"/>
                </a:solidFill>
                <a:latin typeface="Arial"/>
              </a:rPr>
              <a:t>of 193 AdvBench bases only 2 had a benign Neutral; the curated set (20 nouns × clean templates, 6 categories) makes substitution provably neutralising.</a:t>
            </a:r>
          </a:p>
        </p:txBody>
      </p:sp>
      <p:sp>
        <p:nvSpPr>
          <p:cNvPr id="9" name="TextBox 8"/>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10" name="TextBox 9"/>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PHASE A  ·  CAUSALITY</a:t>
            </a:r>
          </a:p>
          <a:p>
            <a:pPr>
              <a:spcBef>
                <a:spcPts val="200"/>
              </a:spcBef>
            </a:pPr>
            <a:r>
              <a:rPr sz="2300" b="1" i="0">
                <a:solidFill>
                  <a:srgbClr val="153A5C"/>
                </a:solidFill>
                <a:latin typeface="Arial"/>
              </a:rPr>
              <a:t>Refusal is a time-of-check operation on early layers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Inject the raw harmful concept at different depths of a benign prompt: early causes refusal, mid causes compliance, late changes neither.</a:t>
            </a:r>
          </a:p>
          <a:p>
            <a:pPr>
              <a:spcBef>
                <a:spcPts val="0"/>
              </a:spcBef>
              <a:spcAft>
                <a:spcPts val="1300"/>
              </a:spcAft>
            </a:pPr>
            <a:r>
              <a:rPr sz="1650" b="1" i="0">
                <a:solidFill>
                  <a:srgbClr val="153A5C"/>
                </a:solidFill>
                <a:latin typeface="Arial"/>
              </a:rPr>
              <a:t>– </a:t>
            </a:r>
            <a:r>
              <a:rPr sz="1650" b="0" i="0">
                <a:solidFill>
                  <a:srgbClr val="1C222E"/>
                </a:solidFill>
                <a:latin typeface="Arial"/>
              </a:rPr>
              <a:t>So Doublespeak works because it defers the harmful meaning past the early safety check. This is the first direct behavioural test of the paper's TOCTOU idea.</a:t>
            </a:r>
          </a:p>
          <a:p>
            <a:pPr>
              <a:spcBef>
                <a:spcPts val="0"/>
              </a:spcBef>
              <a:spcAft>
                <a:spcPts val="1300"/>
              </a:spcAft>
            </a:pPr>
            <a:r>
              <a:rPr sz="1650" b="1" i="0">
                <a:solidFill>
                  <a:srgbClr val="153A5C"/>
                </a:solidFill>
                <a:latin typeface="Arial"/>
              </a:rPr>
              <a:t>– </a:t>
            </a:r>
            <a:r>
              <a:rPr sz="1650" b="0" i="0">
                <a:solidFill>
                  <a:srgbClr val="1C222E"/>
                </a:solidFill>
                <a:latin typeface="Arial"/>
              </a:rPr>
              <a:t>A second finding cuts against naive interpretability: decoding-sufficiency does not predict behaviour. The Direct concept is the stronger injectate, the hijacked state is weaker once moved out of its demonstrations.</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PHASE A  ·  CAUSALITY</a:t>
            </a:r>
          </a:p>
          <a:p>
            <a:pPr>
              <a:spcBef>
                <a:spcPts val="200"/>
              </a:spcBef>
            </a:pPr>
            <a:r>
              <a:rPr sz="2300" b="1" i="0">
                <a:solidFill>
                  <a:srgbClr val="153A5C"/>
                </a:solidFill>
                <a:latin typeface="Arial"/>
              </a:rPr>
              <a:t>Timing law and the sufficiency inversion</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Rounded Rectangle 4"/>
          <p:cNvSpPr/>
          <p:nvPr/>
        </p:nvSpPr>
        <p:spPr>
          <a:xfrm>
            <a:off x="566928" y="1874519"/>
            <a:ext cx="3538508"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+0.846</a:t>
            </a:r>
          </a:p>
          <a:p>
            <a:pPr algn="ctr">
              <a:spcBef>
                <a:spcPts val="100"/>
              </a:spcBef>
            </a:pPr>
            <a:r>
              <a:rPr sz="1050" b="0" i="0">
                <a:solidFill>
                  <a:srgbClr val="395B74"/>
                </a:solidFill>
                <a:latin typeface="Arial"/>
              </a:rPr>
              <a:t>early−late refusal gap (Llama, n=169)
[+0.787, +0.899]</a:t>
            </a:r>
          </a:p>
        </p:txBody>
      </p:sp>
      <p:sp>
        <p:nvSpPr>
          <p:cNvPr id="6" name="TextBox 5"/>
          <p:cNvSpPr txBox="1"/>
          <p:nvPr/>
        </p:nvSpPr>
        <p:spPr>
          <a:xfrm>
            <a:off x="4547750" y="1874519"/>
            <a:ext cx="7077016" cy="1463040"/>
          </a:xfrm>
          <a:prstGeom prst="rect">
            <a:avLst/>
          </a:prstGeom>
          <a:noFill/>
        </p:spPr>
        <p:txBody>
          <a:bodyPr wrap="square" lIns="0" rIns="0" tIns="0" bIns="0">
            <a:spAutoFit/>
          </a:bodyPr>
          <a:lstStyle/>
          <a:p>
            <a:pPr>
              <a:spcBef>
                <a:spcPts val="0"/>
              </a:spcBef>
              <a:spcAft>
                <a:spcPts val="800"/>
              </a:spcAft>
            </a:pPr>
            <a:r>
              <a:rPr sz="1300" b="1" i="0">
                <a:solidFill>
                  <a:srgbClr val="153A5C"/>
                </a:solidFill>
                <a:latin typeface="Arial"/>
              </a:rPr>
              <a:t>– </a:t>
            </a:r>
            <a:r>
              <a:rPr sz="1300" b="0" i="0">
                <a:solidFill>
                  <a:srgbClr val="1C222E"/>
                </a:solidFill>
                <a:latin typeface="Arial"/>
              </a:rPr>
              <a:t>Refusal falls monotonically with injection depth. Reproduces on Qwen3 (+0.854, n=41) and Phi-4 (+0.250, n=36); those two were read from raw logs, no committed summary file.</a:t>
            </a:r>
          </a:p>
          <a:p>
            <a:pPr>
              <a:spcBef>
                <a:spcPts val="0"/>
              </a:spcBef>
              <a:spcAft>
                <a:spcPts val="800"/>
              </a:spcAft>
            </a:pPr>
            <a:r>
              <a:rPr sz="1300" b="1" i="0">
                <a:solidFill>
                  <a:srgbClr val="153A5C"/>
                </a:solidFill>
                <a:latin typeface="Arial"/>
              </a:rPr>
              <a:t>– </a:t>
            </a:r>
            <a:r>
              <a:rPr sz="1300" b="0" i="0">
                <a:solidFill>
                  <a:srgbClr val="1C222E"/>
                </a:solidFill>
                <a:latin typeface="Arial"/>
              </a:rPr>
              <a:t>Behavioural necessity: patching the DS state back to Neutral flips malicious to benign, early-layer specific (necessity−identity +0.399 [0.177, 0.617]). Specificity over a random patch is modest and crosses zero — reported honestly.</a:t>
            </a:r>
          </a:p>
        </p:txBody>
      </p:sp>
      <p:sp>
        <p:nvSpPr>
          <p:cNvPr id="7" name="Rounded Rectangle 6"/>
          <p:cNvSpPr/>
          <p:nvPr/>
        </p:nvSpPr>
        <p:spPr>
          <a:xfrm>
            <a:off x="566928" y="3611880"/>
            <a:ext cx="6855860" cy="141732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Sufficiency dissociates from the rep-level prediction</a:t>
            </a:r>
          </a:p>
          <a:p>
            <a:pPr>
              <a:spcBef>
                <a:spcPts val="300"/>
              </a:spcBef>
            </a:pPr>
            <a:r>
              <a:rPr sz="1150" b="1" i="0">
                <a:solidFill>
                  <a:srgbClr val="153A5C"/>
                </a:solidFill>
                <a:latin typeface="Arial"/>
              </a:rPr>
              <a:t>Rep-level said DS &gt; Direct; behaviour inverts: </a:t>
            </a:r>
            <a:r>
              <a:rPr sz="1150" b="0" i="0">
                <a:solidFill>
                  <a:srgbClr val="1C222E"/>
                </a:solidFill>
                <a:latin typeface="Arial"/>
              </a:rPr>
              <a:t>DS−Direct = −0.393 [−0.470, −0.311] at mid (n=183).</a:t>
            </a:r>
          </a:p>
        </p:txBody>
      </p:sp>
      <p:sp>
        <p:nvSpPr>
          <p:cNvPr id="8" name="Rounded Rectangle 7"/>
          <p:cNvSpPr/>
          <p:nvPr/>
        </p:nvSpPr>
        <p:spPr>
          <a:xfrm>
            <a:off x="7754523" y="3611880"/>
            <a:ext cx="3870243" cy="141732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Scope flag (Phase A only)</a:t>
            </a:r>
          </a:p>
          <a:p>
            <a:pPr>
              <a:spcBef>
                <a:spcPts val="300"/>
              </a:spcBef>
            </a:pPr>
            <a:r>
              <a:rPr sz="1150" b="1" i="0">
                <a:solidFill>
                  <a:srgbClr val="A84B1E"/>
                </a:solidFill>
                <a:latin typeface="Arial"/>
              </a:rPr>
              <a:t>A double-BOS bug </a:t>
            </a:r>
            <a:r>
              <a:rPr sz="1150" b="0" i="0">
                <a:solidFill>
                  <a:srgbClr val="1C222E"/>
                </a:solidFill>
                <a:latin typeface="Arial"/>
              </a:rPr>
              <a:t>in the old capture path shifts absolute positions in the reproduction-phase scripts (01/05/06/07/08/11/13). Every later causal result uses the clean path.</a:t>
            </a:r>
          </a:p>
        </p:txBody>
      </p:sp>
      <p:sp>
        <p:nvSpPr>
          <p:cNvPr id="9" name="TextBox 8"/>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10" name="TextBox 9"/>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PHASE B  ·  CAUSAL_CORE</a:t>
            </a:r>
          </a:p>
          <a:p>
            <a:pPr>
              <a:spcBef>
                <a:spcPts val="200"/>
              </a:spcBef>
            </a:pPr>
            <a:r>
              <a:rPr sz="2300" b="1" i="0">
                <a:solidFill>
                  <a:srgbClr val="153A5C"/>
                </a:solidFill>
                <a:latin typeface="Arial"/>
              </a:rPr>
              <a:t>The vector that decoding points at is causally inert</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d_DS is the difference between a Doublespeak and a Neutral state at the codeword: exactly what a “carrot now decodes as bomb” result measures.</a:t>
            </a:r>
          </a:p>
          <a:p>
            <a:pPr>
              <a:spcBef>
                <a:spcPts val="0"/>
              </a:spcBef>
              <a:spcAft>
                <a:spcPts val="1300"/>
              </a:spcAft>
            </a:pPr>
            <a:r>
              <a:rPr sz="1650" b="1" i="0">
                <a:solidFill>
                  <a:srgbClr val="153A5C"/>
                </a:solidFill>
                <a:latin typeface="Arial"/>
              </a:rPr>
              <a:t>– </a:t>
            </a:r>
            <a:r>
              <a:rPr sz="1650" b="0" i="0">
                <a:solidFill>
                  <a:srgbClr val="1C222E"/>
                </a:solidFill>
                <a:latin typeface="Arial"/>
              </a:rPr>
              <a:t>Adding d_DS at matched strength moves the reading by zero, in every layer window and in all five pairs. The concept direction d_Direct, by contrast, controls the reading in both directions.</a:t>
            </a:r>
          </a:p>
          <a:p>
            <a:pPr>
              <a:spcBef>
                <a:spcPts val="0"/>
              </a:spcBef>
              <a:spcAft>
                <a:spcPts val="1300"/>
              </a:spcAft>
            </a:pPr>
            <a:r>
              <a:rPr sz="1650" b="1" i="0">
                <a:solidFill>
                  <a:srgbClr val="153A5C"/>
                </a:solidFill>
                <a:latin typeface="Arial"/>
              </a:rPr>
              <a:t>– </a:t>
            </a:r>
            <a:r>
              <a:rPr sz="1650" b="0" i="0">
                <a:solidFill>
                  <a:srgbClr val="1C222E"/>
                </a:solidFill>
                <a:latin typeface="Arial"/>
              </a:rPr>
              <a:t>And the causal score does not help the attack: choosing codewords by it worsens behavioural success. Measures of “the word means the concept” do not track attack success.</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PHASE B  ·  CAUSAL_CORE</a:t>
            </a:r>
          </a:p>
          <a:p>
            <a:pPr>
              <a:spcBef>
                <a:spcPts val="200"/>
              </a:spcBef>
            </a:pPr>
            <a:r>
              <a:rPr sz="2300" b="1" i="0">
                <a:solidFill>
                  <a:srgbClr val="153A5C"/>
                </a:solidFill>
                <a:latin typeface="Arial"/>
              </a:rPr>
              <a:t>d_DS inert, d_Direct controls — and a site correction</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28800"/>
          <a:ext cx="5086604" cy="1463040"/>
        </p:xfrm>
        <a:graphic>
          <a:graphicData uri="http://schemas.openxmlformats.org/drawingml/2006/table">
            <a:tbl>
              <a:tblPr>
                <a:tableStyleId>{5C22544A-7EE6-4342-B048-85BDC9FD1C3A}</a:tableStyleId>
              </a:tblPr>
              <a:tblGrid>
                <a:gridCol w="1525981"/>
                <a:gridCol w="2136374"/>
                <a:gridCol w="1424249"/>
              </a:tblGrid>
              <a:tr h="365760">
                <a:tc>
                  <a:txBody>
                    <a:bodyPr wrap="square"/>
                    <a:lstStyle/>
                    <a:p>
                      <a:pPr algn="l"/>
                      <a:r>
                        <a:rPr sz="1250" b="1" i="0">
                          <a:solidFill>
                            <a:srgbClr val="FFFFFF"/>
                          </a:solidFill>
                          <a:latin typeface="Arial"/>
                        </a:rPr>
                        <a:t>window</a:t>
                      </a:r>
                    </a:p>
                  </a:txBody>
                  <a:tcPr marL="76200" marR="76200" marT="25400" marB="25400" anchor="ctr">
                    <a:solidFill>
                      <a:srgbClr val="153A5C"/>
                    </a:solidFill>
                  </a:tcPr>
                </a:tc>
                <a:tc>
                  <a:txBody>
                    <a:bodyPr wrap="square"/>
                    <a:lstStyle/>
                    <a:p>
                      <a:pPr algn="ctr"/>
                      <a:r>
                        <a:rPr sz="1250" b="1" i="0">
                          <a:solidFill>
                            <a:srgbClr val="FFFFFF"/>
                          </a:solidFill>
                          <a:latin typeface="Arial"/>
                        </a:rPr>
                        <a:t>d_Direct install</a:t>
                      </a:r>
                    </a:p>
                  </a:txBody>
                  <a:tcPr marL="76200" marR="76200" marT="25400" marB="25400" anchor="ctr">
                    <a:solidFill>
                      <a:srgbClr val="153A5C"/>
                    </a:solidFill>
                  </a:tcPr>
                </a:tc>
                <a:tc>
                  <a:txBody>
                    <a:bodyPr wrap="square"/>
                    <a:lstStyle/>
                    <a:p>
                      <a:pPr algn="ctr"/>
                      <a:r>
                        <a:rPr sz="1250" b="1" i="0">
                          <a:solidFill>
                            <a:srgbClr val="FFFFFF"/>
                          </a:solidFill>
                          <a:latin typeface="Arial"/>
                        </a:rPr>
                        <a:t>d_DS</a:t>
                      </a:r>
                    </a:p>
                  </a:txBody>
                  <a:tcPr marL="76200" marR="76200" marT="25400" marB="25400" anchor="ctr">
                    <a:solidFill>
                      <a:srgbClr val="153A5C"/>
                    </a:solidFill>
                  </a:tcPr>
                </a:tc>
              </a:tr>
              <a:tr h="365760">
                <a:tc>
                  <a:txBody>
                    <a:bodyPr wrap="square"/>
                    <a:lstStyle/>
                    <a:p>
                      <a:pPr algn="l"/>
                      <a:r>
                        <a:rPr sz="1250" b="1" i="0">
                          <a:solidFill>
                            <a:srgbClr val="1C222E"/>
                          </a:solidFill>
                          <a:latin typeface="Arial"/>
                        </a:rPr>
                        <a:t>early</a:t>
                      </a:r>
                    </a:p>
                  </a:txBody>
                  <a:tcPr marL="76200" marR="76200" marT="25400" marB="25400" anchor="ctr">
                    <a:solidFill>
                      <a:srgbClr val="FFFFFF"/>
                    </a:solidFill>
                  </a:tcPr>
                </a:tc>
                <a:tc>
                  <a:txBody>
                    <a:bodyPr wrap="square"/>
                    <a:lstStyle/>
                    <a:p>
                      <a:pPr algn="ctr"/>
                      <a:r>
                        <a:rPr sz="1250" b="0" i="0">
                          <a:solidFill>
                            <a:srgbClr val="1C222E"/>
                          </a:solidFill>
                          <a:latin typeface="Arial"/>
                        </a:rPr>
                        <a:t>+0.167</a:t>
                      </a:r>
                    </a:p>
                  </a:txBody>
                  <a:tcPr marL="76200" marR="76200" marT="25400" marB="25400" anchor="ctr">
                    <a:solidFill>
                      <a:srgbClr val="FFFFFF"/>
                    </a:solidFill>
                  </a:tcPr>
                </a:tc>
                <a:tc>
                  <a:txBody>
                    <a:bodyPr wrap="square"/>
                    <a:lstStyle/>
                    <a:p>
                      <a:pPr algn="ctr"/>
                      <a:r>
                        <a:rPr sz="1250" b="1" i="0">
                          <a:solidFill>
                            <a:srgbClr val="2B6B45"/>
                          </a:solidFill>
                          <a:latin typeface="Arial"/>
                        </a:rPr>
                        <a:t>0</a:t>
                      </a:r>
                    </a:p>
                  </a:txBody>
                  <a:tcPr marL="76200" marR="76200" marT="25400" marB="25400" anchor="ctr">
                    <a:solidFill>
                      <a:srgbClr val="FFFFFF"/>
                    </a:solidFill>
                  </a:tcPr>
                </a:tc>
              </a:tr>
              <a:tr h="365760">
                <a:tc>
                  <a:txBody>
                    <a:bodyPr wrap="square"/>
                    <a:lstStyle/>
                    <a:p>
                      <a:pPr algn="l"/>
                      <a:r>
                        <a:rPr sz="1250" b="1" i="0">
                          <a:solidFill>
                            <a:srgbClr val="1C222E"/>
                          </a:solidFill>
                          <a:latin typeface="Arial"/>
                        </a:rPr>
                        <a:t>mid</a:t>
                      </a:r>
                    </a:p>
                  </a:txBody>
                  <a:tcPr marL="76200" marR="76200" marT="25400" marB="25400" anchor="ctr">
                    <a:solidFill>
                      <a:srgbClr val="F3F5F7"/>
                    </a:solidFill>
                  </a:tcPr>
                </a:tc>
                <a:tc>
                  <a:txBody>
                    <a:bodyPr wrap="square"/>
                    <a:lstStyle/>
                    <a:p>
                      <a:pPr algn="ctr"/>
                      <a:r>
                        <a:rPr sz="1250" b="0" i="0">
                          <a:solidFill>
                            <a:srgbClr val="1C222E"/>
                          </a:solidFill>
                          <a:latin typeface="Arial"/>
                        </a:rPr>
                        <a:t>+0.533</a:t>
                      </a:r>
                    </a:p>
                  </a:txBody>
                  <a:tcPr marL="76200" marR="76200" marT="25400" marB="25400" anchor="ctr">
                    <a:solidFill>
                      <a:srgbClr val="F3F5F7"/>
                    </a:solidFill>
                  </a:tcPr>
                </a:tc>
                <a:tc>
                  <a:txBody>
                    <a:bodyPr wrap="square"/>
                    <a:lstStyle/>
                    <a:p>
                      <a:pPr algn="ctr"/>
                      <a:r>
                        <a:rPr sz="1250" b="1" i="0">
                          <a:solidFill>
                            <a:srgbClr val="2B6B45"/>
                          </a:solidFill>
                          <a:latin typeface="Arial"/>
                        </a:rPr>
                        <a:t>0</a:t>
                      </a:r>
                    </a:p>
                  </a:txBody>
                  <a:tcPr marL="76200" marR="76200" marT="25400" marB="25400" anchor="ctr">
                    <a:solidFill>
                      <a:srgbClr val="F3F5F7"/>
                    </a:solidFill>
                  </a:tcPr>
                </a:tc>
              </a:tr>
              <a:tr h="365760">
                <a:tc>
                  <a:txBody>
                    <a:bodyPr wrap="square"/>
                    <a:lstStyle/>
                    <a:p>
                      <a:pPr algn="l"/>
                      <a:r>
                        <a:rPr sz="1250" b="1" i="0">
                          <a:solidFill>
                            <a:srgbClr val="1C222E"/>
                          </a:solidFill>
                          <a:latin typeface="Arial"/>
                        </a:rPr>
                        <a:t>late</a:t>
                      </a:r>
                    </a:p>
                  </a:txBody>
                  <a:tcPr marL="76200" marR="76200" marT="25400" marB="25400" anchor="ctr">
                    <a:solidFill>
                      <a:srgbClr val="FFFFFF"/>
                    </a:solidFill>
                  </a:tcPr>
                </a:tc>
                <a:tc>
                  <a:txBody>
                    <a:bodyPr wrap="square"/>
                    <a:lstStyle/>
                    <a:p>
                      <a:pPr algn="ctr"/>
                      <a:r>
                        <a:rPr sz="1250" b="0" i="0">
                          <a:solidFill>
                            <a:srgbClr val="1C222E"/>
                          </a:solidFill>
                          <a:latin typeface="Arial"/>
                        </a:rPr>
                        <a:t>+0.971</a:t>
                      </a:r>
                    </a:p>
                  </a:txBody>
                  <a:tcPr marL="76200" marR="76200" marT="25400" marB="25400" anchor="ctr">
                    <a:solidFill>
                      <a:srgbClr val="FFFFFF"/>
                    </a:solidFill>
                  </a:tcPr>
                </a:tc>
                <a:tc>
                  <a:txBody>
                    <a:bodyPr wrap="square"/>
                    <a:lstStyle/>
                    <a:p>
                      <a:pPr algn="ctr"/>
                      <a:r>
                        <a:rPr sz="1250" b="0" i="0">
                          <a:solidFill>
                            <a:srgbClr val="1C222E"/>
                          </a:solidFill>
                          <a:latin typeface="Arial"/>
                        </a:rPr>
                        <a:t>0.0000</a:t>
                      </a:r>
                    </a:p>
                  </a:txBody>
                  <a:tcPr marL="76200" marR="76200" marT="25400" marB="25400" anchor="ctr">
                    <a:solidFill>
                      <a:srgbClr val="FFFFFF"/>
                    </a:solidFill>
                  </a:tcPr>
                </a:tc>
              </a:tr>
            </a:tbl>
          </a:graphicData>
        </a:graphic>
      </p:graphicFrame>
      <p:sp>
        <p:nvSpPr>
          <p:cNvPr id="6" name="TextBox 5"/>
          <p:cNvSpPr txBox="1"/>
          <p:nvPr/>
        </p:nvSpPr>
        <p:spPr>
          <a:xfrm>
            <a:off x="566928" y="3657600"/>
            <a:ext cx="5086605" cy="2103120"/>
          </a:xfrm>
          <a:prstGeom prst="rect">
            <a:avLst/>
          </a:prstGeom>
          <a:noFill/>
        </p:spPr>
        <p:txBody>
          <a:bodyPr wrap="square" lIns="0" rIns="0" tIns="0" bIns="0">
            <a:spAutoFit/>
          </a:bodyPr>
          <a:lstStyle/>
          <a:p>
            <a:pPr>
              <a:spcBef>
                <a:spcPts val="0"/>
              </a:spcBef>
              <a:spcAft>
                <a:spcPts val="700"/>
              </a:spcAft>
            </a:pPr>
            <a:r>
              <a:rPr sz="1250" b="1" i="0">
                <a:solidFill>
                  <a:srgbClr val="153A5C"/>
                </a:solidFill>
                <a:latin typeface="Arial"/>
              </a:rPr>
              <a:t>– </a:t>
            </a:r>
            <a:r>
              <a:rPr sz="1250" b="0" i="0">
                <a:solidFill>
                  <a:srgbClr val="1C222E"/>
                </a:solidFill>
                <a:latin typeface="Arial"/>
              </a:rPr>
              <a:t>d_DS inert in all 15 cells (5 pairs × 3 windows), each beaten by its own 60 controls.</a:t>
            </a:r>
          </a:p>
          <a:p>
            <a:pPr>
              <a:spcBef>
                <a:spcPts val="0"/>
              </a:spcBef>
              <a:spcAft>
                <a:spcPts val="700"/>
              </a:spcAft>
            </a:pPr>
            <a:r>
              <a:rPr sz="1250" b="1" i="0">
                <a:solidFill>
                  <a:srgbClr val="153A5C"/>
                </a:solidFill>
                <a:latin typeface="Arial"/>
              </a:rPr>
              <a:t>– </a:t>
            </a:r>
            <a:r>
              <a:rPr sz="1250" b="0" i="0">
                <a:solidFill>
                  <a:srgbClr val="1C222E"/>
                </a:solidFill>
                <a:latin typeface="Arial"/>
              </a:rPr>
              <a:t>Behaviour: selecting codewords by the causal score gives TOP−BOTTOM = −0.133 [−0.200, −0.050]. It worsens, not helps.</a:t>
            </a:r>
          </a:p>
        </p:txBody>
      </p:sp>
      <p:sp>
        <p:nvSpPr>
          <p:cNvPr id="7" name="Rounded Rectangle 6"/>
          <p:cNvSpPr/>
          <p:nvPr/>
        </p:nvSpPr>
        <p:spPr>
          <a:xfrm>
            <a:off x="5985269" y="1828800"/>
            <a:ext cx="5639497" cy="393192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Correction we made to our own record (B4)</a:t>
            </a:r>
          </a:p>
          <a:p>
            <a:pPr>
              <a:spcBef>
                <a:spcPts val="300"/>
              </a:spcBef>
            </a:pPr>
            <a:r>
              <a:rPr sz="1150" b="1" i="0">
                <a:solidFill>
                  <a:srgbClr val="A84B1E"/>
                </a:solidFill>
                <a:latin typeface="Arial"/>
              </a:rPr>
              <a:t>Old claim: </a:t>
            </a:r>
            <a:r>
              <a:rPr sz="1150" b="0" i="0">
                <a:solidFill>
                  <a:srgbClr val="1C222E"/>
                </a:solidFill>
                <a:latin typeface="Arial"/>
              </a:rPr>
              <a:t>“d_Direct +0.971 does not reproduce / is unbacked on disk.” That is wrong.</a:t>
            </a:r>
          </a:p>
          <a:p>
            <a:pPr>
              <a:spcBef>
                <a:spcPts val="300"/>
              </a:spcBef>
            </a:pPr>
            <a:r>
              <a:rPr sz="1150" b="1" i="0">
                <a:solidFill>
                  <a:srgbClr val="A84B1E"/>
                </a:solidFill>
                <a:latin typeface="Arial"/>
              </a:rPr>
              <a:t>On disk: </a:t>
            </a:r>
            <a:r>
              <a:rPr sz="1150" b="0" i="0">
                <a:solidFill>
                  <a:srgbClr val="1C222E"/>
                </a:solidFill>
                <a:latin typeface="Arial"/>
              </a:rPr>
              <a:t>add_d_Direct late = 0.971 [0.955, 0.984] at site = all codeword positions (693609). At the query position alone it is +0.028 (693571).</a:t>
            </a:r>
          </a:p>
          <a:p>
            <a:pPr>
              <a:spcBef>
                <a:spcPts val="300"/>
              </a:spcBef>
            </a:pPr>
            <a:r>
              <a:rPr sz="1150" b="1" i="0">
                <a:solidFill>
                  <a:srgbClr val="A84B1E"/>
                </a:solidFill>
                <a:latin typeface="Arial"/>
              </a:rPr>
              <a:t>Truth: </a:t>
            </a:r>
            <a:r>
              <a:rPr sz="1150" b="0" i="0">
                <a:solidFill>
                  <a:srgbClr val="1C222E"/>
                </a:solidFill>
                <a:latin typeface="Arial"/>
              </a:rPr>
              <a:t>the install is site-dependent, +0.97 across all codeword positions, +0.03 at the query alone. Both are real.</a:t>
            </a:r>
          </a:p>
          <a:p>
            <a:pPr>
              <a:spcBef>
                <a:spcPts val="300"/>
              </a:spcBef>
            </a:pPr>
            <a:r>
              <a:rPr sz="1150" b="1" i="0">
                <a:solidFill>
                  <a:srgbClr val="A84B1E"/>
                </a:solidFill>
                <a:latin typeface="Arial"/>
              </a:rPr>
              <a:t>Impact: </a:t>
            </a:r>
            <a:r>
              <a:rPr sz="1150" b="0" i="0">
                <a:solidFill>
                  <a:srgbClr val="1C222E"/>
                </a:solidFill>
                <a:latin typeface="Arial"/>
              </a:rPr>
              <a:t>the transplant result (next slides) stands; the phrasing “no local injection installs the concept” is narrowed to the query-position state.</a:t>
            </a:r>
          </a:p>
        </p:txBody>
      </p:sp>
      <p:sp>
        <p:nvSpPr>
          <p:cNvPr id="8" name="TextBox 7"/>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9" name="TextBox 8"/>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CONTRIBUTION 1  ·  S2</a:t>
            </a:r>
          </a:p>
          <a:p>
            <a:pPr>
              <a:spcBef>
                <a:spcPts val="200"/>
              </a:spcBef>
            </a:pPr>
            <a:r>
              <a:rPr sz="2300" b="1" i="0">
                <a:solidFill>
                  <a:srgbClr val="153A5C"/>
                </a:solidFill>
                <a:latin typeface="Arial"/>
              </a:rPr>
              <a:t>The hijacked reading lives in the context, not in the word's state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306324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Swap the full hidden state of the query codeword between a Neutral and a Doublespeak prompt and measure the reading.</a:t>
            </a:r>
          </a:p>
          <a:p>
            <a:pPr>
              <a:spcBef>
                <a:spcPts val="0"/>
              </a:spcBef>
              <a:spcAft>
                <a:spcPts val="1300"/>
              </a:spcAft>
            </a:pPr>
            <a:r>
              <a:rPr sz="1650" b="1" i="0">
                <a:solidFill>
                  <a:srgbClr val="153A5C"/>
                </a:solidFill>
                <a:latin typeface="Arial"/>
              </a:rPr>
              <a:t>– </a:t>
            </a:r>
            <a:r>
              <a:rPr sz="1650" b="0" i="0">
                <a:solidFill>
                  <a:srgbClr val="1C222E"/>
                </a:solidFill>
                <a:latin typeface="Arial"/>
              </a:rPr>
              <a:t>A Neutral context reads 0.00 no matter which state you drop in. A Doublespeak context reads ~0.35 no matter which state you drop in.</a:t>
            </a:r>
          </a:p>
          <a:p>
            <a:pPr>
              <a:spcBef>
                <a:spcPts val="0"/>
              </a:spcBef>
              <a:spcAft>
                <a:spcPts val="1300"/>
              </a:spcAft>
            </a:pPr>
            <a:r>
              <a:rPr sz="1650" b="1" i="0">
                <a:solidFill>
                  <a:srgbClr val="153A5C"/>
                </a:solidFill>
                <a:latin typeface="Arial"/>
              </a:rPr>
              <a:t>– </a:t>
            </a:r>
            <a:r>
              <a:rPr sz="1650" b="0" i="0">
                <a:solidFill>
                  <a:srgbClr val="1C222E"/>
                </a:solidFill>
                <a:latin typeface="Arial"/>
              </a:rPr>
              <a:t>So the codeword's own activation carries nothing; the surrounding context's downstream computation is what produces the reading. This is the causal counterpart to the paper's decoding-only result.</a:t>
            </a:r>
          </a:p>
        </p:txBody>
      </p:sp>
      <p:sp>
        <p:nvSpPr>
          <p:cNvPr id="6" name="Rounded Rectangle 5"/>
          <p:cNvSpPr/>
          <p:nvPr/>
        </p:nvSpPr>
        <p:spPr>
          <a:xfrm>
            <a:off x="566928" y="5074920"/>
            <a:ext cx="11057839" cy="100584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2B6B45"/>
                </a:solidFill>
                <a:latin typeface="Arial"/>
              </a:rPr>
              <a:t>Why it matters</a:t>
            </a:r>
          </a:p>
          <a:p>
            <a:pPr>
              <a:spcBef>
                <a:spcPts val="300"/>
              </a:spcBef>
            </a:pPr>
            <a:r>
              <a:rPr sz="1150" b="1" i="0">
                <a:solidFill>
                  <a:srgbClr val="2B6B45"/>
                </a:solidFill>
                <a:latin typeface="Arial"/>
              </a:rPr>
              <a:t>The token decodes as the concept, </a:t>
            </a:r>
            <a:r>
              <a:rPr sz="1150" b="0" i="0">
                <a:solidFill>
                  <a:srgbClr val="1C222E"/>
                </a:solidFill>
                <a:latin typeface="Arial"/>
              </a:rPr>
              <a:t>yet its residual state is not what drives the behaviour. That directly answers the paper's open causal question.</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CONTRIBUTION 1  ·  S2</a:t>
            </a:r>
          </a:p>
          <a:p>
            <a:pPr>
              <a:spcBef>
                <a:spcPts val="200"/>
              </a:spcBef>
            </a:pPr>
            <a:r>
              <a:rPr sz="2300" b="1" i="0">
                <a:solidFill>
                  <a:srgbClr val="153A5C"/>
                </a:solidFill>
                <a:latin typeface="Arial"/>
              </a:rPr>
              <a:t>State × context transplant</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74519"/>
          <a:ext cx="5086605" cy="1261872"/>
        </p:xfrm>
        <a:graphic>
          <a:graphicData uri="http://schemas.openxmlformats.org/drawingml/2006/table">
            <a:tbl>
              <a:tblPr>
                <a:tableStyleId>{5C22544A-7EE6-4342-B048-85BDC9FD1C3A}</a:tableStyleId>
              </a:tblPr>
              <a:tblGrid>
                <a:gridCol w="2034642"/>
                <a:gridCol w="1017321"/>
                <a:gridCol w="1017321"/>
                <a:gridCol w="1017321"/>
              </a:tblGrid>
              <a:tr h="420624">
                <a:tc>
                  <a:txBody>
                    <a:bodyPr wrap="square"/>
                    <a:lstStyle/>
                    <a:p>
                      <a:pPr algn="l"/>
                      <a:r>
                        <a:rPr sz="1250" b="1" i="0">
                          <a:solidFill>
                            <a:srgbClr val="FFFFFF"/>
                          </a:solidFill>
                          <a:latin typeface="Arial"/>
                        </a:rPr>
                        <a:t>receiver \ source</a:t>
                      </a:r>
                    </a:p>
                  </a:txBody>
                  <a:tcPr marL="76200" marR="76200" marT="25400" marB="25400" anchor="ctr">
                    <a:solidFill>
                      <a:srgbClr val="153A5C"/>
                    </a:solidFill>
                  </a:tcPr>
                </a:tc>
                <a:tc>
                  <a:txBody>
                    <a:bodyPr wrap="square"/>
                    <a:lstStyle/>
                    <a:p>
                      <a:pPr algn="ctr"/>
                      <a:r>
                        <a:rPr sz="1250" b="1" i="0">
                          <a:solidFill>
                            <a:srgbClr val="FFFFFF"/>
                          </a:solidFill>
                          <a:latin typeface="Arial"/>
                        </a:rPr>
                        <a:t>h_N</a:t>
                      </a:r>
                    </a:p>
                  </a:txBody>
                  <a:tcPr marL="76200" marR="76200" marT="25400" marB="25400" anchor="ctr">
                    <a:solidFill>
                      <a:srgbClr val="153A5C"/>
                    </a:solidFill>
                  </a:tcPr>
                </a:tc>
                <a:tc>
                  <a:txBody>
                    <a:bodyPr wrap="square"/>
                    <a:lstStyle/>
                    <a:p>
                      <a:pPr algn="ctr"/>
                      <a:r>
                        <a:rPr sz="1250" b="1" i="0">
                          <a:solidFill>
                            <a:srgbClr val="FFFFFF"/>
                          </a:solidFill>
                          <a:latin typeface="Arial"/>
                        </a:rPr>
                        <a:t>h_DS</a:t>
                      </a:r>
                    </a:p>
                  </a:txBody>
                  <a:tcPr marL="76200" marR="76200" marT="25400" marB="25400" anchor="ctr">
                    <a:solidFill>
                      <a:srgbClr val="153A5C"/>
                    </a:solidFill>
                  </a:tcPr>
                </a:tc>
                <a:tc>
                  <a:txBody>
                    <a:bodyPr wrap="square"/>
                    <a:lstStyle/>
                    <a:p>
                      <a:pPr algn="ctr"/>
                      <a:r>
                        <a:rPr sz="1250" b="1" i="0">
                          <a:solidFill>
                            <a:srgbClr val="FFFFFF"/>
                          </a:solidFill>
                          <a:latin typeface="Arial"/>
                        </a:rPr>
                        <a:t>h_Direct</a:t>
                      </a:r>
                    </a:p>
                  </a:txBody>
                  <a:tcPr marL="76200" marR="76200" marT="25400" marB="25400" anchor="ctr">
                    <a:solidFill>
                      <a:srgbClr val="153A5C"/>
                    </a:solidFill>
                  </a:tcPr>
                </a:tc>
              </a:tr>
              <a:tr h="420624">
                <a:tc>
                  <a:txBody>
                    <a:bodyPr wrap="square"/>
                    <a:lstStyle/>
                    <a:p>
                      <a:pPr algn="l"/>
                      <a:r>
                        <a:rPr sz="1250" b="1" i="0">
                          <a:solidFill>
                            <a:srgbClr val="1C222E"/>
                          </a:solidFill>
                          <a:latin typeface="Arial"/>
                        </a:rPr>
                        <a:t>Neutral context</a:t>
                      </a:r>
                    </a:p>
                  </a:txBody>
                  <a:tcPr marL="76200" marR="76200" marT="25400" marB="25400" anchor="ctr">
                    <a:solidFill>
                      <a:srgbClr val="FFFFFF"/>
                    </a:solidFill>
                  </a:tcPr>
                </a:tc>
                <a:tc>
                  <a:txBody>
                    <a:bodyPr wrap="square"/>
                    <a:lstStyle/>
                    <a:p>
                      <a:pPr algn="ctr"/>
                      <a:r>
                        <a:rPr sz="1250" b="0" i="0">
                          <a:solidFill>
                            <a:srgbClr val="1C222E"/>
                          </a:solidFill>
                          <a:latin typeface="Arial"/>
                        </a:rPr>
                        <a:t>0.000</a:t>
                      </a:r>
                    </a:p>
                  </a:txBody>
                  <a:tcPr marL="76200" marR="76200" marT="25400" marB="25400" anchor="ctr">
                    <a:solidFill>
                      <a:srgbClr val="FFFFFF"/>
                    </a:solidFill>
                  </a:tcPr>
                </a:tc>
                <a:tc>
                  <a:txBody>
                    <a:bodyPr wrap="square"/>
                    <a:lstStyle/>
                    <a:p>
                      <a:pPr algn="ctr"/>
                      <a:r>
                        <a:rPr sz="1250" b="0" i="0">
                          <a:solidFill>
                            <a:srgbClr val="1C222E"/>
                          </a:solidFill>
                          <a:latin typeface="Arial"/>
                        </a:rPr>
                        <a:t>0.000</a:t>
                      </a:r>
                    </a:p>
                  </a:txBody>
                  <a:tcPr marL="76200" marR="76200" marT="25400" marB="25400" anchor="ctr">
                    <a:solidFill>
                      <a:srgbClr val="FFFFFF"/>
                    </a:solidFill>
                  </a:tcPr>
                </a:tc>
                <a:tc>
                  <a:txBody>
                    <a:bodyPr wrap="square"/>
                    <a:lstStyle/>
                    <a:p>
                      <a:pPr algn="ctr"/>
                      <a:r>
                        <a:rPr sz="1250" b="0" i="0">
                          <a:solidFill>
                            <a:srgbClr val="1C222E"/>
                          </a:solidFill>
                          <a:latin typeface="Arial"/>
                        </a:rPr>
                        <a:t>0.000</a:t>
                      </a:r>
                    </a:p>
                  </a:txBody>
                  <a:tcPr marL="76200" marR="76200" marT="25400" marB="25400" anchor="ctr">
                    <a:solidFill>
                      <a:srgbClr val="FFFFFF"/>
                    </a:solidFill>
                  </a:tcPr>
                </a:tc>
              </a:tr>
              <a:tr h="420624">
                <a:tc>
                  <a:txBody>
                    <a:bodyPr wrap="square"/>
                    <a:lstStyle/>
                    <a:p>
                      <a:pPr algn="l"/>
                      <a:r>
                        <a:rPr sz="1250" b="1" i="0">
                          <a:solidFill>
                            <a:srgbClr val="1C222E"/>
                          </a:solidFill>
                          <a:latin typeface="Arial"/>
                        </a:rPr>
                        <a:t>Doublespeak ctx</a:t>
                      </a:r>
                    </a:p>
                  </a:txBody>
                  <a:tcPr marL="76200" marR="76200" marT="25400" marB="25400" anchor="ctr">
                    <a:solidFill>
                      <a:srgbClr val="F3F5F7"/>
                    </a:solidFill>
                  </a:tcPr>
                </a:tc>
                <a:tc>
                  <a:txBody>
                    <a:bodyPr wrap="square"/>
                    <a:lstStyle/>
                    <a:p>
                      <a:pPr algn="ctr"/>
                      <a:r>
                        <a:rPr sz="1250" b="0" i="0">
                          <a:solidFill>
                            <a:srgbClr val="1C222E"/>
                          </a:solidFill>
                          <a:latin typeface="Arial"/>
                        </a:rPr>
                        <a:t>0.347</a:t>
                      </a:r>
                    </a:p>
                  </a:txBody>
                  <a:tcPr marL="76200" marR="76200" marT="25400" marB="25400" anchor="ctr">
                    <a:solidFill>
                      <a:srgbClr val="F3F5F7"/>
                    </a:solidFill>
                  </a:tcPr>
                </a:tc>
                <a:tc>
                  <a:txBody>
                    <a:bodyPr wrap="square"/>
                    <a:lstStyle/>
                    <a:p>
                      <a:pPr algn="ctr"/>
                      <a:r>
                        <a:rPr sz="1250" b="0" i="0">
                          <a:solidFill>
                            <a:srgbClr val="1C222E"/>
                          </a:solidFill>
                          <a:latin typeface="Arial"/>
                        </a:rPr>
                        <a:t>0.353</a:t>
                      </a:r>
                    </a:p>
                  </a:txBody>
                  <a:tcPr marL="76200" marR="76200" marT="25400" marB="25400" anchor="ctr">
                    <a:solidFill>
                      <a:srgbClr val="F3F5F7"/>
                    </a:solidFill>
                  </a:tcPr>
                </a:tc>
                <a:tc>
                  <a:txBody>
                    <a:bodyPr wrap="square"/>
                    <a:lstStyle/>
                    <a:p>
                      <a:pPr algn="ctr"/>
                      <a:r>
                        <a:rPr sz="1250" b="0" i="0">
                          <a:solidFill>
                            <a:srgbClr val="1C222E"/>
                          </a:solidFill>
                          <a:latin typeface="Arial"/>
                        </a:rPr>
                        <a:t>0.314</a:t>
                      </a:r>
                    </a:p>
                  </a:txBody>
                  <a:tcPr marL="76200" marR="76200" marT="25400" marB="25400" anchor="ctr">
                    <a:solidFill>
                      <a:srgbClr val="F3F5F7"/>
                    </a:solidFill>
                  </a:tcPr>
                </a:tc>
              </a:tr>
            </a:tbl>
          </a:graphicData>
        </a:graphic>
      </p:graphicFrame>
      <p:sp>
        <p:nvSpPr>
          <p:cNvPr id="6" name="TextBox 5"/>
          <p:cNvSpPr txBox="1"/>
          <p:nvPr/>
        </p:nvSpPr>
        <p:spPr>
          <a:xfrm>
            <a:off x="566928" y="3383280"/>
            <a:ext cx="5086605" cy="2377440"/>
          </a:xfrm>
          <a:prstGeom prst="rect">
            <a:avLst/>
          </a:prstGeom>
          <a:noFill/>
        </p:spPr>
        <p:txBody>
          <a:bodyPr wrap="square" lIns="0" rIns="0" tIns="0" bIns="0">
            <a:spAutoFit/>
          </a:bodyPr>
          <a:lstStyle/>
          <a:p>
            <a:pPr>
              <a:spcBef>
                <a:spcPts val="0"/>
              </a:spcBef>
              <a:spcAft>
                <a:spcPts val="500"/>
              </a:spcAft>
            </a:pPr>
            <a:r>
              <a:rPr sz="1250" b="1" i="0">
                <a:solidFill>
                  <a:srgbClr val="153A5C"/>
                </a:solidFill>
                <a:latin typeface="Arial"/>
              </a:rPr>
              <a:t>– </a:t>
            </a:r>
            <a:r>
              <a:rPr sz="1250" b="1" i="0">
                <a:solidFill>
                  <a:srgbClr val="1C222E"/>
                </a:solidFill>
                <a:latin typeface="Arial"/>
              </a:rPr>
              <a:t>IE_state ≈ 0:</a:t>
            </a:r>
          </a:p>
          <a:p>
            <a:pPr lvl="1">
              <a:spcBef>
                <a:spcPts val="0"/>
              </a:spcBef>
              <a:spcAft>
                <a:spcPts val="500"/>
              </a:spcAft>
            </a:pPr>
            <a:r>
              <a:rPr sz="1250" b="1" i="0">
                <a:solidFill>
                  <a:srgbClr val="395B74"/>
                </a:solidFill>
                <a:latin typeface="Arial"/>
              </a:rPr>
              <a:t>· </a:t>
            </a:r>
            <a:r>
              <a:rPr sz="1250" b="0" i="0">
                <a:solidFill>
                  <a:srgbClr val="1C222E"/>
                </a:solidFill>
                <a:latin typeface="Arial"/>
              </a:rPr>
              <a:t>within equivalence (margin 0.05) at all 35 layer windows, max effect 5e-5.</a:t>
            </a:r>
          </a:p>
          <a:p>
            <a:pPr>
              <a:spcBef>
                <a:spcPts val="0"/>
              </a:spcBef>
              <a:spcAft>
                <a:spcPts val="500"/>
              </a:spcAft>
            </a:pPr>
            <a:r>
              <a:rPr sz="1250" b="1" i="0">
                <a:solidFill>
                  <a:srgbClr val="153A5C"/>
                </a:solidFill>
                <a:latin typeface="Arial"/>
              </a:rPr>
              <a:t>– </a:t>
            </a:r>
            <a:r>
              <a:rPr sz="1250" b="1" i="0">
                <a:solidFill>
                  <a:srgbClr val="1C222E"/>
                </a:solidFill>
                <a:latin typeface="Arial"/>
              </a:rPr>
              <a:t>DE_context = +0.347</a:t>
            </a:r>
          </a:p>
          <a:p>
            <a:pPr lvl="1">
              <a:spcBef>
                <a:spcPts val="0"/>
              </a:spcBef>
              <a:spcAft>
                <a:spcPts val="500"/>
              </a:spcAft>
            </a:pPr>
            <a:r>
              <a:rPr sz="1250" b="1" i="0">
                <a:solidFill>
                  <a:srgbClr val="395B74"/>
                </a:solidFill>
                <a:latin typeface="Arial"/>
              </a:rPr>
              <a:t>· </a:t>
            </a:r>
            <a:r>
              <a:rPr sz="1250" b="0" i="0">
                <a:solidFill>
                  <a:srgbClr val="1C222E"/>
                </a:solidFill>
                <a:latin typeface="Arial"/>
              </a:rPr>
              <a:t>[+0.261, +0.434] = 98.5% of the total effect (+0.352).</a:t>
            </a:r>
          </a:p>
          <a:p>
            <a:pPr>
              <a:spcBef>
                <a:spcPts val="0"/>
              </a:spcBef>
              <a:spcAft>
                <a:spcPts val="500"/>
              </a:spcAft>
            </a:pPr>
            <a:r>
              <a:rPr sz="1250" b="1" i="0">
                <a:solidFill>
                  <a:srgbClr val="153A5C"/>
                </a:solidFill>
                <a:latin typeface="Arial"/>
              </a:rPr>
              <a:t>– </a:t>
            </a:r>
            <a:r>
              <a:rPr sz="1250" b="1" i="0">
                <a:solidFill>
                  <a:srgbClr val="1C222E"/>
                </a:solidFill>
                <a:latin typeface="Arial"/>
              </a:rPr>
              <a:t>Faithfulness = 0.0:</a:t>
            </a:r>
          </a:p>
          <a:p>
            <a:pPr lvl="1">
              <a:spcBef>
                <a:spcPts val="0"/>
              </a:spcBef>
              <a:spcAft>
                <a:spcPts val="500"/>
              </a:spcAft>
            </a:pPr>
            <a:r>
              <a:rPr sz="1250" b="1" i="0">
                <a:solidFill>
                  <a:srgbClr val="395B74"/>
                </a:solidFill>
                <a:latin typeface="Arial"/>
              </a:rPr>
              <a:t>· </a:t>
            </a:r>
            <a:r>
              <a:rPr sz="1250" b="0" i="0">
                <a:solidFill>
                  <a:srgbClr val="1C222E"/>
                </a:solidFill>
                <a:latin typeface="Arial"/>
              </a:rPr>
              <a:t>self-transplant reproduces the baseline exactly (n=1050).</a:t>
            </a:r>
          </a:p>
        </p:txBody>
      </p:sp>
      <p:sp>
        <p:nvSpPr>
          <p:cNvPr id="7" name="Rounded Rectangle 6"/>
          <p:cNvSpPr/>
          <p:nvPr/>
        </p:nvSpPr>
        <p:spPr>
          <a:xfrm>
            <a:off x="5985269" y="1874519"/>
            <a:ext cx="5639497" cy="160020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Holds beyond the one setting</a:t>
            </a:r>
          </a:p>
          <a:p>
            <a:pPr>
              <a:spcBef>
                <a:spcPts val="300"/>
              </a:spcBef>
            </a:pPr>
            <a:r>
              <a:rPr sz="1150" b="1" i="0">
                <a:solidFill>
                  <a:srgbClr val="153A5C"/>
                </a:solidFill>
                <a:latin typeface="Arial"/>
              </a:rPr>
              <a:t>Depth: </a:t>
            </a:r>
            <a:r>
              <a:rPr sz="1150" b="0" i="0">
                <a:solidFill>
                  <a:srgbClr val="1C222E"/>
                </a:solidFill>
                <a:latin typeface="Arial"/>
              </a:rPr>
              <a:t>single-layer swap inert at all 32 layers (|IE| ≤ 0.0002); multi-layer swap also inert.</a:t>
            </a:r>
          </a:p>
          <a:p>
            <a:pPr>
              <a:spcBef>
                <a:spcPts val="300"/>
              </a:spcBef>
            </a:pPr>
            <a:r>
              <a:rPr sz="1150" b="1" i="0">
                <a:solidFill>
                  <a:srgbClr val="153A5C"/>
                </a:solidFill>
                <a:latin typeface="Arial"/>
              </a:rPr>
              <a:t>Pairs: </a:t>
            </a:r>
            <a:r>
              <a:rPr sz="1150" b="0" i="0">
                <a:solidFill>
                  <a:srgbClr val="1C222E"/>
                </a:solidFill>
                <a:latin typeface="Arial"/>
              </a:rPr>
              <a:t>same dissociation on the three other pairs transplanted (grenade, pistol, chlorine); depth-invariance holds 4/4.</a:t>
            </a:r>
          </a:p>
        </p:txBody>
      </p:sp>
      <p:sp>
        <p:nvSpPr>
          <p:cNvPr id="8" name="Rounded Rectangle 7"/>
          <p:cNvSpPr/>
          <p:nvPr/>
        </p:nvSpPr>
        <p:spPr>
          <a:xfrm>
            <a:off x="5985269" y="3611880"/>
            <a:ext cx="5639497" cy="141732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2B6B45"/>
                </a:solidFill>
                <a:latin typeface="Arial"/>
              </a:rPr>
              <a:t>Cross-architecture</a:t>
            </a:r>
          </a:p>
          <a:p>
            <a:pPr>
              <a:spcBef>
                <a:spcPts val="300"/>
              </a:spcBef>
            </a:pPr>
            <a:r>
              <a:rPr sz="1150" b="1" i="0">
                <a:solidFill>
                  <a:srgbClr val="2B6B45"/>
                </a:solidFill>
                <a:latin typeface="Arial"/>
              </a:rPr>
              <a:t>Qwen3-14B </a:t>
            </a:r>
            <a:r>
              <a:rPr sz="1150" b="0" i="0">
                <a:solidFill>
                  <a:srgbClr val="1C222E"/>
                </a:solidFill>
                <a:latin typeface="Arial"/>
              </a:rPr>
              <a:t>replicates: DE_context +0.70 = 92% of the effect, faithfulness 0.0, hijack even stronger than Llama.</a:t>
            </a:r>
          </a:p>
        </p:txBody>
      </p:sp>
      <p:sp>
        <p:nvSpPr>
          <p:cNvPr id="9" name="Rounded Rectangle 8"/>
          <p:cNvSpPr/>
          <p:nvPr/>
        </p:nvSpPr>
        <p:spPr>
          <a:xfrm>
            <a:off x="5985269" y="5166360"/>
            <a:ext cx="5639497" cy="64008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Code audited</a:t>
            </a:r>
          </a:p>
          <a:p>
            <a:pPr>
              <a:spcBef>
                <a:spcPts val="300"/>
              </a:spcBef>
            </a:pPr>
            <a:r>
              <a:rPr sz="1150" b="1" i="0">
                <a:solidFill>
                  <a:srgbClr val="153A5C"/>
                </a:solidFill>
                <a:latin typeface="Arial"/>
              </a:rPr>
              <a:t>Hook truly overwrites the state; estimand algebra and equivalence test are correct. </a:t>
            </a:r>
            <a:r>
              <a:rPr sz="1150" b="0" i="0">
                <a:solidFill>
                  <a:srgbClr val="1C222E"/>
                </a:solidFill>
                <a:latin typeface="Arial"/>
              </a:rPr>
              <a:t/>
            </a:r>
          </a:p>
        </p:txBody>
      </p:sp>
      <p:sp>
        <p:nvSpPr>
          <p:cNvPr id="10" name="TextBox 9"/>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11" name="TextBox 10"/>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CONTRIBUTION 2  ·  S3</a:t>
            </a:r>
          </a:p>
          <a:p>
            <a:pPr>
              <a:spcBef>
                <a:spcPts val="200"/>
              </a:spcBef>
            </a:pPr>
            <a:r>
              <a:rPr sz="2300" b="1" i="0">
                <a:solidFill>
                  <a:srgbClr val="153A5C"/>
                </a:solidFill>
                <a:latin typeface="Arial"/>
              </a:rPr>
              <a:t>It is not a trivial re-read of the demonstrations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If the model merely re-read the demonstration codewords at answer time, neutralising their key/value states would collapse the reading.</a:t>
            </a:r>
          </a:p>
          <a:p>
            <a:pPr>
              <a:spcBef>
                <a:spcPts val="0"/>
              </a:spcBef>
              <a:spcAft>
                <a:spcPts val="1300"/>
              </a:spcAft>
            </a:pPr>
            <a:r>
              <a:rPr sz="1650" b="1" i="0">
                <a:solidFill>
                  <a:srgbClr val="153A5C"/>
                </a:solidFill>
                <a:latin typeface="Arial"/>
              </a:rPr>
              <a:t>– </a:t>
            </a:r>
            <a:r>
              <a:rPr sz="1650" b="0" i="0">
                <a:solidFill>
                  <a:srgbClr val="1C222E"/>
                </a:solidFill>
                <a:latin typeface="Arial"/>
              </a:rPr>
              <a:t>It does not: about 91% of the reading survives on Llama. The demonstration states carry a small, codeword-specific slice; the bulk is distributed across the computation.</a:t>
            </a:r>
          </a:p>
          <a:p>
            <a:pPr>
              <a:spcBef>
                <a:spcPts val="0"/>
              </a:spcBef>
              <a:spcAft>
                <a:spcPts val="1300"/>
              </a:spcAft>
            </a:pPr>
            <a:r>
              <a:rPr sz="1650" b="1" i="0">
                <a:solidFill>
                  <a:srgbClr val="153A5C"/>
                </a:solidFill>
                <a:latin typeface="Arial"/>
              </a:rPr>
              <a:t>– </a:t>
            </a:r>
            <a:r>
              <a:rPr sz="1650" b="0" i="0">
                <a:solidFill>
                  <a:srgbClr val="1C222E"/>
                </a:solidFill>
                <a:latin typeface="Arial"/>
              </a:rPr>
              <a:t>On Qwen3 the demonstrations are more load-bearing (54% survives, 46% removed). Same qualitative mechanism, an honest architecture difference.</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CONTRIBUTION 2  ·  S3</a:t>
            </a:r>
          </a:p>
          <a:p>
            <a:pPr>
              <a:spcBef>
                <a:spcPts val="200"/>
              </a:spcBef>
            </a:pPr>
            <a:r>
              <a:rPr sz="2300" b="1" i="0">
                <a:solidFill>
                  <a:srgbClr val="153A5C"/>
                </a:solidFill>
                <a:latin typeface="Arial"/>
              </a:rPr>
              <a:t>Demonstration key/value mediation</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Rounded Rectangle 4"/>
          <p:cNvSpPr/>
          <p:nvPr/>
        </p:nvSpPr>
        <p:spPr>
          <a:xfrm>
            <a:off x="566928"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~91%</a:t>
            </a:r>
          </a:p>
          <a:p>
            <a:pPr algn="ctr">
              <a:spcBef>
                <a:spcPts val="100"/>
              </a:spcBef>
            </a:pPr>
            <a:r>
              <a:rPr sz="1050" b="0" i="0">
                <a:solidFill>
                  <a:srgbClr val="395B74"/>
                </a:solidFill>
                <a:latin typeface="Arial"/>
              </a:rPr>
              <a:t>of the reading survives neutralising
the demo codeword K/V (Llama)</a:t>
            </a:r>
          </a:p>
        </p:txBody>
      </p:sp>
      <p:sp>
        <p:nvSpPr>
          <p:cNvPr id="6" name="Rounded Rectangle 5"/>
          <p:cNvSpPr/>
          <p:nvPr/>
        </p:nvSpPr>
        <p:spPr>
          <a:xfrm>
            <a:off x="4437171"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+0.032</a:t>
            </a:r>
          </a:p>
          <a:p>
            <a:pPr algn="ctr">
              <a:spcBef>
                <a:spcPts val="100"/>
              </a:spcBef>
            </a:pPr>
            <a:r>
              <a:rPr sz="1050" b="0" i="0">
                <a:solidFill>
                  <a:srgbClr val="395B74"/>
                </a:solidFill>
                <a:latin typeface="Arial"/>
              </a:rPr>
              <a:t>ReRead_test at mid
(of a ~0.35 baseline)</a:t>
            </a:r>
          </a:p>
        </p:txBody>
      </p:sp>
      <p:sp>
        <p:nvSpPr>
          <p:cNvPr id="7" name="Rounded Rectangle 6"/>
          <p:cNvSpPr/>
          <p:nvPr/>
        </p:nvSpPr>
        <p:spPr>
          <a:xfrm>
            <a:off x="8307415"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54%</a:t>
            </a:r>
          </a:p>
          <a:p>
            <a:pPr algn="ctr">
              <a:spcBef>
                <a:spcPts val="100"/>
              </a:spcBef>
            </a:pPr>
            <a:r>
              <a:rPr sz="1050" b="0" i="0">
                <a:solidFill>
                  <a:srgbClr val="395B74"/>
                </a:solidFill>
                <a:latin typeface="Arial"/>
              </a:rPr>
              <a:t>survives on Qwen3
(more demo-localised)</a:t>
            </a:r>
          </a:p>
        </p:txBody>
      </p:sp>
      <p:sp>
        <p:nvSpPr>
          <p:cNvPr id="8" name="TextBox 7"/>
          <p:cNvSpPr txBox="1"/>
          <p:nvPr/>
        </p:nvSpPr>
        <p:spPr>
          <a:xfrm>
            <a:off x="566928" y="3246120"/>
            <a:ext cx="11057839" cy="2194560"/>
          </a:xfrm>
          <a:prstGeom prst="rect">
            <a:avLst/>
          </a:prstGeom>
          <a:noFill/>
        </p:spPr>
        <p:txBody>
          <a:bodyPr wrap="square" lIns="0" rIns="0" tIns="0" bIns="0">
            <a:spAutoFit/>
          </a:bodyPr>
          <a:lstStyle/>
          <a:p>
            <a:pPr>
              <a:spcBef>
                <a:spcPts val="0"/>
              </a:spcBef>
              <a:spcAft>
                <a:spcPts val="800"/>
              </a:spcAft>
            </a:pPr>
            <a:r>
              <a:rPr sz="1350" b="1" i="0">
                <a:solidFill>
                  <a:srgbClr val="153A5C"/>
                </a:solidFill>
                <a:latin typeface="Arial"/>
              </a:rPr>
              <a:t>– </a:t>
            </a:r>
            <a:r>
              <a:rPr sz="1350" b="0" i="0">
                <a:solidFill>
                  <a:srgbClr val="1C222E"/>
                </a:solidFill>
                <a:latin typeface="Arial"/>
              </a:rPr>
              <a:t>The demonstration K/V carries a codeword-specific piece (ReRead above a matched random control), but neutralising it removes only a small share. Stage-3 outcome: distributed computation.</a:t>
            </a:r>
          </a:p>
          <a:p>
            <a:pPr>
              <a:spcBef>
                <a:spcPts val="0"/>
              </a:spcBef>
              <a:spcAft>
                <a:spcPts val="800"/>
              </a:spcAft>
            </a:pPr>
            <a:r>
              <a:rPr sz="1350" b="1" i="0">
                <a:solidFill>
                  <a:srgbClr val="153A5C"/>
                </a:solidFill>
                <a:latin typeface="Arial"/>
              </a:rPr>
              <a:t>– </a:t>
            </a:r>
            <a:r>
              <a:rPr sz="1350" b="0" i="0">
                <a:solidFill>
                  <a:srgbClr val="1C222E"/>
                </a:solidFill>
                <a:latin typeface="Arial"/>
              </a:rPr>
              <a:t>The DemoStateSwap hook was validated by an exact self-swap that reproduces the no-hook baseline; Qwen3 ReRead 0.354 versus random 0.093.</a:t>
            </a:r>
          </a:p>
          <a:p>
            <a:pPr lvl="1">
              <a:spcBef>
                <a:spcPts val="0"/>
              </a:spcBef>
              <a:spcAft>
                <a:spcPts val="800"/>
              </a:spcAft>
            </a:pPr>
            <a:r>
              <a:rPr sz="1350" b="1" i="0">
                <a:solidFill>
                  <a:srgbClr val="395B74"/>
                </a:solidFill>
                <a:latin typeface="Arial"/>
              </a:rPr>
              <a:t>· </a:t>
            </a:r>
            <a:r>
              <a:rPr sz="1350" b="0" i="0">
                <a:solidFill>
                  <a:srgbClr val="1C222E"/>
                </a:solidFill>
                <a:latin typeface="Arial"/>
              </a:rPr>
              <a:t>Minor: the random control is not exactly count-matched to the swap; the specificity margin is small. Flagged.</a:t>
            </a:r>
          </a:p>
        </p:txBody>
      </p:sp>
      <p:sp>
        <p:nvSpPr>
          <p:cNvPr id="9" name="TextBox 8"/>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10" name="TextBox 9"/>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CONTRIBUTION 3  ·  S4</a:t>
            </a:r>
          </a:p>
          <a:p>
            <a:pPr>
              <a:spcBef>
                <a:spcPts val="200"/>
              </a:spcBef>
            </a:pPr>
            <a:r>
              <a:rPr sz="2300" b="1" i="0">
                <a:solidFill>
                  <a:srgbClr val="153A5C"/>
                </a:solidFill>
                <a:latin typeface="Arial"/>
              </a:rPr>
              <a:t>The refusal check is depth-gated: catch it early, miss it late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Install the harmful concept early and the model refuses (concept-specifically). Ablate refusal and that early concept flips to compliance.</a:t>
            </a:r>
          </a:p>
          <a:p>
            <a:pPr>
              <a:spcBef>
                <a:spcPts val="0"/>
              </a:spcBef>
              <a:spcAft>
                <a:spcPts val="1300"/>
              </a:spcAft>
            </a:pPr>
            <a:r>
              <a:rPr sz="1650" b="1" i="0">
                <a:solidFill>
                  <a:srgbClr val="153A5C"/>
                </a:solidFill>
                <a:latin typeface="Arial"/>
              </a:rPr>
              <a:t>– </a:t>
            </a:r>
            <a:r>
              <a:rPr sz="1650" b="0" i="0">
                <a:solidFill>
                  <a:srgbClr val="1C222E"/>
                </a:solidFill>
                <a:latin typeface="Arial"/>
              </a:rPr>
              <a:t>Install the same concept late and, even with refusal removed, there is no compliance. The check only guards the early representation.</a:t>
            </a:r>
          </a:p>
          <a:p>
            <a:pPr>
              <a:spcBef>
                <a:spcPts val="0"/>
              </a:spcBef>
              <a:spcAft>
                <a:spcPts val="1300"/>
              </a:spcAft>
            </a:pPr>
            <a:r>
              <a:rPr sz="1650" b="1" i="0">
                <a:solidFill>
                  <a:srgbClr val="153A5C"/>
                </a:solidFill>
                <a:latin typeface="Arial"/>
              </a:rPr>
              <a:t>– </a:t>
            </a:r>
            <a:r>
              <a:rPr sz="1650" b="0" i="0">
                <a:solidFill>
                  <a:srgbClr val="1C222E"/>
                </a:solidFill>
                <a:latin typeface="Arial"/>
              </a:rPr>
              <a:t>This is the causal version of the paper's TOCTOU hypothesis: deferring harmful meaning to later layers is a genuine time-of-check / time-of-use bypass.</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CONTRIBUTION 3  ·  S4</a:t>
            </a:r>
          </a:p>
          <a:p>
            <a:pPr>
              <a:spcBef>
                <a:spcPts val="200"/>
              </a:spcBef>
            </a:pPr>
            <a:r>
              <a:rPr sz="2300" b="1" i="0">
                <a:solidFill>
                  <a:srgbClr val="153A5C"/>
                </a:solidFill>
                <a:latin typeface="Arial"/>
              </a:rPr>
              <a:t>Concept × refusal factorial (behavioural)</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74519"/>
          <a:ext cx="5528917" cy="1920240"/>
        </p:xfrm>
        <a:graphic>
          <a:graphicData uri="http://schemas.openxmlformats.org/drawingml/2006/table">
            <a:tbl>
              <a:tblPr>
                <a:tableStyleId>{5C22544A-7EE6-4342-B048-85BDC9FD1C3A}</a:tableStyleId>
              </a:tblPr>
              <a:tblGrid>
                <a:gridCol w="2764459"/>
                <a:gridCol w="1382229"/>
                <a:gridCol w="1382229"/>
              </a:tblGrid>
              <a:tr h="384048">
                <a:tc>
                  <a:txBody>
                    <a:bodyPr wrap="square"/>
                    <a:lstStyle/>
                    <a:p>
                      <a:pPr algn="l"/>
                      <a:r>
                        <a:rPr sz="1200" b="1" i="0">
                          <a:solidFill>
                            <a:srgbClr val="FFFFFF"/>
                          </a:solidFill>
                          <a:latin typeface="Arial"/>
                        </a:rPr>
                        <a:t>condition (n=40)</a:t>
                      </a:r>
                    </a:p>
                  </a:txBody>
                  <a:tcPr marL="76200" marR="76200" marT="25400" marB="25400" anchor="ctr">
                    <a:solidFill>
                      <a:srgbClr val="153A5C"/>
                    </a:solidFill>
                  </a:tcPr>
                </a:tc>
                <a:tc>
                  <a:txBody>
                    <a:bodyPr wrap="square"/>
                    <a:lstStyle/>
                    <a:p>
                      <a:pPr algn="ctr"/>
                      <a:r>
                        <a:rPr sz="1200" b="1" i="0">
                          <a:solidFill>
                            <a:srgbClr val="FFFFFF"/>
                          </a:solidFill>
                          <a:latin typeface="Arial"/>
                        </a:rPr>
                        <a:t>REJECTED</a:t>
                      </a:r>
                    </a:p>
                  </a:txBody>
                  <a:tcPr marL="76200" marR="76200" marT="25400" marB="25400" anchor="ctr">
                    <a:solidFill>
                      <a:srgbClr val="153A5C"/>
                    </a:solidFill>
                  </a:tcPr>
                </a:tc>
                <a:tc>
                  <a:txBody>
                    <a:bodyPr wrap="square"/>
                    <a:lstStyle/>
                    <a:p>
                      <a:pPr algn="ctr"/>
                      <a:r>
                        <a:rPr sz="1200" b="1" i="0">
                          <a:solidFill>
                            <a:srgbClr val="FFFFFF"/>
                          </a:solidFill>
                          <a:latin typeface="Arial"/>
                        </a:rPr>
                        <a:t>MALICIOUS</a:t>
                      </a:r>
                    </a:p>
                  </a:txBody>
                  <a:tcPr marL="76200" marR="76200" marT="25400" marB="25400" anchor="ctr">
                    <a:solidFill>
                      <a:srgbClr val="153A5C"/>
                    </a:solidFill>
                  </a:tcPr>
                </a:tc>
              </a:tr>
              <a:tr h="384048">
                <a:tc>
                  <a:txBody>
                    <a:bodyPr wrap="square"/>
                    <a:lstStyle/>
                    <a:p>
                      <a:pPr algn="l"/>
                      <a:r>
                        <a:rPr sz="1200" b="1" i="0">
                          <a:solidFill>
                            <a:srgbClr val="1C222E"/>
                          </a:solidFill>
                          <a:latin typeface="Arial"/>
                        </a:rPr>
                        <a:t>baseline / refusal-only</a:t>
                      </a:r>
                    </a:p>
                  </a:txBody>
                  <a:tcPr marL="76200" marR="76200" marT="25400" marB="25400" anchor="ctr">
                    <a:solidFill>
                      <a:srgbClr val="FFFFFF"/>
                    </a:solidFill>
                  </a:tcPr>
                </a:tc>
                <a:tc>
                  <a:txBody>
                    <a:bodyPr wrap="square"/>
                    <a:lstStyle/>
                    <a:p>
                      <a:pPr algn="ctr"/>
                      <a:r>
                        <a:rPr sz="1200" b="0" i="0">
                          <a:solidFill>
                            <a:srgbClr val="1C222E"/>
                          </a:solidFill>
                          <a:latin typeface="Arial"/>
                        </a:rPr>
                        <a:t>0.00</a:t>
                      </a:r>
                    </a:p>
                  </a:txBody>
                  <a:tcPr marL="76200" marR="76200" marT="25400" marB="25400" anchor="ctr">
                    <a:solidFill>
                      <a:srgbClr val="FFFFFF"/>
                    </a:solidFill>
                  </a:tcPr>
                </a:tc>
                <a:tc>
                  <a:txBody>
                    <a:bodyPr wrap="square"/>
                    <a:lstStyle/>
                    <a:p>
                      <a:pPr algn="ctr"/>
                      <a:r>
                        <a:rPr sz="1200" b="0" i="0">
                          <a:solidFill>
                            <a:srgbClr val="1C222E"/>
                          </a:solidFill>
                          <a:latin typeface="Arial"/>
                        </a:rPr>
                        <a:t>0.00</a:t>
                      </a:r>
                    </a:p>
                  </a:txBody>
                  <a:tcPr marL="76200" marR="76200" marT="25400" marB="25400" anchor="ctr">
                    <a:solidFill>
                      <a:srgbClr val="FFFFFF"/>
                    </a:solidFill>
                  </a:tcPr>
                </a:tc>
              </a:tr>
              <a:tr h="384048">
                <a:tc>
                  <a:txBody>
                    <a:bodyPr wrap="square"/>
                    <a:lstStyle/>
                    <a:p>
                      <a:pPr algn="l"/>
                      <a:r>
                        <a:rPr sz="1200" b="1" i="0">
                          <a:solidFill>
                            <a:srgbClr val="1C222E"/>
                          </a:solidFill>
                          <a:latin typeface="Arial"/>
                        </a:rPr>
                        <a:t>early concept (no ablation)</a:t>
                      </a:r>
                    </a:p>
                  </a:txBody>
                  <a:tcPr marL="76200" marR="76200" marT="25400" marB="25400" anchor="ctr">
                    <a:solidFill>
                      <a:srgbClr val="F3F5F7"/>
                    </a:solidFill>
                  </a:tcPr>
                </a:tc>
                <a:tc>
                  <a:txBody>
                    <a:bodyPr wrap="square"/>
                    <a:lstStyle/>
                    <a:p>
                      <a:pPr algn="ctr"/>
                      <a:r>
                        <a:rPr sz="1200" b="0" i="0">
                          <a:solidFill>
                            <a:srgbClr val="1C222E"/>
                          </a:solidFill>
                          <a:latin typeface="Arial"/>
                        </a:rPr>
                        <a:t>0.82</a:t>
                      </a:r>
                    </a:p>
                  </a:txBody>
                  <a:tcPr marL="76200" marR="76200" marT="25400" marB="25400" anchor="ctr">
                    <a:solidFill>
                      <a:srgbClr val="F3F5F7"/>
                    </a:solidFill>
                  </a:tcPr>
                </a:tc>
                <a:tc>
                  <a:txBody>
                    <a:bodyPr wrap="square"/>
                    <a:lstStyle/>
                    <a:p>
                      <a:pPr algn="ctr"/>
                      <a:r>
                        <a:rPr sz="1200" b="0" i="0">
                          <a:solidFill>
                            <a:srgbClr val="1C222E"/>
                          </a:solidFill>
                          <a:latin typeface="Arial"/>
                        </a:rPr>
                        <a:t>0.08</a:t>
                      </a:r>
                    </a:p>
                  </a:txBody>
                  <a:tcPr marL="76200" marR="76200" marT="25400" marB="25400" anchor="ctr">
                    <a:solidFill>
                      <a:srgbClr val="F3F5F7"/>
                    </a:solidFill>
                  </a:tcPr>
                </a:tc>
              </a:tr>
              <a:tr h="384048">
                <a:tc>
                  <a:txBody>
                    <a:bodyPr wrap="square"/>
                    <a:lstStyle/>
                    <a:p>
                      <a:pPr algn="l"/>
                      <a:r>
                        <a:rPr sz="1200" b="1" i="0">
                          <a:solidFill>
                            <a:srgbClr val="1C222E"/>
                          </a:solidFill>
                          <a:latin typeface="Arial"/>
                        </a:rPr>
                        <a:t>early concept, refusal ablated</a:t>
                      </a:r>
                    </a:p>
                  </a:txBody>
                  <a:tcPr marL="76200" marR="76200" marT="25400" marB="25400" anchor="ctr">
                    <a:solidFill>
                      <a:srgbClr val="FFFFFF"/>
                    </a:solidFill>
                  </a:tcPr>
                </a:tc>
                <a:tc>
                  <a:txBody>
                    <a:bodyPr wrap="square"/>
                    <a:lstStyle/>
                    <a:p>
                      <a:pPr algn="ctr"/>
                      <a:r>
                        <a:rPr sz="1200" b="0" i="0">
                          <a:solidFill>
                            <a:srgbClr val="1C222E"/>
                          </a:solidFill>
                          <a:latin typeface="Arial"/>
                        </a:rPr>
                        <a:t>–</a:t>
                      </a:r>
                    </a:p>
                  </a:txBody>
                  <a:tcPr marL="76200" marR="76200" marT="25400" marB="25400" anchor="ctr">
                    <a:solidFill>
                      <a:srgbClr val="FFFFFF"/>
                    </a:solidFill>
                  </a:tcPr>
                </a:tc>
                <a:tc>
                  <a:txBody>
                    <a:bodyPr wrap="square"/>
                    <a:lstStyle/>
                    <a:p>
                      <a:pPr algn="ctr"/>
                      <a:r>
                        <a:rPr sz="1200" b="0" i="0">
                          <a:solidFill>
                            <a:srgbClr val="1C222E"/>
                          </a:solidFill>
                          <a:latin typeface="Arial"/>
                        </a:rPr>
                        <a:t>0.53</a:t>
                      </a:r>
                    </a:p>
                  </a:txBody>
                  <a:tcPr marL="76200" marR="76200" marT="25400" marB="25400" anchor="ctr">
                    <a:solidFill>
                      <a:srgbClr val="FFFFFF"/>
                    </a:solidFill>
                  </a:tcPr>
                </a:tc>
              </a:tr>
              <a:tr h="384048">
                <a:tc>
                  <a:txBody>
                    <a:bodyPr wrap="square"/>
                    <a:lstStyle/>
                    <a:p>
                      <a:pPr algn="l"/>
                      <a:r>
                        <a:rPr sz="1200" b="1" i="0">
                          <a:solidFill>
                            <a:srgbClr val="1C222E"/>
                          </a:solidFill>
                          <a:latin typeface="Arial"/>
                        </a:rPr>
                        <a:t>late concept, refusal ablated</a:t>
                      </a:r>
                    </a:p>
                  </a:txBody>
                  <a:tcPr marL="76200" marR="76200" marT="25400" marB="25400" anchor="ctr">
                    <a:solidFill>
                      <a:srgbClr val="F3F5F7"/>
                    </a:solidFill>
                  </a:tcPr>
                </a:tc>
                <a:tc>
                  <a:txBody>
                    <a:bodyPr wrap="square"/>
                    <a:lstStyle/>
                    <a:p>
                      <a:pPr algn="ctr"/>
                      <a:r>
                        <a:rPr sz="1200" b="0" i="0">
                          <a:solidFill>
                            <a:srgbClr val="1C222E"/>
                          </a:solidFill>
                          <a:latin typeface="Arial"/>
                        </a:rPr>
                        <a:t>–</a:t>
                      </a:r>
                    </a:p>
                  </a:txBody>
                  <a:tcPr marL="76200" marR="76200" marT="25400" marB="25400" anchor="ctr">
                    <a:solidFill>
                      <a:srgbClr val="F3F5F7"/>
                    </a:solidFill>
                  </a:tcPr>
                </a:tc>
                <a:tc>
                  <a:txBody>
                    <a:bodyPr wrap="square"/>
                    <a:lstStyle/>
                    <a:p>
                      <a:pPr algn="ctr"/>
                      <a:r>
                        <a:rPr sz="1200" b="0" i="0">
                          <a:solidFill>
                            <a:srgbClr val="1C222E"/>
                          </a:solidFill>
                          <a:latin typeface="Arial"/>
                        </a:rPr>
                        <a:t>0.07</a:t>
                      </a:r>
                    </a:p>
                  </a:txBody>
                  <a:tcPr marL="76200" marR="76200" marT="25400" marB="25400" anchor="ctr">
                    <a:solidFill>
                      <a:srgbClr val="F3F5F7"/>
                    </a:solidFill>
                  </a:tcPr>
                </a:tc>
              </a:tr>
            </a:tbl>
          </a:graphicData>
        </a:graphic>
      </p:graphicFrame>
      <p:sp>
        <p:nvSpPr>
          <p:cNvPr id="6" name="Rounded Rectangle 5"/>
          <p:cNvSpPr/>
          <p:nvPr/>
        </p:nvSpPr>
        <p:spPr>
          <a:xfrm>
            <a:off x="6538161" y="1874519"/>
            <a:ext cx="5086605"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+0.425</a:t>
            </a:r>
          </a:p>
          <a:p>
            <a:pPr algn="ctr">
              <a:spcBef>
                <a:spcPts val="100"/>
              </a:spcBef>
            </a:pPr>
            <a:r>
              <a:rPr sz="1050" b="0" i="0">
                <a:solidFill>
                  <a:srgbClr val="395B74"/>
                </a:solidFill>
                <a:latin typeface="Arial"/>
              </a:rPr>
              <a:t>early−late interaction for MALICIOUS
[+0.250, +0.600], Holm-significant</a:t>
            </a:r>
          </a:p>
        </p:txBody>
      </p:sp>
      <p:sp>
        <p:nvSpPr>
          <p:cNvPr id="7" name="TextBox 6"/>
          <p:cNvSpPr txBox="1"/>
          <p:nvPr/>
        </p:nvSpPr>
        <p:spPr>
          <a:xfrm>
            <a:off x="566928" y="4114800"/>
            <a:ext cx="11057839" cy="1645920"/>
          </a:xfrm>
          <a:prstGeom prst="rect">
            <a:avLst/>
          </a:prstGeom>
          <a:noFill/>
        </p:spPr>
        <p:txBody>
          <a:bodyPr wrap="square" lIns="0" rIns="0" tIns="0" bIns="0">
            <a:spAutoFit/>
          </a:bodyPr>
          <a:lstStyle/>
          <a:p>
            <a:pPr>
              <a:spcBef>
                <a:spcPts val="0"/>
              </a:spcBef>
              <a:spcAft>
                <a:spcPts val="700"/>
              </a:spcAft>
            </a:pPr>
            <a:r>
              <a:rPr sz="1300" b="1" i="0">
                <a:solidFill>
                  <a:srgbClr val="153A5C"/>
                </a:solidFill>
                <a:latin typeface="Arial"/>
              </a:rPr>
              <a:t>– </a:t>
            </a:r>
            <a:r>
              <a:rPr sz="1300" b="0" i="0">
                <a:solidFill>
                  <a:srgbClr val="1C222E"/>
                </a:solidFill>
                <a:latin typeface="Arial"/>
              </a:rPr>
              <a:t>Both halves are concept-specific: the early refusal is 0.82 for the concept versus 0.00 for norm-matched random and orthogonal directions, and the compliance flip over those controls is +0.475 [+0.30, +0.65]. StrongReject-judged with zero judge failures.</a:t>
            </a:r>
          </a:p>
          <a:p>
            <a:pPr>
              <a:spcBef>
                <a:spcPts val="0"/>
              </a:spcBef>
              <a:spcAft>
                <a:spcPts val="700"/>
              </a:spcAft>
            </a:pPr>
            <a:r>
              <a:rPr sz="1300" b="1" i="0">
                <a:solidFill>
                  <a:srgbClr val="153A5C"/>
                </a:solidFill>
                <a:latin typeface="Arial"/>
              </a:rPr>
              <a:t>– </a:t>
            </a:r>
            <a:r>
              <a:rPr sz="1300" b="0" i="0">
                <a:solidFill>
                  <a:srgbClr val="1C222E"/>
                </a:solidFill>
                <a:latin typeface="Arial"/>
              </a:rPr>
              <a:t>Refusal ablation must be multi-layer (Arditi all-layer projection): a single layer barely moves it (1.0 to 0.93).</a:t>
            </a:r>
          </a:p>
        </p:txBody>
      </p:sp>
      <p:sp>
        <p:nvSpPr>
          <p:cNvPr id="8" name="TextBox 7"/>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9" name="TextBox 8"/>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MECHANISM  ·  SUPERPOSITION</a:t>
            </a:r>
          </a:p>
          <a:p>
            <a:pPr>
              <a:spcBef>
                <a:spcPts val="200"/>
              </a:spcBef>
            </a:pPr>
            <a:r>
              <a:rPr sz="2300" b="1" i="0">
                <a:solidFill>
                  <a:srgbClr val="153A5C"/>
                </a:solidFill>
                <a:latin typeface="Arial"/>
              </a:rPr>
              <a:t>The codeword position carries both meanings at once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Projecting the Doublespeak codeword state onto a codeword axis and a concept axis shows it loads both. That is the paper's second hypothesis, now measured.</a:t>
            </a:r>
          </a:p>
          <a:p>
            <a:pPr>
              <a:spcBef>
                <a:spcPts val="0"/>
              </a:spcBef>
              <a:spcAft>
                <a:spcPts val="1300"/>
              </a:spcAft>
            </a:pPr>
            <a:r>
              <a:rPr sz="1650" b="1" i="0">
                <a:solidFill>
                  <a:srgbClr val="153A5C"/>
                </a:solidFill>
                <a:latin typeface="Arial"/>
              </a:rPr>
              <a:t>– </a:t>
            </a:r>
            <a:r>
              <a:rPr sz="1650" b="0" i="0">
                <a:solidFill>
                  <a:srgbClr val="1C222E"/>
                </a:solidFill>
                <a:latin typeface="Arial"/>
              </a:rPr>
              <a:t>The concept component is Doublespeak-specific: it sits above a benign-remap control, so it is not just generic “this word was remapped” structure.</a:t>
            </a:r>
          </a:p>
          <a:p>
            <a:pPr>
              <a:spcBef>
                <a:spcPts val="0"/>
              </a:spcBef>
              <a:spcAft>
                <a:spcPts val="1300"/>
              </a:spcAft>
            </a:pPr>
            <a:r>
              <a:rPr sz="1650" b="1" i="0">
                <a:solidFill>
                  <a:srgbClr val="153A5C"/>
                </a:solidFill>
                <a:latin typeface="Arial"/>
              </a:rPr>
              <a:t>– </a:t>
            </a:r>
            <a:r>
              <a:rPr sz="1650" b="0" i="0">
                <a:solidFill>
                  <a:srgbClr val="1C222E"/>
                </a:solidFill>
                <a:latin typeface="Arial"/>
              </a:rPr>
              <a:t>The concept loading is small (about 13% of a direct concept state). Superposition, but with a weak concept component, matching the modest reading.</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MECHANISM  ·  SUPERPOSITION</a:t>
            </a:r>
          </a:p>
          <a:p>
            <a:pPr>
              <a:spcBef>
                <a:spcPts val="200"/>
              </a:spcBef>
            </a:pPr>
            <a:r>
              <a:rPr sz="2300" b="1" i="0">
                <a:solidFill>
                  <a:srgbClr val="153A5C"/>
                </a:solidFill>
                <a:latin typeface="Arial"/>
              </a:rPr>
              <a:t>Both axes load; the concept part is DS-specific</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Rounded Rectangle 4"/>
          <p:cNvSpPr/>
          <p:nvPr/>
        </p:nvSpPr>
        <p:spPr>
          <a:xfrm>
            <a:off x="566928"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+0.555</a:t>
            </a:r>
          </a:p>
          <a:p>
            <a:pPr algn="ctr">
              <a:spcBef>
                <a:spcPts val="100"/>
              </a:spcBef>
            </a:pPr>
            <a:r>
              <a:rPr sz="1050" b="0" i="0">
                <a:solidFill>
                  <a:srgbClr val="395B74"/>
                </a:solidFill>
                <a:latin typeface="Arial"/>
              </a:rPr>
              <a:t>DS − benign-remap, concept axis
[+0.260, +0.866] (Llama, bomb)</a:t>
            </a:r>
          </a:p>
        </p:txBody>
      </p:sp>
      <p:sp>
        <p:nvSpPr>
          <p:cNvPr id="6" name="Rounded Rectangle 5"/>
          <p:cNvSpPr/>
          <p:nvPr/>
        </p:nvSpPr>
        <p:spPr>
          <a:xfrm>
            <a:off x="4437171"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+0.459</a:t>
            </a:r>
          </a:p>
          <a:p>
            <a:pPr algn="ctr">
              <a:spcBef>
                <a:spcPts val="100"/>
              </a:spcBef>
            </a:pPr>
            <a:r>
              <a:rPr sz="1050" b="0" i="0">
                <a:solidFill>
                  <a:srgbClr val="395B74"/>
                </a:solidFill>
                <a:latin typeface="Arial"/>
              </a:rPr>
              <a:t>DS − unrelated-target
[+0.173, +0.769]</a:t>
            </a:r>
          </a:p>
        </p:txBody>
      </p:sp>
      <p:sp>
        <p:nvSpPr>
          <p:cNvPr id="7" name="Rounded Rectangle 6"/>
          <p:cNvSpPr/>
          <p:nvPr/>
        </p:nvSpPr>
        <p:spPr>
          <a:xfrm>
            <a:off x="8307415" y="1920240"/>
            <a:ext cx="3317351"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+8.96</a:t>
            </a:r>
          </a:p>
          <a:p>
            <a:pPr algn="ctr">
              <a:spcBef>
                <a:spcPts val="100"/>
              </a:spcBef>
            </a:pPr>
            <a:r>
              <a:rPr sz="1050" b="0" i="0">
                <a:solidFill>
                  <a:srgbClr val="395B74"/>
                </a:solidFill>
                <a:latin typeface="Arial"/>
              </a:rPr>
              <a:t>same test on Qwen3-14B
(cross-architecture)</a:t>
            </a:r>
          </a:p>
        </p:txBody>
      </p:sp>
      <p:sp>
        <p:nvSpPr>
          <p:cNvPr id="8" name="TextBox 7"/>
          <p:cNvSpPr txBox="1"/>
          <p:nvPr/>
        </p:nvSpPr>
        <p:spPr>
          <a:xfrm>
            <a:off x="566928" y="3246120"/>
            <a:ext cx="11057839" cy="2194560"/>
          </a:xfrm>
          <a:prstGeom prst="rect">
            <a:avLst/>
          </a:prstGeom>
          <a:noFill/>
        </p:spPr>
        <p:txBody>
          <a:bodyPr wrap="square" lIns="0" rIns="0" tIns="0" bIns="0">
            <a:spAutoFit/>
          </a:bodyPr>
          <a:lstStyle/>
          <a:p>
            <a:pPr>
              <a:spcBef>
                <a:spcPts val="0"/>
              </a:spcBef>
              <a:spcAft>
                <a:spcPts val="800"/>
              </a:spcAft>
            </a:pPr>
            <a:r>
              <a:rPr sz="1350" b="1" i="0">
                <a:solidFill>
                  <a:srgbClr val="153A5C"/>
                </a:solidFill>
                <a:latin typeface="Arial"/>
              </a:rPr>
              <a:t>– </a:t>
            </a:r>
            <a:r>
              <a:rPr sz="1350" b="0" i="0">
                <a:solidFill>
                  <a:srgbClr val="1C222E"/>
                </a:solidFill>
                <a:latin typeface="Arial"/>
              </a:rPr>
              <a:t>Controls separate cleanly: DIRECT loads concept over codeword (+14.1 vs +4.2), REPEATED loads codeword over concept, NEUTRAL sits at zero on both.</a:t>
            </a:r>
          </a:p>
          <a:p>
            <a:pPr>
              <a:spcBef>
                <a:spcPts val="0"/>
              </a:spcBef>
              <a:spcAft>
                <a:spcPts val="800"/>
              </a:spcAft>
            </a:pPr>
            <a:r>
              <a:rPr sz="1350" b="1" i="0">
                <a:solidFill>
                  <a:srgbClr val="153A5C"/>
                </a:solidFill>
                <a:latin typeface="Arial"/>
              </a:rPr>
              <a:t>– </a:t>
            </a:r>
            <a:r>
              <a:rPr sz="1350" b="0" i="0">
                <a:solidFill>
                  <a:srgbClr val="1C222E"/>
                </a:solidFill>
                <a:latin typeface="Arial"/>
              </a:rPr>
              <a:t>Both of the paper's hypothesised mechanisms are now tested: TOCTOU causally, superposition representationally.</a:t>
            </a:r>
          </a:p>
          <a:p>
            <a:pPr lvl="1">
              <a:spcBef>
                <a:spcPts val="0"/>
              </a:spcBef>
              <a:spcAft>
                <a:spcPts val="800"/>
              </a:spcAft>
            </a:pPr>
            <a:r>
              <a:rPr sz="1350" b="1" i="0">
                <a:solidFill>
                  <a:srgbClr val="395B74"/>
                </a:solidFill>
                <a:latin typeface="Arial"/>
              </a:rPr>
              <a:t>· </a:t>
            </a:r>
            <a:r>
              <a:rPr sz="1350" b="0" i="0">
                <a:solidFill>
                  <a:srgbClr val="1C222E"/>
                </a:solidFill>
                <a:latin typeface="Arial"/>
              </a:rPr>
              <a:t>Scope: the DS-specific concept elevation is a bomb property. On grenade, chlorine, pistol it is not distinguishable from a benign remap (co-loading of both axes is universal).</a:t>
            </a:r>
          </a:p>
        </p:txBody>
      </p:sp>
      <p:sp>
        <p:nvSpPr>
          <p:cNvPr id="9" name="TextBox 8"/>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10" name="TextBox 9"/>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MECHANISM  ·  THE CIRCUIT</a:t>
            </a:r>
          </a:p>
          <a:p>
            <a:pPr>
              <a:spcBef>
                <a:spcPts val="200"/>
              </a:spcBef>
            </a:pPr>
            <a:r>
              <a:rPr sz="2300" b="1" i="0">
                <a:solidFill>
                  <a:srgbClr val="153A5C"/>
                </a:solidFill>
                <a:latin typeface="Arial"/>
              </a:rPr>
              <a:t>A distributed mid-band attention-to-MLP cascade, no bottleneck</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Retrieval first: the query codeword attends back to the earlier demonstration codewords by token identity, like an induction head, 3.5x above a matched random control.</a:t>
            </a:r>
          </a:p>
          <a:p>
            <a:pPr>
              <a:spcBef>
                <a:spcPts val="0"/>
              </a:spcBef>
              <a:spcAft>
                <a:spcPts val="1300"/>
              </a:spcAft>
            </a:pPr>
            <a:r>
              <a:rPr sz="1650" b="1" i="0">
                <a:solidFill>
                  <a:srgbClr val="153A5C"/>
                </a:solidFill>
                <a:latin typeface="Arial"/>
              </a:rPr>
              <a:t>– </a:t>
            </a:r>
            <a:r>
              <a:rPr sz="1650" b="0" i="0">
                <a:solidFill>
                  <a:srgbClr val="1C222E"/>
                </a:solidFill>
                <a:latin typeface="Arial"/>
              </a:rPr>
              <a:t>Mid-band attention (around L7-9) writes the demonstration-to-query link; mid-band MLPs (L9-14) consolidate the concept one to two layers later. Late layers only carry it to the readout.</a:t>
            </a:r>
          </a:p>
          <a:p>
            <a:pPr>
              <a:spcBef>
                <a:spcPts val="0"/>
              </a:spcBef>
              <a:spcAft>
                <a:spcPts val="1300"/>
              </a:spcAft>
            </a:pPr>
            <a:r>
              <a:rPr sz="1650" b="1" i="0">
                <a:solidFill>
                  <a:srgbClr val="153A5C"/>
                </a:solidFill>
                <a:latin typeface="Arial"/>
              </a:rPr>
              <a:t>– </a:t>
            </a:r>
            <a:r>
              <a:rPr sz="1650" b="0" i="0">
                <a:solidFill>
                  <a:srgbClr val="1C222E"/>
                </a:solidFill>
                <a:latin typeface="Arial"/>
              </a:rPr>
              <a:t>No single head, layer, MLP, or head-to-head edge is a bottleneck. It is a distributed computation, and every step is validated against true patching.</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MECHANISM  ·  THE CIRCUIT</a:t>
            </a:r>
          </a:p>
          <a:p>
            <a:pPr>
              <a:spcBef>
                <a:spcPts val="200"/>
              </a:spcBef>
            </a:pPr>
            <a:r>
              <a:rPr sz="2300" b="1" i="0">
                <a:solidFill>
                  <a:srgbClr val="153A5C"/>
                </a:solidFill>
                <a:latin typeface="Arial"/>
              </a:rPr>
              <a:t>Localised, validated, and distributed</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28800"/>
          <a:ext cx="11057837" cy="2834640"/>
        </p:xfrm>
        <a:graphic>
          <a:graphicData uri="http://schemas.openxmlformats.org/drawingml/2006/table">
            <a:tbl>
              <a:tblPr>
                <a:tableStyleId>{5C22544A-7EE6-4342-B048-85BDC9FD1C3A}</a:tableStyleId>
              </a:tblPr>
              <a:tblGrid>
                <a:gridCol w="2653881"/>
                <a:gridCol w="2432724"/>
                <a:gridCol w="3538508"/>
                <a:gridCol w="2432724"/>
              </a:tblGrid>
              <a:tr h="566928">
                <a:tc>
                  <a:txBody>
                    <a:bodyPr wrap="square"/>
                    <a:lstStyle/>
                    <a:p>
                      <a:pPr algn="l"/>
                      <a:r>
                        <a:rPr sz="1100" b="1" i="0">
                          <a:solidFill>
                            <a:srgbClr val="FFFFFF"/>
                          </a:solidFill>
                          <a:latin typeface="Arial"/>
                        </a:rPr>
                        <a:t>stage</a:t>
                      </a:r>
                    </a:p>
                  </a:txBody>
                  <a:tcPr marL="76200" marR="76200" marT="25400" marB="25400" anchor="ctr">
                    <a:solidFill>
                      <a:srgbClr val="153A5C"/>
                    </a:solidFill>
                  </a:tcPr>
                </a:tc>
                <a:tc>
                  <a:txBody>
                    <a:bodyPr wrap="square"/>
                    <a:lstStyle/>
                    <a:p>
                      <a:pPr algn="ctr"/>
                      <a:r>
                        <a:rPr sz="1100" b="1" i="0">
                          <a:solidFill>
                            <a:srgbClr val="FFFFFF"/>
                          </a:solidFill>
                          <a:latin typeface="Arial"/>
                        </a:rPr>
                        <a:t>where</a:t>
                      </a:r>
                    </a:p>
                  </a:txBody>
                  <a:tcPr marL="76200" marR="76200" marT="25400" marB="25400" anchor="ctr">
                    <a:solidFill>
                      <a:srgbClr val="153A5C"/>
                    </a:solidFill>
                  </a:tcPr>
                </a:tc>
                <a:tc>
                  <a:txBody>
                    <a:bodyPr wrap="square"/>
                    <a:lstStyle/>
                    <a:p>
                      <a:pPr algn="ctr"/>
                      <a:r>
                        <a:rPr sz="1100" b="1" i="0">
                          <a:solidFill>
                            <a:srgbClr val="FFFFFF"/>
                          </a:solidFill>
                          <a:latin typeface="Arial"/>
                        </a:rPr>
                        <a:t>evidence</a:t>
                      </a:r>
                    </a:p>
                  </a:txBody>
                  <a:tcPr marL="76200" marR="76200" marT="25400" marB="25400" anchor="ctr">
                    <a:solidFill>
                      <a:srgbClr val="153A5C"/>
                    </a:solidFill>
                  </a:tcPr>
                </a:tc>
                <a:tc>
                  <a:txBody>
                    <a:bodyPr wrap="square"/>
                    <a:lstStyle/>
                    <a:p>
                      <a:pPr algn="ctr"/>
                      <a:r>
                        <a:rPr sz="1100" b="1" i="0">
                          <a:solidFill>
                            <a:srgbClr val="FFFFFF"/>
                          </a:solidFill>
                          <a:latin typeface="Arial"/>
                        </a:rPr>
                        <a:t>validation vs true patch</a:t>
                      </a:r>
                    </a:p>
                  </a:txBody>
                  <a:tcPr marL="76200" marR="76200" marT="25400" marB="25400" anchor="ctr">
                    <a:solidFill>
                      <a:srgbClr val="153A5C"/>
                    </a:solidFill>
                  </a:tcPr>
                </a:tc>
              </a:tr>
              <a:tr h="566928">
                <a:tc>
                  <a:txBody>
                    <a:bodyPr wrap="square"/>
                    <a:lstStyle/>
                    <a:p>
                      <a:pPr algn="l"/>
                      <a:r>
                        <a:rPr sz="1100" b="1" i="0">
                          <a:solidFill>
                            <a:srgbClr val="1C222E"/>
                          </a:solidFill>
                          <a:latin typeface="Arial"/>
                        </a:rPr>
                        <a:t>retrieval (induction-like)</a:t>
                      </a:r>
                    </a:p>
                  </a:txBody>
                  <a:tcPr marL="76200" marR="76200" marT="25400" marB="25400" anchor="ctr">
                    <a:solidFill>
                      <a:srgbClr val="FFFFFF"/>
                    </a:solidFill>
                  </a:tcPr>
                </a:tc>
                <a:tc>
                  <a:txBody>
                    <a:bodyPr wrap="square"/>
                    <a:lstStyle/>
                    <a:p>
                      <a:pPr algn="ctr"/>
                      <a:r>
                        <a:rPr sz="1100" b="0" i="0">
                          <a:solidFill>
                            <a:srgbClr val="1C222E"/>
                          </a:solidFill>
                          <a:latin typeface="Arial"/>
                        </a:rPr>
                        <a:t>query → demo codewords</a:t>
                      </a:r>
                    </a:p>
                  </a:txBody>
                  <a:tcPr marL="76200" marR="76200" marT="25400" marB="25400" anchor="ctr">
                    <a:solidFill>
                      <a:srgbClr val="FFFFFF"/>
                    </a:solidFill>
                  </a:tcPr>
                </a:tc>
                <a:tc>
                  <a:txBody>
                    <a:bodyPr wrap="square"/>
                    <a:lstStyle/>
                    <a:p>
                      <a:pPr algn="ctr"/>
                      <a:r>
                        <a:rPr sz="1100" b="0" i="0">
                          <a:solidFill>
                            <a:srgbClr val="1C222E"/>
                          </a:solidFill>
                          <a:latin typeface="Arial"/>
                        </a:rPr>
                        <a:t>3.5x / 3.5x / 3.3x vs random (bomb/grenade/chlorine)</a:t>
                      </a:r>
                    </a:p>
                  </a:txBody>
                  <a:tcPr marL="76200" marR="76200" marT="25400" marB="25400" anchor="ctr">
                    <a:solidFill>
                      <a:srgbClr val="FFFFFF"/>
                    </a:solidFill>
                  </a:tcPr>
                </a:tc>
                <a:tc>
                  <a:txBody>
                    <a:bodyPr wrap="square"/>
                    <a:lstStyle/>
                    <a:p>
                      <a:pPr algn="ctr"/>
                      <a:r>
                        <a:rPr sz="1100" b="0" i="0">
                          <a:solidFill>
                            <a:srgbClr val="1C222E"/>
                          </a:solidFill>
                          <a:latin typeface="Arial"/>
                        </a:rPr>
                        <a:t>attention pattern</a:t>
                      </a:r>
                    </a:p>
                  </a:txBody>
                  <a:tcPr marL="76200" marR="76200" marT="25400" marB="25400" anchor="ctr">
                    <a:solidFill>
                      <a:srgbClr val="FFFFFF"/>
                    </a:solidFill>
                  </a:tcPr>
                </a:tc>
              </a:tr>
              <a:tr h="566928">
                <a:tc>
                  <a:txBody>
                    <a:bodyPr wrap="square"/>
                    <a:lstStyle/>
                    <a:p>
                      <a:pPr algn="l"/>
                      <a:r>
                        <a:rPr sz="1100" b="1" i="0">
                          <a:solidFill>
                            <a:srgbClr val="1C222E"/>
                          </a:solidFill>
                          <a:latin typeface="Arial"/>
                        </a:rPr>
                        <a:t>attention writes the link</a:t>
                      </a:r>
                    </a:p>
                  </a:txBody>
                  <a:tcPr marL="76200" marR="76200" marT="25400" marB="25400" anchor="ctr">
                    <a:solidFill>
                      <a:srgbClr val="F3F5F7"/>
                    </a:solidFill>
                  </a:tcPr>
                </a:tc>
                <a:tc>
                  <a:txBody>
                    <a:bodyPr wrap="square"/>
                    <a:lstStyle/>
                    <a:p>
                      <a:pPr algn="ctr"/>
                      <a:r>
                        <a:rPr sz="1100" b="0" i="0">
                          <a:solidFill>
                            <a:srgbClr val="1C222E"/>
                          </a:solidFill>
                          <a:latin typeface="Arial"/>
                        </a:rPr>
                        <a:t>L7–14, peak L9 (62% of |AtP|)</a:t>
                      </a:r>
                    </a:p>
                  </a:txBody>
                  <a:tcPr marL="76200" marR="76200" marT="25400" marB="25400" anchor="ctr">
                    <a:solidFill>
                      <a:srgbClr val="F3F5F7"/>
                    </a:solidFill>
                  </a:tcPr>
                </a:tc>
                <a:tc>
                  <a:txBody>
                    <a:bodyPr wrap="square"/>
                    <a:lstStyle/>
                    <a:p>
                      <a:pPr algn="ctr"/>
                      <a:r>
                        <a:rPr sz="1100" b="0" i="0">
                          <a:solidFill>
                            <a:srgbClr val="1C222E"/>
                          </a:solidFill>
                          <a:latin typeface="Arial"/>
                        </a:rPr>
                        <a:t>per-head z-attribution; top-20 heads = 12%</a:t>
                      </a:r>
                    </a:p>
                  </a:txBody>
                  <a:tcPr marL="76200" marR="76200" marT="25400" marB="25400" anchor="ctr">
                    <a:solidFill>
                      <a:srgbClr val="F3F5F7"/>
                    </a:solidFill>
                  </a:tcPr>
                </a:tc>
                <a:tc>
                  <a:txBody>
                    <a:bodyPr wrap="square"/>
                    <a:lstStyle/>
                    <a:p>
                      <a:pPr algn="ctr"/>
                      <a:r>
                        <a:rPr sz="1100" b="0" i="0">
                          <a:solidFill>
                            <a:srgbClr val="1C222E"/>
                          </a:solidFill>
                          <a:latin typeface="Arial"/>
                        </a:rPr>
                        <a:t>pearson 0.97–0.99 (3 pairs)</a:t>
                      </a:r>
                    </a:p>
                  </a:txBody>
                  <a:tcPr marL="76200" marR="76200" marT="25400" marB="25400" anchor="ctr">
                    <a:solidFill>
                      <a:srgbClr val="F3F5F7"/>
                    </a:solidFill>
                  </a:tcPr>
                </a:tc>
              </a:tr>
              <a:tr h="566928">
                <a:tc>
                  <a:txBody>
                    <a:bodyPr wrap="square"/>
                    <a:lstStyle/>
                    <a:p>
                      <a:pPr algn="l"/>
                      <a:r>
                        <a:rPr sz="1100" b="1" i="0">
                          <a:solidFill>
                            <a:srgbClr val="1C222E"/>
                          </a:solidFill>
                          <a:latin typeface="Arial"/>
                        </a:rPr>
                        <a:t>MLPs consolidate</a:t>
                      </a:r>
                    </a:p>
                  </a:txBody>
                  <a:tcPr marL="76200" marR="76200" marT="25400" marB="25400" anchor="ctr">
                    <a:solidFill>
                      <a:srgbClr val="FFFFFF"/>
                    </a:solidFill>
                  </a:tcPr>
                </a:tc>
                <a:tc>
                  <a:txBody>
                    <a:bodyPr wrap="square"/>
                    <a:lstStyle/>
                    <a:p>
                      <a:pPr algn="ctr"/>
                      <a:r>
                        <a:rPr sz="1100" b="0" i="0">
                          <a:solidFill>
                            <a:srgbClr val="1C222E"/>
                          </a:solidFill>
                          <a:latin typeface="Arial"/>
                        </a:rPr>
                        <a:t>L7–14, peak L11–14</a:t>
                      </a:r>
                    </a:p>
                  </a:txBody>
                  <a:tcPr marL="76200" marR="76200" marT="25400" marB="25400" anchor="ctr">
                    <a:solidFill>
                      <a:srgbClr val="FFFFFF"/>
                    </a:solidFill>
                  </a:tcPr>
                </a:tc>
                <a:tc>
                  <a:txBody>
                    <a:bodyPr wrap="square"/>
                    <a:lstStyle/>
                    <a:p>
                      <a:pPr algn="ctr"/>
                      <a:r>
                        <a:rPr sz="1100" b="0" i="0">
                          <a:solidFill>
                            <a:srgbClr val="1C222E"/>
                          </a:solidFill>
                          <a:latin typeface="Arial"/>
                        </a:rPr>
                        <a:t>MLP-layer attribution, +1–2 layer lag</a:t>
                      </a:r>
                    </a:p>
                  </a:txBody>
                  <a:tcPr marL="76200" marR="76200" marT="25400" marB="25400" anchor="ctr">
                    <a:solidFill>
                      <a:srgbClr val="FFFFFF"/>
                    </a:solidFill>
                  </a:tcPr>
                </a:tc>
                <a:tc>
                  <a:txBody>
                    <a:bodyPr wrap="square"/>
                    <a:lstStyle/>
                    <a:p>
                      <a:pPr algn="ctr"/>
                      <a:r>
                        <a:rPr sz="1100" b="0" i="0">
                          <a:solidFill>
                            <a:srgbClr val="1C222E"/>
                          </a:solidFill>
                          <a:latin typeface="Arial"/>
                        </a:rPr>
                        <a:t>pearson 0.93–0.95 (3 pairs)</a:t>
                      </a:r>
                    </a:p>
                  </a:txBody>
                  <a:tcPr marL="76200" marR="76200" marT="25400" marB="25400" anchor="ctr">
                    <a:solidFill>
                      <a:srgbClr val="FFFFFF"/>
                    </a:solidFill>
                  </a:tcPr>
                </a:tc>
              </a:tr>
              <a:tr h="566928">
                <a:tc>
                  <a:txBody>
                    <a:bodyPr wrap="square"/>
                    <a:lstStyle/>
                    <a:p>
                      <a:pPr algn="l"/>
                      <a:r>
                        <a:rPr sz="1100" b="1" i="0">
                          <a:solidFill>
                            <a:srgbClr val="1C222E"/>
                          </a:solidFill>
                          <a:latin typeface="Arial"/>
                        </a:rPr>
                        <a:t>late layers carry</a:t>
                      </a:r>
                    </a:p>
                  </a:txBody>
                  <a:tcPr marL="76200" marR="76200" marT="25400" marB="25400" anchor="ctr">
                    <a:solidFill>
                      <a:srgbClr val="F3F5F7"/>
                    </a:solidFill>
                  </a:tcPr>
                </a:tc>
                <a:tc>
                  <a:txBody>
                    <a:bodyPr wrap="square"/>
                    <a:lstStyle/>
                    <a:p>
                      <a:pPr algn="ctr"/>
                      <a:r>
                        <a:rPr sz="1100" b="0" i="0">
                          <a:solidFill>
                            <a:srgbClr val="1C222E"/>
                          </a:solidFill>
                          <a:latin typeface="Arial"/>
                        </a:rPr>
                        <a:t>L20–31</a:t>
                      </a:r>
                    </a:p>
                  </a:txBody>
                  <a:tcPr marL="76200" marR="76200" marT="25400" marB="25400" anchor="ctr">
                    <a:solidFill>
                      <a:srgbClr val="F3F5F7"/>
                    </a:solidFill>
                  </a:tcPr>
                </a:tc>
                <a:tc>
                  <a:txBody>
                    <a:bodyPr wrap="square"/>
                    <a:lstStyle/>
                    <a:p>
                      <a:pPr algn="ctr"/>
                      <a:r>
                        <a:rPr sz="1100" b="0" i="0">
                          <a:solidFill>
                            <a:srgbClr val="1C222E"/>
                          </a:solidFill>
                          <a:latin typeface="Arial"/>
                        </a:rPr>
                        <a:t>high true-patch effect but ~0 attribution</a:t>
                      </a:r>
                    </a:p>
                  </a:txBody>
                  <a:tcPr marL="76200" marR="76200" marT="25400" marB="25400" anchor="ctr">
                    <a:solidFill>
                      <a:srgbClr val="F3F5F7"/>
                    </a:solidFill>
                  </a:tcPr>
                </a:tc>
                <a:tc>
                  <a:txBody>
                    <a:bodyPr wrap="square"/>
                    <a:lstStyle/>
                    <a:p>
                      <a:pPr algn="ctr"/>
                      <a:r>
                        <a:rPr sz="1100" b="0" i="0">
                          <a:solidFill>
                            <a:srgbClr val="1C222E"/>
                          </a:solidFill>
                          <a:latin typeface="Arial"/>
                        </a:rPr>
                        <a:t>computation vs proximity split</a:t>
                      </a:r>
                    </a:p>
                  </a:txBody>
                  <a:tcPr marL="76200" marR="76200" marT="25400" marB="25400" anchor="ctr">
                    <a:solidFill>
                      <a:srgbClr val="F3F5F7"/>
                    </a:solidFill>
                  </a:tcPr>
                </a:tc>
              </a:tr>
            </a:tbl>
          </a:graphicData>
        </a:graphic>
      </p:graphicFrame>
      <p:sp>
        <p:nvSpPr>
          <p:cNvPr id="6" name="Rounded Rectangle 5"/>
          <p:cNvSpPr/>
          <p:nvPr/>
        </p:nvSpPr>
        <p:spPr>
          <a:xfrm>
            <a:off x="566928" y="5074920"/>
            <a:ext cx="11057839" cy="96012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Path patching rules out a tidy circuit</a:t>
            </a:r>
          </a:p>
          <a:p>
            <a:pPr>
              <a:spcBef>
                <a:spcPts val="300"/>
              </a:spcBef>
            </a:pPr>
            <a:r>
              <a:rPr sz="1150" b="1" i="0">
                <a:solidFill>
                  <a:srgbClr val="153A5C"/>
                </a:solidFill>
                <a:latin typeface="Arial"/>
              </a:rPr>
              <a:t>Every mid-band head has a large total effect but a direct-to-logits effect near zero (−0.03 to +0.06); </a:t>
            </a:r>
            <a:r>
              <a:rPr sz="1150" b="0" i="0">
                <a:solidFill>
                  <a:srgbClr val="1C222E"/>
                </a:solidFill>
                <a:latin typeface="Arial"/>
              </a:rPr>
              <a:t>head-to-head edges do not reconstruct the total. The effect routes through MLPs and the residual stream, not sender-to-receiver head edges.</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MECHANISM  ·  THE INSTALL</a:t>
            </a:r>
          </a:p>
          <a:p>
            <a:pPr>
              <a:spcBef>
                <a:spcPts val="200"/>
              </a:spcBef>
            </a:pPr>
            <a:r>
              <a:rPr sz="2300" b="1" i="0">
                <a:solidFill>
                  <a:srgbClr val="153A5C"/>
                </a:solidFill>
                <a:latin typeface="Arial"/>
              </a:rPr>
              <a:t>One specific word, learned by four demonstrations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The remapping is codeword-specific. Keep the demonstrations, swap only the query word for a novel benign word, and the reading collapses to near zero.</a:t>
            </a:r>
          </a:p>
          <a:p>
            <a:pPr>
              <a:spcBef>
                <a:spcPts val="0"/>
              </a:spcBef>
              <a:spcAft>
                <a:spcPts val="1300"/>
              </a:spcAft>
            </a:pPr>
            <a:r>
              <a:rPr sz="1650" b="1" i="0">
                <a:solidFill>
                  <a:srgbClr val="153A5C"/>
                </a:solidFill>
                <a:latin typeface="Arial"/>
              </a:rPr>
              <a:t>– </a:t>
            </a:r>
            <a:r>
              <a:rPr sz="1650" b="0" i="0">
                <a:solidFill>
                  <a:srgbClr val="1C222E"/>
                </a:solidFill>
                <a:latin typeface="Arial"/>
              </a:rPr>
              <a:t>That follows from the retrieval mechanism: a novel word has no earlier matching tokens to attend back to, so nothing is retrieved.</a:t>
            </a:r>
          </a:p>
          <a:p>
            <a:pPr>
              <a:spcBef>
                <a:spcPts val="0"/>
              </a:spcBef>
              <a:spcAft>
                <a:spcPts val="1300"/>
              </a:spcAft>
            </a:pPr>
            <a:r>
              <a:rPr sz="1650" b="1" i="0">
                <a:solidFill>
                  <a:srgbClr val="153A5C"/>
                </a:solidFill>
                <a:latin typeface="Arial"/>
              </a:rPr>
              <a:t>– </a:t>
            </a:r>
            <a:r>
              <a:rPr sz="1650" b="0" i="0">
                <a:solidFill>
                  <a:srgbClr val="1C222E"/>
                </a:solidFill>
                <a:latin typeface="Arial"/>
              </a:rPr>
              <a:t>The install also saturates: the reading is flat from four to twelve demonstrations. A few examples fully install the binding; more do not deepen it.</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MECHANISM  ·  THE INSTALL</a:t>
            </a:r>
          </a:p>
          <a:p>
            <a:pPr>
              <a:spcBef>
                <a:spcPts val="200"/>
              </a:spcBef>
            </a:pPr>
            <a:r>
              <a:rPr sz="2300" b="1" i="0">
                <a:solidFill>
                  <a:srgbClr val="153A5C"/>
                </a:solidFill>
                <a:latin typeface="Arial"/>
              </a:rPr>
              <a:t>Codeword-specific and saturating</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74519"/>
          <a:ext cx="5528918" cy="1828800"/>
        </p:xfrm>
        <a:graphic>
          <a:graphicData uri="http://schemas.openxmlformats.org/drawingml/2006/table">
            <a:tbl>
              <a:tblPr>
                <a:tableStyleId>{5C22544A-7EE6-4342-B048-85BDC9FD1C3A}</a:tableStyleId>
              </a:tblPr>
              <a:tblGrid>
                <a:gridCol w="3427929"/>
                <a:gridCol w="2100989"/>
              </a:tblGrid>
              <a:tr h="365760">
                <a:tc>
                  <a:txBody>
                    <a:bodyPr wrap="square"/>
                    <a:lstStyle/>
                    <a:p>
                      <a:pPr algn="l"/>
                      <a:r>
                        <a:rPr sz="1200" b="1" i="0">
                          <a:solidFill>
                            <a:srgbClr val="FFFFFF"/>
                          </a:solidFill>
                          <a:latin typeface="Arial"/>
                        </a:rPr>
                        <a:t>query word (demos fixed)</a:t>
                      </a:r>
                    </a:p>
                  </a:txBody>
                  <a:tcPr marL="76200" marR="76200" marT="25400" marB="25400" anchor="ctr">
                    <a:solidFill>
                      <a:srgbClr val="153A5C"/>
                    </a:solidFill>
                  </a:tcPr>
                </a:tc>
                <a:tc>
                  <a:txBody>
                    <a:bodyPr wrap="square"/>
                    <a:lstStyle/>
                    <a:p>
                      <a:pPr algn="ctr"/>
                      <a:r>
                        <a:rPr sz="1200" b="1" i="0">
                          <a:solidFill>
                            <a:srgbClr val="FFFFFF"/>
                          </a:solidFill>
                          <a:latin typeface="Arial"/>
                        </a:rPr>
                        <a:t>reads as concept</a:t>
                      </a:r>
                    </a:p>
                  </a:txBody>
                  <a:tcPr marL="76200" marR="76200" marT="25400" marB="25400" anchor="ctr">
                    <a:solidFill>
                      <a:srgbClr val="153A5C"/>
                    </a:solidFill>
                  </a:tcPr>
                </a:tc>
              </a:tr>
              <a:tr h="365760">
                <a:tc>
                  <a:txBody>
                    <a:bodyPr wrap="square"/>
                    <a:lstStyle/>
                    <a:p>
                      <a:pPr algn="l"/>
                      <a:r>
                        <a:rPr sz="1200" b="1" i="0">
                          <a:solidFill>
                            <a:srgbClr val="1C222E"/>
                          </a:solidFill>
                          <a:latin typeface="Arial"/>
                        </a:rPr>
                        <a:t>carrot (the bound codeword)</a:t>
                      </a:r>
                    </a:p>
                  </a:txBody>
                  <a:tcPr marL="76200" marR="76200" marT="25400" marB="25400" anchor="ctr">
                    <a:solidFill>
                      <a:srgbClr val="FFFFFF"/>
                    </a:solidFill>
                  </a:tcPr>
                </a:tc>
                <a:tc>
                  <a:txBody>
                    <a:bodyPr wrap="square"/>
                    <a:lstStyle/>
                    <a:p>
                      <a:pPr algn="ctr"/>
                      <a:r>
                        <a:rPr sz="1200" b="0" i="0">
                          <a:solidFill>
                            <a:srgbClr val="1C222E"/>
                          </a:solidFill>
                          <a:latin typeface="Arial"/>
                        </a:rPr>
                        <a:t>0.70</a:t>
                      </a:r>
                    </a:p>
                  </a:txBody>
                  <a:tcPr marL="76200" marR="76200" marT="25400" marB="25400" anchor="ctr">
                    <a:solidFill>
                      <a:srgbClr val="FFFFFF"/>
                    </a:solidFill>
                  </a:tcPr>
                </a:tc>
              </a:tr>
              <a:tr h="365760">
                <a:tc>
                  <a:txBody>
                    <a:bodyPr wrap="square"/>
                    <a:lstStyle/>
                    <a:p>
                      <a:pPr algn="l"/>
                      <a:r>
                        <a:rPr sz="1200" b="1" i="0">
                          <a:solidFill>
                            <a:srgbClr val="1C222E"/>
                          </a:solidFill>
                          <a:latin typeface="Arial"/>
                        </a:rPr>
                        <a:t>banana (novel)</a:t>
                      </a:r>
                    </a:p>
                  </a:txBody>
                  <a:tcPr marL="76200" marR="76200" marT="25400" marB="25400" anchor="ctr">
                    <a:solidFill>
                      <a:srgbClr val="F3F5F7"/>
                    </a:solidFill>
                  </a:tcPr>
                </a:tc>
                <a:tc>
                  <a:txBody>
                    <a:bodyPr wrap="square"/>
                    <a:lstStyle/>
                    <a:p>
                      <a:pPr algn="ctr"/>
                      <a:r>
                        <a:rPr sz="1200" b="0" i="0">
                          <a:solidFill>
                            <a:srgbClr val="1C222E"/>
                          </a:solidFill>
                          <a:latin typeface="Arial"/>
                        </a:rPr>
                        <a:t>0.10</a:t>
                      </a:r>
                    </a:p>
                  </a:txBody>
                  <a:tcPr marL="76200" marR="76200" marT="25400" marB="25400" anchor="ctr">
                    <a:solidFill>
                      <a:srgbClr val="F3F5F7"/>
                    </a:solidFill>
                  </a:tcPr>
                </a:tc>
              </a:tr>
              <a:tr h="365760">
                <a:tc>
                  <a:txBody>
                    <a:bodyPr wrap="square"/>
                    <a:lstStyle/>
                    <a:p>
                      <a:pPr algn="l"/>
                      <a:r>
                        <a:rPr sz="1200" b="1" i="0">
                          <a:solidFill>
                            <a:srgbClr val="1C222E"/>
                          </a:solidFill>
                          <a:latin typeface="Arial"/>
                        </a:rPr>
                        <a:t>table (novel)</a:t>
                      </a:r>
                    </a:p>
                  </a:txBody>
                  <a:tcPr marL="76200" marR="76200" marT="25400" marB="25400" anchor="ctr">
                    <a:solidFill>
                      <a:srgbClr val="FFFFFF"/>
                    </a:solidFill>
                  </a:tcPr>
                </a:tc>
                <a:tc>
                  <a:txBody>
                    <a:bodyPr wrap="square"/>
                    <a:lstStyle/>
                    <a:p>
                      <a:pPr algn="ctr"/>
                      <a:r>
                        <a:rPr sz="1200" b="0" i="0">
                          <a:solidFill>
                            <a:srgbClr val="1C222E"/>
                          </a:solidFill>
                          <a:latin typeface="Arial"/>
                        </a:rPr>
                        <a:t>0.00</a:t>
                      </a:r>
                    </a:p>
                  </a:txBody>
                  <a:tcPr marL="76200" marR="76200" marT="25400" marB="25400" anchor="ctr">
                    <a:solidFill>
                      <a:srgbClr val="FFFFFF"/>
                    </a:solidFill>
                  </a:tcPr>
                </a:tc>
              </a:tr>
              <a:tr h="365760">
                <a:tc>
                  <a:txBody>
                    <a:bodyPr wrap="square"/>
                    <a:lstStyle/>
                    <a:p>
                      <a:pPr algn="l"/>
                      <a:r>
                        <a:rPr sz="1200" b="1" i="0">
                          <a:solidFill>
                            <a:srgbClr val="1C222E"/>
                          </a:solidFill>
                          <a:latin typeface="Arial"/>
                        </a:rPr>
                        <a:t>pencil (novel)</a:t>
                      </a:r>
                    </a:p>
                  </a:txBody>
                  <a:tcPr marL="76200" marR="76200" marT="25400" marB="25400" anchor="ctr">
                    <a:solidFill>
                      <a:srgbClr val="F3F5F7"/>
                    </a:solidFill>
                  </a:tcPr>
                </a:tc>
                <a:tc>
                  <a:txBody>
                    <a:bodyPr wrap="square"/>
                    <a:lstStyle/>
                    <a:p>
                      <a:pPr algn="ctr"/>
                      <a:r>
                        <a:rPr sz="1200" b="0" i="0">
                          <a:solidFill>
                            <a:srgbClr val="1C222E"/>
                          </a:solidFill>
                          <a:latin typeface="Arial"/>
                        </a:rPr>
                        <a:t>0.00</a:t>
                      </a:r>
                    </a:p>
                  </a:txBody>
                  <a:tcPr marL="76200" marR="76200" marT="25400" marB="25400" anchor="ctr">
                    <a:solidFill>
                      <a:srgbClr val="F3F5F7"/>
                    </a:solidFill>
                  </a:tcPr>
                </a:tc>
              </a:tr>
            </a:tbl>
          </a:graphicData>
        </a:graphic>
      </p:graphicFrame>
      <p:graphicFrame>
        <p:nvGraphicFramePr>
          <p:cNvPr id="6" name="Table 5"/>
          <p:cNvGraphicFramePr>
            <a:graphicFrameLocks noGrp="1"/>
          </p:cNvGraphicFramePr>
          <p:nvPr/>
        </p:nvGraphicFramePr>
        <p:xfrm>
          <a:off x="6538161" y="1874519"/>
          <a:ext cx="5086604" cy="1463040"/>
        </p:xfrm>
        <a:graphic>
          <a:graphicData uri="http://schemas.openxmlformats.org/drawingml/2006/table">
            <a:tbl>
              <a:tblPr>
                <a:tableStyleId>{5C22544A-7EE6-4342-B048-85BDC9FD1C3A}</a:tableStyleId>
              </a:tblPr>
              <a:tblGrid>
                <a:gridCol w="2797632"/>
                <a:gridCol w="2288972"/>
              </a:tblGrid>
              <a:tr h="365760">
                <a:tc>
                  <a:txBody>
                    <a:bodyPr wrap="square"/>
                    <a:lstStyle/>
                    <a:p>
                      <a:pPr algn="l"/>
                      <a:r>
                        <a:rPr sz="1200" b="1" i="0">
                          <a:solidFill>
                            <a:srgbClr val="FFFFFF"/>
                          </a:solidFill>
                          <a:latin typeface="Arial"/>
                        </a:rPr>
                        <a:t>demonstrations</a:t>
                      </a:r>
                    </a:p>
                  </a:txBody>
                  <a:tcPr marL="76200" marR="76200" marT="25400" marB="25400" anchor="ctr">
                    <a:solidFill>
                      <a:srgbClr val="153A5C"/>
                    </a:solidFill>
                  </a:tcPr>
                </a:tc>
                <a:tc>
                  <a:txBody>
                    <a:bodyPr wrap="square"/>
                    <a:lstStyle/>
                    <a:p>
                      <a:pPr algn="ctr"/>
                      <a:r>
                        <a:rPr sz="1200" b="1" i="0">
                          <a:solidFill>
                            <a:srgbClr val="FFFFFF"/>
                          </a:solidFill>
                          <a:latin typeface="Arial"/>
                        </a:rPr>
                        <a:t>concept component</a:t>
                      </a:r>
                    </a:p>
                  </a:txBody>
                  <a:tcPr marL="76200" marR="76200" marT="25400" marB="25400" anchor="ctr">
                    <a:solidFill>
                      <a:srgbClr val="153A5C"/>
                    </a:solidFill>
                  </a:tcPr>
                </a:tc>
              </a:tr>
              <a:tr h="365760">
                <a:tc>
                  <a:txBody>
                    <a:bodyPr wrap="square"/>
                    <a:lstStyle/>
                    <a:p>
                      <a:pPr algn="l"/>
                      <a:r>
                        <a:rPr sz="1200" b="1" i="0">
                          <a:solidFill>
                            <a:srgbClr val="1C222E"/>
                          </a:solidFill>
                          <a:latin typeface="Arial"/>
                        </a:rPr>
                        <a:t>4</a:t>
                      </a:r>
                    </a:p>
                  </a:txBody>
                  <a:tcPr marL="76200" marR="76200" marT="25400" marB="25400" anchor="ctr">
                    <a:solidFill>
                      <a:srgbClr val="FFFFFF"/>
                    </a:solidFill>
                  </a:tcPr>
                </a:tc>
                <a:tc>
                  <a:txBody>
                    <a:bodyPr wrap="square"/>
                    <a:lstStyle/>
                    <a:p>
                      <a:pPr algn="ctr"/>
                      <a:r>
                        <a:rPr sz="1200" b="0" i="0">
                          <a:solidFill>
                            <a:srgbClr val="1C222E"/>
                          </a:solidFill>
                          <a:latin typeface="Arial"/>
                        </a:rPr>
                        <a:t>+1.749</a:t>
                      </a:r>
                    </a:p>
                  </a:txBody>
                  <a:tcPr marL="76200" marR="76200" marT="25400" marB="25400" anchor="ctr">
                    <a:solidFill>
                      <a:srgbClr val="FFFFFF"/>
                    </a:solidFill>
                  </a:tcPr>
                </a:tc>
              </a:tr>
              <a:tr h="365760">
                <a:tc>
                  <a:txBody>
                    <a:bodyPr wrap="square"/>
                    <a:lstStyle/>
                    <a:p>
                      <a:pPr algn="l"/>
                      <a:r>
                        <a:rPr sz="1200" b="1" i="0">
                          <a:solidFill>
                            <a:srgbClr val="1C222E"/>
                          </a:solidFill>
                          <a:latin typeface="Arial"/>
                        </a:rPr>
                        <a:t>8</a:t>
                      </a:r>
                    </a:p>
                  </a:txBody>
                  <a:tcPr marL="76200" marR="76200" marT="25400" marB="25400" anchor="ctr">
                    <a:solidFill>
                      <a:srgbClr val="F3F5F7"/>
                    </a:solidFill>
                  </a:tcPr>
                </a:tc>
                <a:tc>
                  <a:txBody>
                    <a:bodyPr wrap="square"/>
                    <a:lstStyle/>
                    <a:p>
                      <a:pPr algn="ctr"/>
                      <a:r>
                        <a:rPr sz="1200" b="0" i="0">
                          <a:solidFill>
                            <a:srgbClr val="1C222E"/>
                          </a:solidFill>
                          <a:latin typeface="Arial"/>
                        </a:rPr>
                        <a:t>+1.712</a:t>
                      </a:r>
                    </a:p>
                  </a:txBody>
                  <a:tcPr marL="76200" marR="76200" marT="25400" marB="25400" anchor="ctr">
                    <a:solidFill>
                      <a:srgbClr val="F3F5F7"/>
                    </a:solidFill>
                  </a:tcPr>
                </a:tc>
              </a:tr>
              <a:tr h="365760">
                <a:tc>
                  <a:txBody>
                    <a:bodyPr wrap="square"/>
                    <a:lstStyle/>
                    <a:p>
                      <a:pPr algn="l"/>
                      <a:r>
                        <a:rPr sz="1200" b="1" i="0">
                          <a:solidFill>
                            <a:srgbClr val="1C222E"/>
                          </a:solidFill>
                          <a:latin typeface="Arial"/>
                        </a:rPr>
                        <a:t>12</a:t>
                      </a:r>
                    </a:p>
                  </a:txBody>
                  <a:tcPr marL="76200" marR="76200" marT="25400" marB="25400" anchor="ctr">
                    <a:solidFill>
                      <a:srgbClr val="FFFFFF"/>
                    </a:solidFill>
                  </a:tcPr>
                </a:tc>
                <a:tc>
                  <a:txBody>
                    <a:bodyPr wrap="square"/>
                    <a:lstStyle/>
                    <a:p>
                      <a:pPr algn="ctr"/>
                      <a:r>
                        <a:rPr sz="1200" b="0" i="0">
                          <a:solidFill>
                            <a:srgbClr val="1C222E"/>
                          </a:solidFill>
                          <a:latin typeface="Arial"/>
                        </a:rPr>
                        <a:t>+1.634</a:t>
                      </a:r>
                    </a:p>
                  </a:txBody>
                  <a:tcPr marL="76200" marR="76200" marT="25400" marB="25400" anchor="ctr">
                    <a:solidFill>
                      <a:srgbClr val="FFFFFF"/>
                    </a:solidFill>
                  </a:tcPr>
                </a:tc>
              </a:tr>
            </a:tbl>
          </a:graphicData>
        </a:graphic>
      </p:graphicFrame>
      <p:sp>
        <p:nvSpPr>
          <p:cNvPr id="7" name="TextBox 6"/>
          <p:cNvSpPr txBox="1"/>
          <p:nvPr/>
        </p:nvSpPr>
        <p:spPr>
          <a:xfrm>
            <a:off x="566928" y="4114800"/>
            <a:ext cx="11057839" cy="1645920"/>
          </a:xfrm>
          <a:prstGeom prst="rect">
            <a:avLst/>
          </a:prstGeom>
          <a:noFill/>
        </p:spPr>
        <p:txBody>
          <a:bodyPr wrap="square" lIns="0" rIns="0" tIns="0" bIns="0">
            <a:spAutoFit/>
          </a:bodyPr>
          <a:lstStyle/>
          <a:p>
            <a:pPr>
              <a:spcBef>
                <a:spcPts val="0"/>
              </a:spcBef>
              <a:spcAft>
                <a:spcPts val="800"/>
              </a:spcAft>
            </a:pPr>
            <a:r>
              <a:rPr sz="1300" b="1" i="0">
                <a:solidFill>
                  <a:srgbClr val="153A5C"/>
                </a:solidFill>
                <a:latin typeface="Arial"/>
              </a:rPr>
              <a:t>– </a:t>
            </a:r>
            <a:r>
              <a:rPr sz="1300" b="0" i="0">
                <a:solidFill>
                  <a:srgbClr val="1C222E"/>
                </a:solidFill>
                <a:latin typeface="Arial"/>
              </a:rPr>
              <a:t>Confirmed across three novel query words. The binding is an in-context lookup entry for one specific word, retrieved by identity, not a general “benign word means harmful concept” rule.</a:t>
            </a:r>
          </a:p>
          <a:p>
            <a:pPr lvl="1">
              <a:spcBef>
                <a:spcPts val="0"/>
              </a:spcBef>
              <a:spcAft>
                <a:spcPts val="800"/>
              </a:spcAft>
            </a:pPr>
            <a:r>
              <a:rPr sz="1300" b="1" i="0">
                <a:solidFill>
                  <a:srgbClr val="395B74"/>
                </a:solidFill>
                <a:latin typeface="Arial"/>
              </a:rPr>
              <a:t>· </a:t>
            </a:r>
            <a:r>
              <a:rPr sz="1300" b="0" i="0">
                <a:solidFill>
                  <a:srgbClr val="1C222E"/>
                </a:solidFill>
                <a:latin typeface="Arial"/>
              </a:rPr>
              <a:t>An all-layer knockout of the retrieval edge was too heavy-handed to interpret (it raises the reading as an artifact); reported as inconclusive, not as necessity.</a:t>
            </a:r>
          </a:p>
        </p:txBody>
      </p:sp>
      <p:sp>
        <p:nvSpPr>
          <p:cNvPr id="8" name="TextBox 7"/>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9" name="TextBox 8"/>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CAPSTONE</a:t>
            </a:r>
          </a:p>
          <a:p>
            <a:pPr>
              <a:spcBef>
                <a:spcPts val="200"/>
              </a:spcBef>
            </a:pPr>
            <a:r>
              <a:rPr sz="2300" b="1" i="0">
                <a:solidFill>
                  <a:srgbClr val="153A5C"/>
                </a:solidFill>
                <a:latin typeface="Arial"/>
              </a:rPr>
              <a:t>The refusal-check depth predicts where the bypass appears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A representational probe finds the refusal check is depth-gated for all five pairs, at a pair-dependent depth: early for bomb and cocaine, mid for grenade, chlorine, pistol.</a:t>
            </a:r>
          </a:p>
          <a:p>
            <a:pPr>
              <a:spcBef>
                <a:spcPts val="0"/>
              </a:spcBef>
              <a:spcAft>
                <a:spcPts val="1300"/>
              </a:spcAft>
            </a:pPr>
            <a:r>
              <a:rPr sz="1650" b="1" i="0">
                <a:solidFill>
                  <a:srgbClr val="153A5C"/>
                </a:solidFill>
                <a:latin typeface="Arial"/>
              </a:rPr>
              <a:t>– </a:t>
            </a:r>
            <a:r>
              <a:rPr sz="1650" b="0" i="0">
                <a:solidFill>
                  <a:srgbClr val="1C222E"/>
                </a:solidFill>
                <a:latin typeface="Arial"/>
              </a:rPr>
              <a:t>Run the behavioural factorial at each pair's own predicted depth and the compliance flip reappears for four of five pairs, all Holm-significant. Only chlorine stays null.</a:t>
            </a:r>
          </a:p>
          <a:p>
            <a:pPr>
              <a:spcBef>
                <a:spcPts val="0"/>
              </a:spcBef>
              <a:spcAft>
                <a:spcPts val="1300"/>
              </a:spcAft>
            </a:pPr>
            <a:r>
              <a:rPr sz="1650" b="1" i="0">
                <a:solidFill>
                  <a:srgbClr val="153A5C"/>
                </a:solidFill>
                <a:latin typeface="Arial"/>
              </a:rPr>
              <a:t>– </a:t>
            </a:r>
            <a:r>
              <a:rPr sz="1650" b="0" i="0">
                <a:solidFill>
                  <a:srgbClr val="1C222E"/>
                </a:solidFill>
                <a:latin typeface="Arial"/>
              </a:rPr>
              <a:t>So an independent representational measurement predicts where the behavioural attack window sits. Representation predicts behaviour.</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CAPSTONE</a:t>
            </a:r>
          </a:p>
          <a:p>
            <a:pPr>
              <a:spcBef>
                <a:spcPts val="200"/>
              </a:spcBef>
            </a:pPr>
            <a:r>
              <a:rPr sz="2300" b="1" i="0">
                <a:solidFill>
                  <a:srgbClr val="153A5C"/>
                </a:solidFill>
                <a:latin typeface="Arial"/>
              </a:rPr>
              <a:t>Representation predicts behaviour (4 of 5 pairs)</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74519"/>
          <a:ext cx="6634701" cy="2194560"/>
        </p:xfrm>
        <a:graphic>
          <a:graphicData uri="http://schemas.openxmlformats.org/drawingml/2006/table">
            <a:tbl>
              <a:tblPr>
                <a:tableStyleId>{5C22544A-7EE6-4342-B048-85BDC9FD1C3A}</a:tableStyleId>
              </a:tblPr>
              <a:tblGrid>
                <a:gridCol w="1592328"/>
                <a:gridCol w="2255799"/>
                <a:gridCol w="1990410"/>
                <a:gridCol w="796164"/>
              </a:tblGrid>
              <a:tr h="365760">
                <a:tc>
                  <a:txBody>
                    <a:bodyPr wrap="square"/>
                    <a:lstStyle/>
                    <a:p>
                      <a:pPr algn="l"/>
                      <a:r>
                        <a:rPr sz="1150" b="1" i="0">
                          <a:solidFill>
                            <a:srgbClr val="FFFFFF"/>
                          </a:solidFill>
                          <a:latin typeface="Arial"/>
                        </a:rPr>
                        <a:t>pair</a:t>
                      </a:r>
                    </a:p>
                  </a:txBody>
                  <a:tcPr marL="76200" marR="76200" marT="25400" marB="25400" anchor="ctr">
                    <a:solidFill>
                      <a:srgbClr val="153A5C"/>
                    </a:solidFill>
                  </a:tcPr>
                </a:tc>
                <a:tc>
                  <a:txBody>
                    <a:bodyPr wrap="square"/>
                    <a:lstStyle/>
                    <a:p>
                      <a:pPr algn="ctr"/>
                      <a:r>
                        <a:rPr sz="1150" b="1" i="0">
                          <a:solidFill>
                            <a:srgbClr val="FFFFFF"/>
                          </a:solidFill>
                          <a:latin typeface="Arial"/>
                        </a:rPr>
                        <a:t>refusal-check depth</a:t>
                      </a:r>
                    </a:p>
                  </a:txBody>
                  <a:tcPr marL="76200" marR="76200" marT="25400" marB="25400" anchor="ctr">
                    <a:solidFill>
                      <a:srgbClr val="153A5C"/>
                    </a:solidFill>
                  </a:tcPr>
                </a:tc>
                <a:tc>
                  <a:txBody>
                    <a:bodyPr wrap="square"/>
                    <a:lstStyle/>
                    <a:p>
                      <a:pPr algn="ctr"/>
                      <a:r>
                        <a:rPr sz="1150" b="1" i="0">
                          <a:solidFill>
                            <a:srgbClr val="FFFFFF"/>
                          </a:solidFill>
                          <a:latin typeface="Arial"/>
                        </a:rPr>
                        <a:t>behavioural flip at own depth</a:t>
                      </a:r>
                    </a:p>
                  </a:txBody>
                  <a:tcPr marL="76200" marR="76200" marT="25400" marB="25400" anchor="ctr">
                    <a:solidFill>
                      <a:srgbClr val="153A5C"/>
                    </a:solidFill>
                  </a:tcPr>
                </a:tc>
                <a:tc>
                  <a:txBody>
                    <a:bodyPr wrap="square"/>
                    <a:lstStyle/>
                    <a:p>
                      <a:pPr algn="ctr"/>
                      <a:r>
                        <a:rPr sz="1150" b="1" i="0">
                          <a:solidFill>
                            <a:srgbClr val="FFFFFF"/>
                          </a:solidFill>
                          <a:latin typeface="Arial"/>
                        </a:rPr>
                        <a:t>sig.</a:t>
                      </a:r>
                    </a:p>
                  </a:txBody>
                  <a:tcPr marL="76200" marR="76200" marT="25400" marB="25400" anchor="ctr">
                    <a:solidFill>
                      <a:srgbClr val="153A5C"/>
                    </a:solidFill>
                  </a:tcPr>
                </a:tc>
              </a:tr>
              <a:tr h="365760">
                <a:tc>
                  <a:txBody>
                    <a:bodyPr wrap="square"/>
                    <a:lstStyle/>
                    <a:p>
                      <a:pPr algn="l"/>
                      <a:r>
                        <a:rPr sz="1150" b="1" i="0">
                          <a:solidFill>
                            <a:srgbClr val="1C222E"/>
                          </a:solidFill>
                          <a:latin typeface="Arial"/>
                        </a:rPr>
                        <a:t>bomb</a:t>
                      </a:r>
                    </a:p>
                  </a:txBody>
                  <a:tcPr marL="76200" marR="76200" marT="25400" marB="25400" anchor="ctr">
                    <a:solidFill>
                      <a:srgbClr val="FFFFFF"/>
                    </a:solidFill>
                  </a:tcPr>
                </a:tc>
                <a:tc>
                  <a:txBody>
                    <a:bodyPr wrap="square"/>
                    <a:lstStyle/>
                    <a:p>
                      <a:pPr algn="ctr"/>
                      <a:r>
                        <a:rPr sz="1150" b="0" i="0">
                          <a:solidFill>
                            <a:srgbClr val="1C222E"/>
                          </a:solidFill>
                          <a:latin typeface="Arial"/>
                        </a:rPr>
                        <a:t>early</a:t>
                      </a:r>
                    </a:p>
                  </a:txBody>
                  <a:tcPr marL="76200" marR="76200" marT="25400" marB="25400" anchor="ctr">
                    <a:solidFill>
                      <a:srgbClr val="FFFFFF"/>
                    </a:solidFill>
                  </a:tcPr>
                </a:tc>
                <a:tc>
                  <a:txBody>
                    <a:bodyPr wrap="square"/>
                    <a:lstStyle/>
                    <a:p>
                      <a:pPr algn="ctr"/>
                      <a:r>
                        <a:rPr sz="1150" b="0" i="0">
                          <a:solidFill>
                            <a:srgbClr val="1C222E"/>
                          </a:solidFill>
                          <a:latin typeface="Arial"/>
                        </a:rPr>
                        <a:t>+0.425</a:t>
                      </a:r>
                    </a:p>
                  </a:txBody>
                  <a:tcPr marL="76200" marR="76200" marT="25400" marB="25400" anchor="ctr">
                    <a:solidFill>
                      <a:srgbClr val="FFFFFF"/>
                    </a:solidFill>
                  </a:tcPr>
                </a:tc>
                <a:tc>
                  <a:txBody>
                    <a:bodyPr wrap="square"/>
                    <a:lstStyle/>
                    <a:p>
                      <a:pPr algn="ctr"/>
                      <a:r>
                        <a:rPr sz="1150" b="0" i="0">
                          <a:solidFill>
                            <a:srgbClr val="1C222E"/>
                          </a:solidFill>
                          <a:latin typeface="Arial"/>
                        </a:rPr>
                        <a:t>yes</a:t>
                      </a:r>
                    </a:p>
                  </a:txBody>
                  <a:tcPr marL="76200" marR="76200" marT="25400" marB="25400" anchor="ctr">
                    <a:solidFill>
                      <a:srgbClr val="FFFFFF"/>
                    </a:solidFill>
                  </a:tcPr>
                </a:tc>
              </a:tr>
              <a:tr h="365760">
                <a:tc>
                  <a:txBody>
                    <a:bodyPr wrap="square"/>
                    <a:lstStyle/>
                    <a:p>
                      <a:pPr algn="l"/>
                      <a:r>
                        <a:rPr sz="1150" b="1" i="0">
                          <a:solidFill>
                            <a:srgbClr val="1C222E"/>
                          </a:solidFill>
                          <a:latin typeface="Arial"/>
                        </a:rPr>
                        <a:t>cocaine</a:t>
                      </a:r>
                    </a:p>
                  </a:txBody>
                  <a:tcPr marL="76200" marR="76200" marT="25400" marB="25400" anchor="ctr">
                    <a:solidFill>
                      <a:srgbClr val="F3F5F7"/>
                    </a:solidFill>
                  </a:tcPr>
                </a:tc>
                <a:tc>
                  <a:txBody>
                    <a:bodyPr wrap="square"/>
                    <a:lstStyle/>
                    <a:p>
                      <a:pPr algn="ctr"/>
                      <a:r>
                        <a:rPr sz="1150" b="0" i="0">
                          <a:solidFill>
                            <a:srgbClr val="1C222E"/>
                          </a:solidFill>
                          <a:latin typeface="Arial"/>
                        </a:rPr>
                        <a:t>early</a:t>
                      </a:r>
                    </a:p>
                  </a:txBody>
                  <a:tcPr marL="76200" marR="76200" marT="25400" marB="25400" anchor="ctr">
                    <a:solidFill>
                      <a:srgbClr val="F3F5F7"/>
                    </a:solidFill>
                  </a:tcPr>
                </a:tc>
                <a:tc>
                  <a:txBody>
                    <a:bodyPr wrap="square"/>
                    <a:lstStyle/>
                    <a:p>
                      <a:pPr algn="ctr"/>
                      <a:r>
                        <a:rPr sz="1150" b="0" i="0">
                          <a:solidFill>
                            <a:srgbClr val="1C222E"/>
                          </a:solidFill>
                          <a:latin typeface="Arial"/>
                        </a:rPr>
                        <a:t>+0.333</a:t>
                      </a:r>
                    </a:p>
                  </a:txBody>
                  <a:tcPr marL="76200" marR="76200" marT="25400" marB="25400" anchor="ctr">
                    <a:solidFill>
                      <a:srgbClr val="F3F5F7"/>
                    </a:solidFill>
                  </a:tcPr>
                </a:tc>
                <a:tc>
                  <a:txBody>
                    <a:bodyPr wrap="square"/>
                    <a:lstStyle/>
                    <a:p>
                      <a:pPr algn="ctr"/>
                      <a:r>
                        <a:rPr sz="1150" b="0" i="0">
                          <a:solidFill>
                            <a:srgbClr val="1C222E"/>
                          </a:solidFill>
                          <a:latin typeface="Arial"/>
                        </a:rPr>
                        <a:t>yes</a:t>
                      </a:r>
                    </a:p>
                  </a:txBody>
                  <a:tcPr marL="76200" marR="76200" marT="25400" marB="25400" anchor="ctr">
                    <a:solidFill>
                      <a:srgbClr val="F3F5F7"/>
                    </a:solidFill>
                  </a:tcPr>
                </a:tc>
              </a:tr>
              <a:tr h="365760">
                <a:tc>
                  <a:txBody>
                    <a:bodyPr wrap="square"/>
                    <a:lstStyle/>
                    <a:p>
                      <a:pPr algn="l"/>
                      <a:r>
                        <a:rPr sz="1150" b="1" i="0">
                          <a:solidFill>
                            <a:srgbClr val="1C222E"/>
                          </a:solidFill>
                          <a:latin typeface="Arial"/>
                        </a:rPr>
                        <a:t>grenade</a:t>
                      </a:r>
                    </a:p>
                  </a:txBody>
                  <a:tcPr marL="76200" marR="76200" marT="25400" marB="25400" anchor="ctr">
                    <a:solidFill>
                      <a:srgbClr val="FFFFFF"/>
                    </a:solidFill>
                  </a:tcPr>
                </a:tc>
                <a:tc>
                  <a:txBody>
                    <a:bodyPr wrap="square"/>
                    <a:lstStyle/>
                    <a:p>
                      <a:pPr algn="ctr"/>
                      <a:r>
                        <a:rPr sz="1150" b="0" i="0">
                          <a:solidFill>
                            <a:srgbClr val="1C222E"/>
                          </a:solidFill>
                          <a:latin typeface="Arial"/>
                        </a:rPr>
                        <a:t>mid</a:t>
                      </a:r>
                    </a:p>
                  </a:txBody>
                  <a:tcPr marL="76200" marR="76200" marT="25400" marB="25400" anchor="ctr">
                    <a:solidFill>
                      <a:srgbClr val="FFFFFF"/>
                    </a:solidFill>
                  </a:tcPr>
                </a:tc>
                <a:tc>
                  <a:txBody>
                    <a:bodyPr wrap="square"/>
                    <a:lstStyle/>
                    <a:p>
                      <a:pPr algn="ctr"/>
                      <a:r>
                        <a:rPr sz="1150" b="0" i="0">
                          <a:solidFill>
                            <a:srgbClr val="1C222E"/>
                          </a:solidFill>
                          <a:latin typeface="Arial"/>
                        </a:rPr>
                        <a:t>+0.183</a:t>
                      </a:r>
                    </a:p>
                  </a:txBody>
                  <a:tcPr marL="76200" marR="76200" marT="25400" marB="25400" anchor="ctr">
                    <a:solidFill>
                      <a:srgbClr val="FFFFFF"/>
                    </a:solidFill>
                  </a:tcPr>
                </a:tc>
                <a:tc>
                  <a:txBody>
                    <a:bodyPr wrap="square"/>
                    <a:lstStyle/>
                    <a:p>
                      <a:pPr algn="ctr"/>
                      <a:r>
                        <a:rPr sz="1150" b="0" i="0">
                          <a:solidFill>
                            <a:srgbClr val="1C222E"/>
                          </a:solidFill>
                          <a:latin typeface="Arial"/>
                        </a:rPr>
                        <a:t>yes</a:t>
                      </a:r>
                    </a:p>
                  </a:txBody>
                  <a:tcPr marL="76200" marR="76200" marT="25400" marB="25400" anchor="ctr">
                    <a:solidFill>
                      <a:srgbClr val="FFFFFF"/>
                    </a:solidFill>
                  </a:tcPr>
                </a:tc>
              </a:tr>
              <a:tr h="365760">
                <a:tc>
                  <a:txBody>
                    <a:bodyPr wrap="square"/>
                    <a:lstStyle/>
                    <a:p>
                      <a:pPr algn="l"/>
                      <a:r>
                        <a:rPr sz="1150" b="1" i="0">
                          <a:solidFill>
                            <a:srgbClr val="1C222E"/>
                          </a:solidFill>
                          <a:latin typeface="Arial"/>
                        </a:rPr>
                        <a:t>pistol</a:t>
                      </a:r>
                    </a:p>
                  </a:txBody>
                  <a:tcPr marL="76200" marR="76200" marT="25400" marB="25400" anchor="ctr">
                    <a:solidFill>
                      <a:srgbClr val="F3F5F7"/>
                    </a:solidFill>
                  </a:tcPr>
                </a:tc>
                <a:tc>
                  <a:txBody>
                    <a:bodyPr wrap="square"/>
                    <a:lstStyle/>
                    <a:p>
                      <a:pPr algn="ctr"/>
                      <a:r>
                        <a:rPr sz="1150" b="0" i="0">
                          <a:solidFill>
                            <a:srgbClr val="1C222E"/>
                          </a:solidFill>
                          <a:latin typeface="Arial"/>
                        </a:rPr>
                        <a:t>mid</a:t>
                      </a:r>
                    </a:p>
                  </a:txBody>
                  <a:tcPr marL="76200" marR="76200" marT="25400" marB="25400" anchor="ctr">
                    <a:solidFill>
                      <a:srgbClr val="F3F5F7"/>
                    </a:solidFill>
                  </a:tcPr>
                </a:tc>
                <a:tc>
                  <a:txBody>
                    <a:bodyPr wrap="square"/>
                    <a:lstStyle/>
                    <a:p>
                      <a:pPr algn="ctr"/>
                      <a:r>
                        <a:rPr sz="1150" b="0" i="0">
                          <a:solidFill>
                            <a:srgbClr val="1C222E"/>
                          </a:solidFill>
                          <a:latin typeface="Arial"/>
                        </a:rPr>
                        <a:t>+0.467</a:t>
                      </a:r>
                    </a:p>
                  </a:txBody>
                  <a:tcPr marL="76200" marR="76200" marT="25400" marB="25400" anchor="ctr">
                    <a:solidFill>
                      <a:srgbClr val="F3F5F7"/>
                    </a:solidFill>
                  </a:tcPr>
                </a:tc>
                <a:tc>
                  <a:txBody>
                    <a:bodyPr wrap="square"/>
                    <a:lstStyle/>
                    <a:p>
                      <a:pPr algn="ctr"/>
                      <a:r>
                        <a:rPr sz="1150" b="0" i="0">
                          <a:solidFill>
                            <a:srgbClr val="1C222E"/>
                          </a:solidFill>
                          <a:latin typeface="Arial"/>
                        </a:rPr>
                        <a:t>yes</a:t>
                      </a:r>
                    </a:p>
                  </a:txBody>
                  <a:tcPr marL="76200" marR="76200" marT="25400" marB="25400" anchor="ctr">
                    <a:solidFill>
                      <a:srgbClr val="F3F5F7"/>
                    </a:solidFill>
                  </a:tcPr>
                </a:tc>
              </a:tr>
              <a:tr h="365760">
                <a:tc>
                  <a:txBody>
                    <a:bodyPr wrap="square"/>
                    <a:lstStyle/>
                    <a:p>
                      <a:pPr algn="l"/>
                      <a:r>
                        <a:rPr sz="1150" b="1" i="0">
                          <a:solidFill>
                            <a:srgbClr val="1C222E"/>
                          </a:solidFill>
                          <a:latin typeface="Arial"/>
                        </a:rPr>
                        <a:t>chlorine</a:t>
                      </a:r>
                    </a:p>
                  </a:txBody>
                  <a:tcPr marL="76200" marR="76200" marT="25400" marB="25400" anchor="ctr">
                    <a:solidFill>
                      <a:srgbClr val="FFFFFF"/>
                    </a:solidFill>
                  </a:tcPr>
                </a:tc>
                <a:tc>
                  <a:txBody>
                    <a:bodyPr wrap="square"/>
                    <a:lstStyle/>
                    <a:p>
                      <a:pPr algn="ctr"/>
                      <a:r>
                        <a:rPr sz="1150" b="0" i="0">
                          <a:solidFill>
                            <a:srgbClr val="1C222E"/>
                          </a:solidFill>
                          <a:latin typeface="Arial"/>
                        </a:rPr>
                        <a:t>mid</a:t>
                      </a:r>
                    </a:p>
                  </a:txBody>
                  <a:tcPr marL="76200" marR="76200" marT="25400" marB="25400" anchor="ctr">
                    <a:solidFill>
                      <a:srgbClr val="FFFFFF"/>
                    </a:solidFill>
                  </a:tcPr>
                </a:tc>
                <a:tc>
                  <a:txBody>
                    <a:bodyPr wrap="square"/>
                    <a:lstStyle/>
                    <a:p>
                      <a:pPr algn="ctr"/>
                      <a:r>
                        <a:rPr sz="1150" b="1" i="0">
                          <a:solidFill>
                            <a:srgbClr val="A84B1E"/>
                          </a:solidFill>
                          <a:latin typeface="Arial"/>
                        </a:rPr>
                        <a:t>+0.033</a:t>
                      </a:r>
                    </a:p>
                  </a:txBody>
                  <a:tcPr marL="76200" marR="76200" marT="25400" marB="25400" anchor="ctr">
                    <a:solidFill>
                      <a:srgbClr val="FFFFFF"/>
                    </a:solidFill>
                  </a:tcPr>
                </a:tc>
                <a:tc>
                  <a:txBody>
                    <a:bodyPr wrap="square"/>
                    <a:lstStyle/>
                    <a:p>
                      <a:pPr algn="ctr"/>
                      <a:r>
                        <a:rPr sz="1150" b="1" i="0">
                          <a:solidFill>
                            <a:srgbClr val="A84B1E"/>
                          </a:solidFill>
                          <a:latin typeface="Arial"/>
                        </a:rPr>
                        <a:t>null</a:t>
                      </a:r>
                    </a:p>
                  </a:txBody>
                  <a:tcPr marL="76200" marR="76200" marT="25400" marB="25400" anchor="ctr">
                    <a:solidFill>
                      <a:srgbClr val="FFFFFF"/>
                    </a:solidFill>
                  </a:tcPr>
                </a:tc>
              </a:tr>
            </a:tbl>
          </a:graphicData>
        </a:graphic>
      </p:graphicFrame>
      <p:sp>
        <p:nvSpPr>
          <p:cNvPr id="6" name="Rounded Rectangle 5"/>
          <p:cNvSpPr/>
          <p:nvPr/>
        </p:nvSpPr>
        <p:spPr>
          <a:xfrm>
            <a:off x="7643944" y="1874519"/>
            <a:ext cx="3980822" cy="105156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01600" tIns="76200" bIns="50800"/>
          <a:lstStyle/>
          <a:p>
            <a:pPr algn="ctr"/>
            <a:r>
              <a:rPr sz="2600" b="1" i="0">
                <a:solidFill>
                  <a:srgbClr val="A84B1E"/>
                </a:solidFill>
                <a:latin typeface="Arial"/>
              </a:rPr>
              <a:t>22.5×</a:t>
            </a:r>
          </a:p>
          <a:p>
            <a:pPr algn="ctr">
              <a:spcBef>
                <a:spcPts val="100"/>
              </a:spcBef>
            </a:pPr>
            <a:r>
              <a:rPr sz="1050" b="0" i="0">
                <a:solidFill>
                  <a:srgbClr val="395B74"/>
                </a:solidFill>
                <a:latin typeface="Arial"/>
              </a:rPr>
              <a:t>concept at the early check (0.18)
vs at late use (4.1)</a:t>
            </a:r>
          </a:p>
        </p:txBody>
      </p:sp>
      <p:sp>
        <p:nvSpPr>
          <p:cNvPr id="7" name="Rounded Rectangle 6"/>
          <p:cNvSpPr/>
          <p:nvPr/>
        </p:nvSpPr>
        <p:spPr>
          <a:xfrm>
            <a:off x="7643944" y="3200400"/>
            <a:ext cx="3980822" cy="146304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Honest revision</a:t>
            </a:r>
          </a:p>
          <a:p>
            <a:pPr>
              <a:spcBef>
                <a:spcPts val="300"/>
              </a:spcBef>
            </a:pPr>
            <a:r>
              <a:rPr sz="1150" b="1" i="0">
                <a:solidFill>
                  <a:srgbClr val="A84B1E"/>
                </a:solidFill>
                <a:latin typeface="Arial"/>
              </a:rPr>
              <a:t>At n=60 with verified directions, </a:t>
            </a:r>
            <a:r>
              <a:rPr sz="1150" b="0" i="0">
                <a:solidFill>
                  <a:srgbClr val="1C222E"/>
                </a:solidFill>
                <a:latin typeface="Arial"/>
              </a:rPr>
              <a:t>chlorine is null and the pooled generalisation is grenade-driven. Robust for grenade and bomb, not chlorine.</a:t>
            </a:r>
          </a:p>
        </p:txBody>
      </p:sp>
      <p:sp>
        <p:nvSpPr>
          <p:cNvPr id="8" name="TextBox 7"/>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9" name="TextBox 8"/>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GENERALITY</a:t>
            </a:r>
          </a:p>
          <a:p>
            <a:pPr>
              <a:spcBef>
                <a:spcPts val="200"/>
              </a:spcBef>
            </a:pPr>
            <a:r>
              <a:rPr sz="2300" b="1" i="0">
                <a:solidFill>
                  <a:srgbClr val="153A5C"/>
                </a:solidFill>
                <a:latin typeface="Arial"/>
              </a:rPr>
              <a:t>The core dissociation holds on a second architecture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The transplant dissociation, the demonstration-K/V result, and the superposition signature all replicate on Qwen3-14B.</a:t>
            </a:r>
          </a:p>
          <a:p>
            <a:pPr>
              <a:spcBef>
                <a:spcPts val="0"/>
              </a:spcBef>
              <a:spcAft>
                <a:spcPts val="1300"/>
              </a:spcAft>
            </a:pPr>
            <a:r>
              <a:rPr sz="1650" b="1" i="0">
                <a:solidFill>
                  <a:srgbClr val="153A5C"/>
                </a:solidFill>
                <a:latin typeface="Arial"/>
              </a:rPr>
              <a:t>– </a:t>
            </a:r>
            <a:r>
              <a:rPr sz="1650" b="0" i="0">
                <a:solidFill>
                  <a:srgbClr val="1C222E"/>
                </a:solidFill>
                <a:latin typeface="Arial"/>
              </a:rPr>
              <a:t>Two reasoning models, DeepSeek and Phi-4, do not carry the hijack to their post-reasoning answer. But an anchored probe shows Qwen3-thinking names the concept throughout its chain of thought, so reasoning does not resolve the codeword away, it just does not verbalise it.</a:t>
            </a:r>
          </a:p>
          <a:p>
            <a:pPr>
              <a:spcBef>
                <a:spcPts val="0"/>
              </a:spcBef>
              <a:spcAft>
                <a:spcPts val="1300"/>
              </a:spcAft>
            </a:pPr>
            <a:r>
              <a:rPr sz="1650" b="1" i="0">
                <a:solidFill>
                  <a:srgbClr val="153A5C"/>
                </a:solidFill>
                <a:latin typeface="Arial"/>
              </a:rPr>
              <a:t>– </a:t>
            </a:r>
            <a:r>
              <a:rPr sz="1650" b="0" i="0">
                <a:solidFill>
                  <a:srgbClr val="1C222E"/>
                </a:solidFill>
                <a:latin typeface="Arial"/>
              </a:rPr>
              <a:t>The fine-grained circuit is Llama-only: the attribution metric reverses on Qwen3 (the one thinking model it was run on), an honest limitation.</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GENERALITY</a:t>
            </a:r>
          </a:p>
          <a:p>
            <a:pPr>
              <a:spcBef>
                <a:spcPts val="200"/>
              </a:spcBef>
            </a:pPr>
            <a:r>
              <a:rPr sz="2300" b="1" i="0">
                <a:solidFill>
                  <a:srgbClr val="153A5C"/>
                </a:solidFill>
                <a:latin typeface="Arial"/>
              </a:rPr>
              <a:t>What replicates where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28800"/>
          <a:ext cx="11057837" cy="2414016"/>
        </p:xfrm>
        <a:graphic>
          <a:graphicData uri="http://schemas.openxmlformats.org/drawingml/2006/table">
            <a:tbl>
              <a:tblPr>
                <a:tableStyleId>{5C22544A-7EE6-4342-B048-85BDC9FD1C3A}</a:tableStyleId>
              </a:tblPr>
              <a:tblGrid>
                <a:gridCol w="3096194"/>
                <a:gridCol w="2100989"/>
                <a:gridCol w="1990411"/>
                <a:gridCol w="2100989"/>
                <a:gridCol w="1769254"/>
              </a:tblGrid>
              <a:tr h="402336">
                <a:tc>
                  <a:txBody>
                    <a:bodyPr wrap="square"/>
                    <a:lstStyle/>
                    <a:p>
                      <a:pPr algn="l"/>
                      <a:r>
                        <a:rPr sz="1050" b="1" i="0">
                          <a:solidFill>
                            <a:srgbClr val="FFFFFF"/>
                          </a:solidFill>
                          <a:latin typeface="Arial"/>
                        </a:rPr>
                        <a:t>evidence</a:t>
                      </a:r>
                    </a:p>
                  </a:txBody>
                  <a:tcPr marL="76200" marR="76200" marT="25400" marB="25400" anchor="ctr">
                    <a:solidFill>
                      <a:srgbClr val="153A5C"/>
                    </a:solidFill>
                  </a:tcPr>
                </a:tc>
                <a:tc>
                  <a:txBody>
                    <a:bodyPr wrap="square"/>
                    <a:lstStyle/>
                    <a:p>
                      <a:pPr algn="ctr"/>
                      <a:r>
                        <a:rPr sz="1050" b="1" i="0">
                          <a:solidFill>
                            <a:srgbClr val="FFFFFF"/>
                          </a:solidFill>
                          <a:latin typeface="Arial"/>
                        </a:rPr>
                        <a:t>Llama-3.1-8B</a:t>
                      </a:r>
                    </a:p>
                  </a:txBody>
                  <a:tcPr marL="76200" marR="76200" marT="25400" marB="25400" anchor="ctr">
                    <a:solidFill>
                      <a:srgbClr val="153A5C"/>
                    </a:solidFill>
                  </a:tcPr>
                </a:tc>
                <a:tc>
                  <a:txBody>
                    <a:bodyPr wrap="square"/>
                    <a:lstStyle/>
                    <a:p>
                      <a:pPr algn="ctr"/>
                      <a:r>
                        <a:rPr sz="1050" b="1" i="0">
                          <a:solidFill>
                            <a:srgbClr val="FFFFFF"/>
                          </a:solidFill>
                          <a:latin typeface="Arial"/>
                        </a:rPr>
                        <a:t>Qwen3-14B</a:t>
                      </a:r>
                    </a:p>
                  </a:txBody>
                  <a:tcPr marL="76200" marR="76200" marT="25400" marB="25400" anchor="ctr">
                    <a:solidFill>
                      <a:srgbClr val="153A5C"/>
                    </a:solidFill>
                  </a:tcPr>
                </a:tc>
                <a:tc>
                  <a:txBody>
                    <a:bodyPr wrap="square"/>
                    <a:lstStyle/>
                    <a:p>
                      <a:pPr algn="ctr"/>
                      <a:r>
                        <a:rPr sz="1050" b="1" i="0">
                          <a:solidFill>
                            <a:srgbClr val="FFFFFF"/>
                          </a:solidFill>
                          <a:latin typeface="Arial"/>
                        </a:rPr>
                        <a:t>DeepSeek-R1</a:t>
                      </a:r>
                    </a:p>
                  </a:txBody>
                  <a:tcPr marL="76200" marR="76200" marT="25400" marB="25400" anchor="ctr">
                    <a:solidFill>
                      <a:srgbClr val="153A5C"/>
                    </a:solidFill>
                  </a:tcPr>
                </a:tc>
                <a:tc>
                  <a:txBody>
                    <a:bodyPr wrap="square"/>
                    <a:lstStyle/>
                    <a:p>
                      <a:pPr algn="ctr"/>
                      <a:r>
                        <a:rPr sz="1050" b="1" i="0">
                          <a:solidFill>
                            <a:srgbClr val="FFFFFF"/>
                          </a:solidFill>
                          <a:latin typeface="Arial"/>
                        </a:rPr>
                        <a:t>Phi-4-mini</a:t>
                      </a:r>
                    </a:p>
                  </a:txBody>
                  <a:tcPr marL="76200" marR="76200" marT="25400" marB="25400" anchor="ctr">
                    <a:solidFill>
                      <a:srgbClr val="153A5C"/>
                    </a:solidFill>
                  </a:tcPr>
                </a:tc>
              </a:tr>
              <a:tr h="402336">
                <a:tc>
                  <a:txBody>
                    <a:bodyPr wrap="square"/>
                    <a:lstStyle/>
                    <a:p>
                      <a:pPr algn="l"/>
                      <a:r>
                        <a:rPr sz="1050" b="1" i="0">
                          <a:solidFill>
                            <a:srgbClr val="1C222E"/>
                          </a:solidFill>
                          <a:latin typeface="Arial"/>
                        </a:rPr>
                        <a:t>semantic hijack reading</a:t>
                      </a:r>
                    </a:p>
                  </a:txBody>
                  <a:tcPr marL="76200" marR="76200" marT="25400" marB="25400" anchor="ctr">
                    <a:solidFill>
                      <a:srgbClr val="FFFFFF"/>
                    </a:solidFill>
                  </a:tcPr>
                </a:tc>
                <a:tc>
                  <a:txBody>
                    <a:bodyPr wrap="square"/>
                    <a:lstStyle/>
                    <a:p>
                      <a:pPr algn="ctr"/>
                      <a:r>
                        <a:rPr sz="1050" b="0" i="0">
                          <a:solidFill>
                            <a:srgbClr val="1C222E"/>
                          </a:solidFill>
                          <a:latin typeface="Arial"/>
                        </a:rPr>
                        <a:t>+0.50</a:t>
                      </a:r>
                    </a:p>
                  </a:txBody>
                  <a:tcPr marL="76200" marR="76200" marT="25400" marB="25400" anchor="ctr">
                    <a:solidFill>
                      <a:srgbClr val="FFFFFF"/>
                    </a:solidFill>
                  </a:tcPr>
                </a:tc>
                <a:tc>
                  <a:txBody>
                    <a:bodyPr wrap="square"/>
                    <a:lstStyle/>
                    <a:p>
                      <a:pPr algn="ctr"/>
                      <a:r>
                        <a:rPr sz="1050" b="0" i="0">
                          <a:solidFill>
                            <a:srgbClr val="1C222E"/>
                          </a:solidFill>
                          <a:latin typeface="Arial"/>
                        </a:rPr>
                        <a:t>+0.69</a:t>
                      </a:r>
                    </a:p>
                  </a:txBody>
                  <a:tcPr marL="76200" marR="76200" marT="25400" marB="25400" anchor="ctr">
                    <a:solidFill>
                      <a:srgbClr val="FFFFFF"/>
                    </a:solidFill>
                  </a:tcPr>
                </a:tc>
                <a:tc>
                  <a:txBody>
                    <a:bodyPr wrap="square"/>
                    <a:lstStyle/>
                    <a:p>
                      <a:pPr algn="ctr"/>
                      <a:r>
                        <a:rPr sz="1050" b="0" i="0">
                          <a:solidFill>
                            <a:srgbClr val="1C222E"/>
                          </a:solidFill>
                          <a:latin typeface="Arial"/>
                        </a:rPr>
                        <a:t>weak (+0.33, NS)</a:t>
                      </a:r>
                    </a:p>
                  </a:txBody>
                  <a:tcPr marL="76200" marR="76200" marT="25400" marB="25400" anchor="ctr">
                    <a:solidFill>
                      <a:srgbClr val="FFFFFF"/>
                    </a:solidFill>
                  </a:tcPr>
                </a:tc>
                <a:tc>
                  <a:txBody>
                    <a:bodyPr wrap="square"/>
                    <a:lstStyle/>
                    <a:p>
                      <a:pPr algn="ctr"/>
                      <a:r>
                        <a:rPr sz="1050" b="0" i="0">
                          <a:solidFill>
                            <a:srgbClr val="1C222E"/>
                          </a:solidFill>
                          <a:latin typeface="Arial"/>
                        </a:rPr>
                        <a:t>absent (+0.00)</a:t>
                      </a:r>
                    </a:p>
                  </a:txBody>
                  <a:tcPr marL="76200" marR="76200" marT="25400" marB="25400" anchor="ctr">
                    <a:solidFill>
                      <a:srgbClr val="FFFFFF"/>
                    </a:solidFill>
                  </a:tcPr>
                </a:tc>
              </a:tr>
              <a:tr h="402336">
                <a:tc>
                  <a:txBody>
                    <a:bodyPr wrap="square"/>
                    <a:lstStyle/>
                    <a:p>
                      <a:pPr algn="l"/>
                      <a:r>
                        <a:rPr sz="1050" b="1" i="0">
                          <a:solidFill>
                            <a:srgbClr val="1C222E"/>
                          </a:solidFill>
                          <a:latin typeface="Arial"/>
                        </a:rPr>
                        <a:t>S2 transplant dissociation</a:t>
                      </a:r>
                    </a:p>
                  </a:txBody>
                  <a:tcPr marL="76200" marR="76200" marT="25400" marB="25400" anchor="ctr">
                    <a:solidFill>
                      <a:srgbClr val="F3F5F7"/>
                    </a:solidFill>
                  </a:tcPr>
                </a:tc>
                <a:tc>
                  <a:txBody>
                    <a:bodyPr wrap="square"/>
                    <a:lstStyle/>
                    <a:p>
                      <a:pPr algn="ctr"/>
                      <a:r>
                        <a:rPr sz="1050" b="1" i="0">
                          <a:solidFill>
                            <a:srgbClr val="2B6B45"/>
                          </a:solidFill>
                          <a:latin typeface="Arial"/>
                        </a:rPr>
                        <a:t>yes (DE 99%)</a:t>
                      </a:r>
                    </a:p>
                  </a:txBody>
                  <a:tcPr marL="76200" marR="76200" marT="25400" marB="25400" anchor="ctr">
                    <a:solidFill>
                      <a:srgbClr val="F3F5F7"/>
                    </a:solidFill>
                  </a:tcPr>
                </a:tc>
                <a:tc>
                  <a:txBody>
                    <a:bodyPr wrap="square"/>
                    <a:lstStyle/>
                    <a:p>
                      <a:pPr algn="ctr"/>
                      <a:r>
                        <a:rPr sz="1050" b="1" i="0">
                          <a:solidFill>
                            <a:srgbClr val="2B6B45"/>
                          </a:solidFill>
                          <a:latin typeface="Arial"/>
                        </a:rPr>
                        <a:t>yes (DE 92%)</a:t>
                      </a:r>
                    </a:p>
                  </a:txBody>
                  <a:tcPr marL="76200" marR="76200" marT="25400" marB="25400" anchor="ctr">
                    <a:solidFill>
                      <a:srgbClr val="F3F5F7"/>
                    </a:solidFill>
                  </a:tcPr>
                </a:tc>
                <a:tc>
                  <a:txBody>
                    <a:bodyPr wrap="square"/>
                    <a:lstStyle/>
                    <a:p>
                      <a:pPr algn="ctr"/>
                      <a:r>
                        <a:rPr sz="1050" b="0" i="0">
                          <a:solidFill>
                            <a:srgbClr val="1C222E"/>
                          </a:solidFill>
                          <a:latin typeface="Arial"/>
                        </a:rPr>
                        <a:t>not run (readout weak)</a:t>
                      </a:r>
                    </a:p>
                  </a:txBody>
                  <a:tcPr marL="76200" marR="76200" marT="25400" marB="25400" anchor="ctr">
                    <a:solidFill>
                      <a:srgbClr val="F3F5F7"/>
                    </a:solidFill>
                  </a:tcPr>
                </a:tc>
                <a:tc>
                  <a:txBody>
                    <a:bodyPr wrap="square"/>
                    <a:lstStyle/>
                    <a:p>
                      <a:pPr algn="ctr"/>
                      <a:r>
                        <a:rPr sz="1050" b="0" i="0">
                          <a:solidFill>
                            <a:srgbClr val="1C222E"/>
                          </a:solidFill>
                          <a:latin typeface="Arial"/>
                        </a:rPr>
                        <a:t>not run</a:t>
                      </a:r>
                    </a:p>
                  </a:txBody>
                  <a:tcPr marL="76200" marR="76200" marT="25400" marB="25400" anchor="ctr">
                    <a:solidFill>
                      <a:srgbClr val="F3F5F7"/>
                    </a:solidFill>
                  </a:tcPr>
                </a:tc>
              </a:tr>
              <a:tr h="402336">
                <a:tc>
                  <a:txBody>
                    <a:bodyPr wrap="square"/>
                    <a:lstStyle/>
                    <a:p>
                      <a:pPr algn="l"/>
                      <a:r>
                        <a:rPr sz="1050" b="1" i="0">
                          <a:solidFill>
                            <a:srgbClr val="1C222E"/>
                          </a:solidFill>
                          <a:latin typeface="Arial"/>
                        </a:rPr>
                        <a:t>S3 K/V mediation</a:t>
                      </a:r>
                    </a:p>
                  </a:txBody>
                  <a:tcPr marL="76200" marR="76200" marT="25400" marB="25400" anchor="ctr">
                    <a:solidFill>
                      <a:srgbClr val="FFFFFF"/>
                    </a:solidFill>
                  </a:tcPr>
                </a:tc>
                <a:tc>
                  <a:txBody>
                    <a:bodyPr wrap="square"/>
                    <a:lstStyle/>
                    <a:p>
                      <a:pPr algn="ctr"/>
                      <a:r>
                        <a:rPr sz="1050" b="1" i="0">
                          <a:solidFill>
                            <a:srgbClr val="2B6B45"/>
                          </a:solidFill>
                          <a:latin typeface="Arial"/>
                        </a:rPr>
                        <a:t>yes (91% survives)</a:t>
                      </a:r>
                    </a:p>
                  </a:txBody>
                  <a:tcPr marL="76200" marR="76200" marT="25400" marB="25400" anchor="ctr">
                    <a:solidFill>
                      <a:srgbClr val="FFFFFF"/>
                    </a:solidFill>
                  </a:tcPr>
                </a:tc>
                <a:tc>
                  <a:txBody>
                    <a:bodyPr wrap="square"/>
                    <a:lstStyle/>
                    <a:p>
                      <a:pPr algn="ctr"/>
                      <a:r>
                        <a:rPr sz="1050" b="1" i="0">
                          <a:solidFill>
                            <a:srgbClr val="2B6B45"/>
                          </a:solidFill>
                          <a:latin typeface="Arial"/>
                        </a:rPr>
                        <a:t>yes (54% survives)</a:t>
                      </a:r>
                    </a:p>
                  </a:txBody>
                  <a:tcPr marL="76200" marR="76200" marT="25400" marB="25400" anchor="ctr">
                    <a:solidFill>
                      <a:srgbClr val="FFFFFF"/>
                    </a:solidFill>
                  </a:tcPr>
                </a:tc>
                <a:tc>
                  <a:txBody>
                    <a:bodyPr wrap="square"/>
                    <a:lstStyle/>
                    <a:p>
                      <a:pPr algn="ctr"/>
                      <a:r>
                        <a:rPr sz="1050" b="0" i="0">
                          <a:solidFill>
                            <a:srgbClr val="1C222E"/>
                          </a:solidFill>
                          <a:latin typeface="Arial"/>
                        </a:rPr>
                        <a:t>–</a:t>
                      </a:r>
                    </a:p>
                  </a:txBody>
                  <a:tcPr marL="76200" marR="76200" marT="25400" marB="25400" anchor="ctr">
                    <a:solidFill>
                      <a:srgbClr val="FFFFFF"/>
                    </a:solidFill>
                  </a:tcPr>
                </a:tc>
                <a:tc>
                  <a:txBody>
                    <a:bodyPr wrap="square"/>
                    <a:lstStyle/>
                    <a:p>
                      <a:pPr algn="ctr"/>
                      <a:r>
                        <a:rPr sz="1050" b="0" i="0">
                          <a:solidFill>
                            <a:srgbClr val="1C222E"/>
                          </a:solidFill>
                          <a:latin typeface="Arial"/>
                        </a:rPr>
                        <a:t>–</a:t>
                      </a:r>
                    </a:p>
                  </a:txBody>
                  <a:tcPr marL="76200" marR="76200" marT="25400" marB="25400" anchor="ctr">
                    <a:solidFill>
                      <a:srgbClr val="FFFFFF"/>
                    </a:solidFill>
                  </a:tcPr>
                </a:tc>
              </a:tr>
              <a:tr h="402336">
                <a:tc>
                  <a:txBody>
                    <a:bodyPr wrap="square"/>
                    <a:lstStyle/>
                    <a:p>
                      <a:pPr algn="l"/>
                      <a:r>
                        <a:rPr sz="1050" b="1" i="0">
                          <a:solidFill>
                            <a:srgbClr val="1C222E"/>
                          </a:solidFill>
                          <a:latin typeface="Arial"/>
                        </a:rPr>
                        <a:t>superposition (DS-specific)</a:t>
                      </a:r>
                    </a:p>
                  </a:txBody>
                  <a:tcPr marL="76200" marR="76200" marT="25400" marB="25400" anchor="ctr">
                    <a:solidFill>
                      <a:srgbClr val="F3F5F7"/>
                    </a:solidFill>
                  </a:tcPr>
                </a:tc>
                <a:tc>
                  <a:txBody>
                    <a:bodyPr wrap="square"/>
                    <a:lstStyle/>
                    <a:p>
                      <a:pPr algn="ctr"/>
                      <a:r>
                        <a:rPr sz="1050" b="1" i="0">
                          <a:solidFill>
                            <a:srgbClr val="2B6B45"/>
                          </a:solidFill>
                          <a:latin typeface="Arial"/>
                        </a:rPr>
                        <a:t>yes (bomb)</a:t>
                      </a:r>
                    </a:p>
                  </a:txBody>
                  <a:tcPr marL="76200" marR="76200" marT="25400" marB="25400" anchor="ctr">
                    <a:solidFill>
                      <a:srgbClr val="F3F5F7"/>
                    </a:solidFill>
                  </a:tcPr>
                </a:tc>
                <a:tc>
                  <a:txBody>
                    <a:bodyPr wrap="square"/>
                    <a:lstStyle/>
                    <a:p>
                      <a:pPr algn="ctr"/>
                      <a:r>
                        <a:rPr sz="1050" b="1" i="0">
                          <a:solidFill>
                            <a:srgbClr val="2B6B45"/>
                          </a:solidFill>
                          <a:latin typeface="Arial"/>
                        </a:rPr>
                        <a:t>yes (+8.96)</a:t>
                      </a:r>
                    </a:p>
                  </a:txBody>
                  <a:tcPr marL="76200" marR="76200" marT="25400" marB="25400" anchor="ctr">
                    <a:solidFill>
                      <a:srgbClr val="F3F5F7"/>
                    </a:solidFill>
                  </a:tcPr>
                </a:tc>
                <a:tc>
                  <a:txBody>
                    <a:bodyPr wrap="square"/>
                    <a:lstStyle/>
                    <a:p>
                      <a:pPr algn="ctr"/>
                      <a:r>
                        <a:rPr sz="1050" b="0" i="0">
                          <a:solidFill>
                            <a:srgbClr val="1C222E"/>
                          </a:solidFill>
                          <a:latin typeface="Arial"/>
                        </a:rPr>
                        <a:t>–</a:t>
                      </a:r>
                    </a:p>
                  </a:txBody>
                  <a:tcPr marL="76200" marR="76200" marT="25400" marB="25400" anchor="ctr">
                    <a:solidFill>
                      <a:srgbClr val="F3F5F7"/>
                    </a:solidFill>
                  </a:tcPr>
                </a:tc>
                <a:tc>
                  <a:txBody>
                    <a:bodyPr wrap="square"/>
                    <a:lstStyle/>
                    <a:p>
                      <a:pPr algn="ctr"/>
                      <a:r>
                        <a:rPr sz="1050" b="0" i="0">
                          <a:solidFill>
                            <a:srgbClr val="1C222E"/>
                          </a:solidFill>
                          <a:latin typeface="Arial"/>
                        </a:rPr>
                        <a:t>–</a:t>
                      </a:r>
                    </a:p>
                  </a:txBody>
                  <a:tcPr marL="76200" marR="76200" marT="25400" marB="25400" anchor="ctr">
                    <a:solidFill>
                      <a:srgbClr val="F3F5F7"/>
                    </a:solidFill>
                  </a:tcPr>
                </a:tc>
              </a:tr>
              <a:tr h="402336">
                <a:tc>
                  <a:txBody>
                    <a:bodyPr wrap="square"/>
                    <a:lstStyle/>
                    <a:p>
                      <a:pPr algn="l"/>
                      <a:r>
                        <a:rPr sz="1050" b="1" i="0">
                          <a:solidFill>
                            <a:srgbClr val="1C222E"/>
                          </a:solidFill>
                          <a:latin typeface="Arial"/>
                        </a:rPr>
                        <a:t>fine-grained circuit (AtP)</a:t>
                      </a:r>
                    </a:p>
                  </a:txBody>
                  <a:tcPr marL="76200" marR="76200" marT="25400" marB="25400" anchor="ctr">
                    <a:solidFill>
                      <a:srgbClr val="FFFFFF"/>
                    </a:solidFill>
                  </a:tcPr>
                </a:tc>
                <a:tc>
                  <a:txBody>
                    <a:bodyPr wrap="square"/>
                    <a:lstStyle/>
                    <a:p>
                      <a:pPr algn="ctr"/>
                      <a:r>
                        <a:rPr sz="1050" b="1" i="0">
                          <a:solidFill>
                            <a:srgbClr val="2B6B45"/>
                          </a:solidFill>
                          <a:latin typeface="Arial"/>
                        </a:rPr>
                        <a:t>yes (3 pairs)</a:t>
                      </a:r>
                    </a:p>
                  </a:txBody>
                  <a:tcPr marL="76200" marR="76200" marT="25400" marB="25400" anchor="ctr">
                    <a:solidFill>
                      <a:srgbClr val="FFFFFF"/>
                    </a:solidFill>
                  </a:tcPr>
                </a:tc>
                <a:tc>
                  <a:txBody>
                    <a:bodyPr wrap="square"/>
                    <a:lstStyle/>
                    <a:p>
                      <a:pPr algn="ctr"/>
                      <a:r>
                        <a:rPr sz="1050" b="1" i="0">
                          <a:solidFill>
                            <a:srgbClr val="A84B1E"/>
                          </a:solidFill>
                          <a:latin typeface="Arial"/>
                        </a:rPr>
                        <a:t>no (metric reverses)</a:t>
                      </a:r>
                    </a:p>
                  </a:txBody>
                  <a:tcPr marL="76200" marR="76200" marT="25400" marB="25400" anchor="ctr">
                    <a:solidFill>
                      <a:srgbClr val="FFFFFF"/>
                    </a:solidFill>
                  </a:tcPr>
                </a:tc>
                <a:tc>
                  <a:txBody>
                    <a:bodyPr wrap="square"/>
                    <a:lstStyle/>
                    <a:p>
                      <a:pPr algn="ctr"/>
                      <a:r>
                        <a:rPr sz="1050" b="0" i="0">
                          <a:solidFill>
                            <a:srgbClr val="1C222E"/>
                          </a:solidFill>
                          <a:latin typeface="Arial"/>
                        </a:rPr>
                        <a:t>–</a:t>
                      </a:r>
                    </a:p>
                  </a:txBody>
                  <a:tcPr marL="76200" marR="76200" marT="25400" marB="25400" anchor="ctr">
                    <a:solidFill>
                      <a:srgbClr val="FFFFFF"/>
                    </a:solidFill>
                  </a:tcPr>
                </a:tc>
                <a:tc>
                  <a:txBody>
                    <a:bodyPr wrap="square"/>
                    <a:lstStyle/>
                    <a:p>
                      <a:pPr algn="ctr"/>
                      <a:r>
                        <a:rPr sz="1050" b="0" i="0">
                          <a:solidFill>
                            <a:srgbClr val="1C222E"/>
                          </a:solidFill>
                          <a:latin typeface="Arial"/>
                        </a:rPr>
                        <a:t>–</a:t>
                      </a:r>
                    </a:p>
                  </a:txBody>
                  <a:tcPr marL="76200" marR="76200" marT="25400" marB="25400" anchor="ctr">
                    <a:solidFill>
                      <a:srgbClr val="FFFFFF"/>
                    </a:solidFill>
                  </a:tcPr>
                </a:tc>
              </a:tr>
            </a:tbl>
          </a:graphicData>
        </a:graphic>
      </p:graphicFrame>
      <p:sp>
        <p:nvSpPr>
          <p:cNvPr id="6" name="TextBox 5"/>
          <p:cNvSpPr txBox="1"/>
          <p:nvPr/>
        </p:nvSpPr>
        <p:spPr>
          <a:xfrm>
            <a:off x="566928" y="4937760"/>
            <a:ext cx="11057839" cy="1097280"/>
          </a:xfrm>
          <a:prstGeom prst="rect">
            <a:avLst/>
          </a:prstGeom>
          <a:noFill/>
        </p:spPr>
        <p:txBody>
          <a:bodyPr wrap="square" lIns="0" rIns="0" tIns="0" bIns="0">
            <a:spAutoFit/>
          </a:bodyPr>
          <a:lstStyle/>
          <a:p>
            <a:pPr>
              <a:spcBef>
                <a:spcPts val="0"/>
              </a:spcBef>
              <a:spcAft>
                <a:spcPts val="600"/>
              </a:spcAft>
            </a:pPr>
            <a:r>
              <a:rPr sz="1300" b="1" i="0">
                <a:solidFill>
                  <a:srgbClr val="153A5C"/>
                </a:solidFill>
                <a:latin typeface="Arial"/>
              </a:rPr>
              <a:t>– </a:t>
            </a:r>
            <a:r>
              <a:rPr sz="1300" b="0" i="0">
                <a:solidFill>
                  <a:srgbClr val="1C222E"/>
                </a:solidFill>
                <a:latin typeface="Arial"/>
              </a:rPr>
              <a:t>Primary dissociation stands on two architectures. Reasoning-model robustness at the answer position is noted as a plausible, honest observation, not a claim.</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DEFENSE</a:t>
            </a:r>
          </a:p>
          <a:p>
            <a:pPr>
              <a:spcBef>
                <a:spcPts val="200"/>
              </a:spcBef>
            </a:pPr>
            <a:r>
              <a:rPr sz="2300" b="1" i="0">
                <a:solidFill>
                  <a:srgbClr val="153A5C"/>
                </a:solidFill>
                <a:latin typeface="Arial"/>
              </a:rPr>
              <a:t>Hard to fix by surgery; detection is a lead, not a settled result</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306324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Two mechanism-derived defences fail for distinct, principled reasons. Adding refusal late targets the wrong depth (the decision is early) and destabilises generation.</a:t>
            </a:r>
          </a:p>
          <a:p>
            <a:pPr>
              <a:spcBef>
                <a:spcPts val="0"/>
              </a:spcBef>
              <a:spcAft>
                <a:spcPts val="1300"/>
              </a:spcAft>
            </a:pPr>
            <a:r>
              <a:rPr sz="1650" b="1" i="0">
                <a:solidFill>
                  <a:srgbClr val="153A5C"/>
                </a:solidFill>
                <a:latin typeface="Arial"/>
              </a:rPr>
              <a:t>– </a:t>
            </a:r>
            <a:r>
              <a:rPr sz="1650" b="0" i="0">
                <a:solidFill>
                  <a:srgbClr val="1C222E"/>
                </a:solidFill>
                <a:latin typeface="Arial"/>
              </a:rPr>
              <a:t>Ablating the concept direction at the right depth is specific (no benign over-refusal) but ineffective, because the representation is distributed, not one direction.</a:t>
            </a:r>
          </a:p>
          <a:p>
            <a:pPr>
              <a:spcBef>
                <a:spcPts val="0"/>
              </a:spcBef>
              <a:spcAft>
                <a:spcPts val="1300"/>
              </a:spcAft>
            </a:pPr>
            <a:r>
              <a:rPr sz="1650" b="1" i="0">
                <a:solidFill>
                  <a:srgbClr val="153A5C"/>
                </a:solidFill>
                <a:latin typeface="Arial"/>
              </a:rPr>
              <a:t>– </a:t>
            </a:r>
            <a:r>
              <a:rPr sz="1650" b="0" i="0">
                <a:solidFill>
                  <a:srgbClr val="1C222E"/>
                </a:solidFill>
                <a:latin typeface="Arial"/>
              </a:rPr>
              <a:t>Together these explain why Doublespeak resists representation surgery: the decision is early and the representation is distributed.</a:t>
            </a:r>
          </a:p>
        </p:txBody>
      </p:sp>
      <p:sp>
        <p:nvSpPr>
          <p:cNvPr id="6" name="Rounded Rectangle 5"/>
          <p:cNvSpPr/>
          <p:nvPr/>
        </p:nvSpPr>
        <p:spPr>
          <a:xfrm>
            <a:off x="566928" y="5074920"/>
            <a:ext cx="11057839" cy="1005840"/>
          </a:xfrm>
          <a:prstGeom prst="roundRect">
            <a:avLst/>
          </a:prstGeom>
          <a:solidFill>
            <a:srgbClr val="FBF7F0"/>
          </a:solidFill>
          <a:ln w="12700">
            <a:solidFill>
              <a:srgbClr val="E7C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A84B1E"/>
                </a:solidFill>
                <a:latin typeface="Arial"/>
              </a:rPr>
              <a:t>Detection claim — not yet reproducible</a:t>
            </a:r>
          </a:p>
          <a:p>
            <a:pPr>
              <a:spcBef>
                <a:spcPts val="300"/>
              </a:spcBef>
            </a:pPr>
            <a:r>
              <a:rPr sz="1150" b="1" i="0">
                <a:solidFill>
                  <a:srgbClr val="A84B1E"/>
                </a:solidFill>
                <a:latin typeface="Arial"/>
              </a:rPr>
              <a:t>A mid-band linear probe is reported at AUC 1.0, </a:t>
            </a:r>
            <a:r>
              <a:rPr sz="1150" b="0" i="0">
                <a:solidFill>
                  <a:srgbClr val="1C222E"/>
                </a:solidFill>
                <a:latin typeface="Arial"/>
              </a:rPr>
              <a:t>but that result was committed as a document edit with no producing script or artifact. Re-run and commit before relying on it.</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DEFENSE</a:t>
            </a:r>
          </a:p>
          <a:p>
            <a:pPr>
              <a:spcBef>
                <a:spcPts val="200"/>
              </a:spcBef>
            </a:pPr>
            <a:r>
              <a:rPr sz="2300" b="1" i="0">
                <a:solidFill>
                  <a:srgbClr val="153A5C"/>
                </a:solidFill>
                <a:latin typeface="Arial"/>
              </a:rPr>
              <a:t>Two honest negatives, one unverified positive</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sp>
        <p:nvSpPr>
          <p:cNvPr id="5" name="TextBox 4"/>
          <p:cNvSpPr txBox="1"/>
          <p:nvPr/>
        </p:nvSpPr>
        <p:spPr>
          <a:xfrm>
            <a:off x="566928" y="1828800"/>
            <a:ext cx="11057839" cy="3108960"/>
          </a:xfrm>
          <a:prstGeom prst="rect">
            <a:avLst/>
          </a:prstGeom>
          <a:noFill/>
        </p:spPr>
        <p:txBody>
          <a:bodyPr wrap="square" lIns="0" rIns="0" tIns="0" bIns="0">
            <a:spAutoFit/>
          </a:bodyPr>
          <a:lstStyle/>
          <a:p>
            <a:pPr>
              <a:spcBef>
                <a:spcPts val="0"/>
              </a:spcBef>
              <a:spcAft>
                <a:spcPts val="700"/>
              </a:spcAft>
            </a:pPr>
            <a:r>
              <a:rPr sz="1350" b="1" i="0">
                <a:solidFill>
                  <a:srgbClr val="153A5C"/>
                </a:solidFill>
                <a:latin typeface="Arial"/>
              </a:rPr>
              <a:t>– </a:t>
            </a:r>
            <a:r>
              <a:rPr sz="1350" b="1" i="0">
                <a:solidFill>
                  <a:srgbClr val="1C222E"/>
                </a:solidFill>
                <a:latin typeface="Arial"/>
              </a:rPr>
              <a:t>Add refusal at the late/use depth (D7):</a:t>
            </a:r>
          </a:p>
          <a:p>
            <a:pPr lvl="1">
              <a:spcBef>
                <a:spcPts val="0"/>
              </a:spcBef>
              <a:spcAft>
                <a:spcPts val="700"/>
              </a:spcAft>
            </a:pPr>
            <a:r>
              <a:rPr sz="1350" b="1" i="0">
                <a:solidFill>
                  <a:srgbClr val="395B74"/>
                </a:solidFill>
                <a:latin typeface="Arial"/>
              </a:rPr>
              <a:t>· </a:t>
            </a:r>
            <a:r>
              <a:rPr sz="1350" b="0" i="0">
                <a:solidFill>
                  <a:srgbClr val="1C222E"/>
                </a:solidFill>
                <a:latin typeface="Arial"/>
              </a:rPr>
              <a:t>no malicious suppression at any strength (all within ±0.03, non-significant), and +0.23 to +0.43 benign over-refusal. The compliance is gated early, so a late fix is too late.</a:t>
            </a:r>
          </a:p>
          <a:p>
            <a:pPr>
              <a:spcBef>
                <a:spcPts val="0"/>
              </a:spcBef>
              <a:spcAft>
                <a:spcPts val="700"/>
              </a:spcAft>
            </a:pPr>
            <a:r>
              <a:rPr sz="1350" b="1" i="0">
                <a:solidFill>
                  <a:srgbClr val="153A5C"/>
                </a:solidFill>
                <a:latin typeface="Arial"/>
              </a:rPr>
              <a:t>– </a:t>
            </a:r>
            <a:r>
              <a:rPr sz="1350" b="1" i="0">
                <a:solidFill>
                  <a:srgbClr val="1C222E"/>
                </a:solidFill>
                <a:latin typeface="Arial"/>
              </a:rPr>
              <a:t>Ablate the concept direction at the mid-band (N7-F):</a:t>
            </a:r>
          </a:p>
          <a:p>
            <a:pPr lvl="1">
              <a:spcBef>
                <a:spcPts val="0"/>
              </a:spcBef>
              <a:spcAft>
                <a:spcPts val="700"/>
              </a:spcAft>
            </a:pPr>
            <a:r>
              <a:rPr sz="1350" b="1" i="0">
                <a:solidFill>
                  <a:srgbClr val="395B74"/>
                </a:solidFill>
                <a:latin typeface="Arial"/>
              </a:rPr>
              <a:t>· </a:t>
            </a:r>
            <a:r>
              <a:rPr sz="1350" b="0" i="0">
                <a:solidFill>
                  <a:srgbClr val="1C222E"/>
                </a:solidFill>
                <a:latin typeface="Arial"/>
              </a:rPr>
              <a:t>zero benign over-refusal, but no reduction in malicious behaviour. One direction cannot remove a distributed reading.</a:t>
            </a:r>
          </a:p>
          <a:p>
            <a:pPr>
              <a:spcBef>
                <a:spcPts val="0"/>
              </a:spcBef>
              <a:spcAft>
                <a:spcPts val="700"/>
              </a:spcAft>
            </a:pPr>
            <a:r>
              <a:rPr sz="1350" b="1" i="0">
                <a:solidFill>
                  <a:srgbClr val="153A5C"/>
                </a:solidFill>
                <a:latin typeface="Arial"/>
              </a:rPr>
              <a:t>– </a:t>
            </a:r>
            <a:r>
              <a:rPr sz="1350" b="1" i="0">
                <a:solidFill>
                  <a:srgbClr val="1C222E"/>
                </a:solidFill>
                <a:latin typeface="Arial"/>
              </a:rPr>
              <a:t>Add refusal throughout generation (W5):</a:t>
            </a:r>
          </a:p>
          <a:p>
            <a:pPr lvl="1">
              <a:spcBef>
                <a:spcPts val="0"/>
              </a:spcBef>
              <a:spcAft>
                <a:spcPts val="700"/>
              </a:spcAft>
            </a:pPr>
            <a:r>
              <a:rPr sz="1350" b="1" i="0">
                <a:solidFill>
                  <a:srgbClr val="395B74"/>
                </a:solidFill>
                <a:latin typeface="Arial"/>
              </a:rPr>
              <a:t>· </a:t>
            </a:r>
            <a:r>
              <a:rPr sz="1350" b="0" i="0">
                <a:solidFill>
                  <a:srgbClr val="1C222E"/>
                </a:solidFill>
                <a:latin typeface="Arial"/>
              </a:rPr>
              <a:t>no attack headroom on the judged set (baseline 0.033) and the additive steering destabilises decoding. Reported as a first-class negative.</a:t>
            </a:r>
          </a:p>
        </p:txBody>
      </p:sp>
      <p:sp>
        <p:nvSpPr>
          <p:cNvPr id="6" name="Rounded Rectangle 5"/>
          <p:cNvSpPr/>
          <p:nvPr/>
        </p:nvSpPr>
        <p:spPr>
          <a:xfrm>
            <a:off x="566928" y="5029200"/>
            <a:ext cx="11057839" cy="91440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153A5C"/>
                </a:solidFill>
                <a:latin typeface="Arial"/>
              </a:rPr>
              <a:t>Benign remap uses the same circuit</a:t>
            </a:r>
          </a:p>
          <a:p>
            <a:pPr>
              <a:spcBef>
                <a:spcPts val="300"/>
              </a:spcBef>
            </a:pPr>
            <a:r>
              <a:rPr sz="1150" b="1" i="0">
                <a:solidFill>
                  <a:srgbClr val="153A5C"/>
                </a:solidFill>
                <a:latin typeface="Arial"/>
              </a:rPr>
              <a:t>A harmless carrot-to-bicycle remap uses the same mid-band attention circuit, </a:t>
            </a:r>
            <a:r>
              <a:rPr sz="1150" b="0" i="0">
                <a:solidFill>
                  <a:srgbClr val="1C222E"/>
                </a:solidFill>
                <a:latin typeface="Arial"/>
              </a:rPr>
              <a:t>so the mechanism is ordinary in-context remapping. The safety failure is only the depth-gated refusal miss.</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INTEGRITY</a:t>
            </a:r>
          </a:p>
          <a:p>
            <a:pPr>
              <a:spcBef>
                <a:spcPts val="200"/>
              </a:spcBef>
            </a:pPr>
            <a:r>
              <a:rPr sz="2300" b="1" i="0">
                <a:solidFill>
                  <a:srgbClr val="153A5C"/>
                </a:solidFill>
                <a:latin typeface="Arial"/>
              </a:rPr>
              <a:t>We audited our own numbers and corrected them</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15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FFFFFF"/>
                </a:solidFill>
                <a:latin typeface="Arial"/>
              </a:rPr>
              <a:t>OVERVIEW</a:t>
            </a:r>
          </a:p>
        </p:txBody>
      </p:sp>
      <p:sp>
        <p:nvSpPr>
          <p:cNvPr id="5" name="TextBox 4"/>
          <p:cNvSpPr txBox="1"/>
          <p:nvPr/>
        </p:nvSpPr>
        <p:spPr>
          <a:xfrm>
            <a:off x="566928" y="1874519"/>
            <a:ext cx="11057839" cy="4023360"/>
          </a:xfrm>
          <a:prstGeom prst="rect">
            <a:avLst/>
          </a:prstGeom>
          <a:noFill/>
        </p:spPr>
        <p:txBody>
          <a:bodyPr wrap="square" lIns="0" rIns="0" tIns="0" bIns="0">
            <a:spAutoFit/>
          </a:bodyPr>
          <a:lstStyle/>
          <a:p>
            <a:pPr>
              <a:spcBef>
                <a:spcPts val="0"/>
              </a:spcBef>
              <a:spcAft>
                <a:spcPts val="1300"/>
              </a:spcAft>
            </a:pPr>
            <a:r>
              <a:rPr sz="1650" b="1" i="0">
                <a:solidFill>
                  <a:srgbClr val="153A5C"/>
                </a:solidFill>
                <a:latin typeface="Arial"/>
              </a:rPr>
              <a:t>– </a:t>
            </a:r>
            <a:r>
              <a:rPr sz="1650" b="0" i="0">
                <a:solidFill>
                  <a:srgbClr val="1C222E"/>
                </a:solidFill>
                <a:latin typeface="Arial"/>
              </a:rPr>
              <a:t>A 12-agent pass re-checked roughly 230 claims against the on-disk results and the producing code. The large majority matched.</a:t>
            </a:r>
          </a:p>
          <a:p>
            <a:pPr>
              <a:spcBef>
                <a:spcPts val="0"/>
              </a:spcBef>
              <a:spcAft>
                <a:spcPts val="1300"/>
              </a:spcAft>
            </a:pPr>
            <a:r>
              <a:rPr sz="1650" b="1" i="0">
                <a:solidFill>
                  <a:srgbClr val="153A5C"/>
                </a:solidFill>
                <a:latin typeface="Arial"/>
              </a:rPr>
              <a:t>– </a:t>
            </a:r>
            <a:r>
              <a:rPr sz="1650" b="0" i="0">
                <a:solidFill>
                  <a:srgbClr val="1C222E"/>
                </a:solidFill>
                <a:latin typeface="Arial"/>
              </a:rPr>
              <a:t>One of our own integrity claims was itself wrong and is corrected. One headline defence number has no committed backing and is flagged. One capture bug is real but confined to the reproduction phase.</a:t>
            </a:r>
          </a:p>
          <a:p>
            <a:pPr>
              <a:spcBef>
                <a:spcPts val="0"/>
              </a:spcBef>
              <a:spcAft>
                <a:spcPts val="1300"/>
              </a:spcAft>
            </a:pPr>
            <a:r>
              <a:rPr sz="1650" b="1" i="0">
                <a:solidFill>
                  <a:srgbClr val="153A5C"/>
                </a:solidFill>
                <a:latin typeface="Arial"/>
              </a:rPr>
              <a:t>– </a:t>
            </a:r>
            <a:r>
              <a:rPr sz="1650" b="0" i="0">
                <a:solidFill>
                  <a:srgbClr val="1C222E"/>
                </a:solidFill>
                <a:latin typeface="Arial"/>
              </a:rPr>
              <a:t>A handful of stale numbers were caught and fixed. None of them inverts a scientific conclusion.</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A84B1E"/>
                </a:solidFill>
                <a:latin typeface="Arial"/>
              </a:rPr>
              <a:t>INTEGRITY</a:t>
            </a:r>
          </a:p>
          <a:p>
            <a:pPr>
              <a:spcBef>
                <a:spcPts val="200"/>
              </a:spcBef>
            </a:pPr>
            <a:r>
              <a:rPr sz="2300" b="1" i="0">
                <a:solidFill>
                  <a:srgbClr val="153A5C"/>
                </a:solidFill>
                <a:latin typeface="Arial"/>
              </a:rPr>
              <a:t>What the self-audit found</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0390327" y="475488"/>
            <a:ext cx="1234440" cy="310896"/>
          </a:xfrm>
          <a:prstGeom prst="roundRect">
            <a:avLst/>
          </a:prstGeom>
          <a:solidFill>
            <a:srgbClr val="FFFFFF"/>
          </a:solidFill>
          <a:ln w="13970">
            <a:solidFill>
              <a:srgbClr val="153A5C"/>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i="0">
                <a:solidFill>
                  <a:srgbClr val="153A5C"/>
                </a:solidFill>
                <a:latin typeface="Arial"/>
              </a:rPr>
              <a:t>EVIDENCE</a:t>
            </a:r>
          </a:p>
        </p:txBody>
      </p:sp>
      <p:graphicFrame>
        <p:nvGraphicFramePr>
          <p:cNvPr id="5" name="Table 4"/>
          <p:cNvGraphicFramePr>
            <a:graphicFrameLocks noGrp="1"/>
          </p:cNvGraphicFramePr>
          <p:nvPr/>
        </p:nvGraphicFramePr>
        <p:xfrm>
          <a:off x="566928" y="1828800"/>
          <a:ext cx="11057837" cy="2852928"/>
        </p:xfrm>
        <a:graphic>
          <a:graphicData uri="http://schemas.openxmlformats.org/drawingml/2006/table">
            <a:tbl>
              <a:tblPr>
                <a:tableStyleId>{5C22544A-7EE6-4342-B048-85BDC9FD1C3A}</a:tableStyleId>
              </a:tblPr>
              <a:tblGrid>
                <a:gridCol w="5528919"/>
                <a:gridCol w="2211567"/>
                <a:gridCol w="3317351"/>
              </a:tblGrid>
              <a:tr h="475488">
                <a:tc>
                  <a:txBody>
                    <a:bodyPr wrap="square"/>
                    <a:lstStyle/>
                    <a:p>
                      <a:pPr algn="l"/>
                      <a:r>
                        <a:rPr sz="1100" b="1" i="0">
                          <a:solidFill>
                            <a:srgbClr val="FFFFFF"/>
                          </a:solidFill>
                          <a:latin typeface="Arial"/>
                        </a:rPr>
                        <a:t>finding</a:t>
                      </a:r>
                    </a:p>
                  </a:txBody>
                  <a:tcPr marL="76200" marR="76200" marT="25400" marB="25400" anchor="ctr">
                    <a:solidFill>
                      <a:srgbClr val="153A5C"/>
                    </a:solidFill>
                  </a:tcPr>
                </a:tc>
                <a:tc>
                  <a:txBody>
                    <a:bodyPr wrap="square"/>
                    <a:lstStyle/>
                    <a:p>
                      <a:pPr algn="ctr"/>
                      <a:r>
                        <a:rPr sz="1100" b="1" i="0">
                          <a:solidFill>
                            <a:srgbClr val="FFFFFF"/>
                          </a:solidFill>
                          <a:latin typeface="Arial"/>
                        </a:rPr>
                        <a:t>status</a:t>
                      </a:r>
                    </a:p>
                  </a:txBody>
                  <a:tcPr marL="76200" marR="76200" marT="25400" marB="25400" anchor="ctr">
                    <a:solidFill>
                      <a:srgbClr val="153A5C"/>
                    </a:solidFill>
                  </a:tcPr>
                </a:tc>
                <a:tc>
                  <a:txBody>
                    <a:bodyPr wrap="square"/>
                    <a:lstStyle/>
                    <a:p>
                      <a:pPr algn="ctr"/>
                      <a:r>
                        <a:rPr sz="1100" b="1" i="0">
                          <a:solidFill>
                            <a:srgbClr val="FFFFFF"/>
                          </a:solidFill>
                          <a:latin typeface="Arial"/>
                        </a:rPr>
                        <a:t>effect on conclusions</a:t>
                      </a:r>
                    </a:p>
                  </a:txBody>
                  <a:tcPr marL="76200" marR="76200" marT="25400" marB="25400" anchor="ctr">
                    <a:solidFill>
                      <a:srgbClr val="153A5C"/>
                    </a:solidFill>
                  </a:tcPr>
                </a:tc>
              </a:tr>
              <a:tr h="475488">
                <a:tc>
                  <a:txBody>
                    <a:bodyPr wrap="square"/>
                    <a:lstStyle/>
                    <a:p>
                      <a:pPr algn="l"/>
                      <a:r>
                        <a:rPr sz="1100" b="1" i="0">
                          <a:solidFill>
                            <a:srgbClr val="1C222E"/>
                          </a:solidFill>
                          <a:latin typeface="Arial"/>
                        </a:rPr>
                        <a:t>B4 “+0.971 unbacked” was wrong; install is site-dependent</a:t>
                      </a:r>
                    </a:p>
                  </a:txBody>
                  <a:tcPr marL="76200" marR="76200" marT="25400" marB="25400" anchor="ctr">
                    <a:solidFill>
                      <a:srgbClr val="FFFFFF"/>
                    </a:solidFill>
                  </a:tcPr>
                </a:tc>
                <a:tc>
                  <a:txBody>
                    <a:bodyPr wrap="square"/>
                    <a:lstStyle/>
                    <a:p>
                      <a:pPr algn="ctr"/>
                      <a:r>
                        <a:rPr sz="1100" b="1" i="0">
                          <a:solidFill>
                            <a:srgbClr val="A84B1E"/>
                          </a:solidFill>
                          <a:latin typeface="Arial"/>
                        </a:rPr>
                        <a:t>corrected</a:t>
                      </a:r>
                    </a:p>
                  </a:txBody>
                  <a:tcPr marL="76200" marR="76200" marT="25400" marB="25400" anchor="ctr">
                    <a:solidFill>
                      <a:srgbClr val="FFFFFF"/>
                    </a:solidFill>
                  </a:tcPr>
                </a:tc>
                <a:tc>
                  <a:txBody>
                    <a:bodyPr wrap="square"/>
                    <a:lstStyle/>
                    <a:p>
                      <a:pPr algn="ctr"/>
                      <a:r>
                        <a:rPr sz="1100" b="0" i="0">
                          <a:solidFill>
                            <a:srgbClr val="1C222E"/>
                          </a:solidFill>
                          <a:latin typeface="Arial"/>
                        </a:rPr>
                        <a:t>S2 stands; wording narrowed</a:t>
                      </a:r>
                    </a:p>
                  </a:txBody>
                  <a:tcPr marL="76200" marR="76200" marT="25400" marB="25400" anchor="ctr">
                    <a:solidFill>
                      <a:srgbClr val="FFFFFF"/>
                    </a:solidFill>
                  </a:tcPr>
                </a:tc>
              </a:tr>
              <a:tr h="475488">
                <a:tc>
                  <a:txBody>
                    <a:bodyPr wrap="square"/>
                    <a:lstStyle/>
                    <a:p>
                      <a:pPr algn="l"/>
                      <a:r>
                        <a:rPr sz="1100" b="1" i="0">
                          <a:solidFill>
                            <a:srgbClr val="1C222E"/>
                          </a:solidFill>
                          <a:latin typeface="Arial"/>
                        </a:rPr>
                        <a:t>Detection AUC 1.0 has no committed script/artifact</a:t>
                      </a:r>
                    </a:p>
                  </a:txBody>
                  <a:tcPr marL="76200" marR="76200" marT="25400" marB="25400" anchor="ctr">
                    <a:solidFill>
                      <a:srgbClr val="F3F5F7"/>
                    </a:solidFill>
                  </a:tcPr>
                </a:tc>
                <a:tc>
                  <a:txBody>
                    <a:bodyPr wrap="square"/>
                    <a:lstStyle/>
                    <a:p>
                      <a:pPr algn="ctr"/>
                      <a:r>
                        <a:rPr sz="1100" b="1" i="0">
                          <a:solidFill>
                            <a:srgbClr val="A84B1E"/>
                          </a:solidFill>
                          <a:latin typeface="Arial"/>
                        </a:rPr>
                        <a:t>flagged</a:t>
                      </a:r>
                    </a:p>
                  </a:txBody>
                  <a:tcPr marL="76200" marR="76200" marT="25400" marB="25400" anchor="ctr">
                    <a:solidFill>
                      <a:srgbClr val="F3F5F7"/>
                    </a:solidFill>
                  </a:tcPr>
                </a:tc>
                <a:tc>
                  <a:txBody>
                    <a:bodyPr wrap="square"/>
                    <a:lstStyle/>
                    <a:p>
                      <a:pPr algn="ctr"/>
                      <a:r>
                        <a:rPr sz="1100" b="0" i="0">
                          <a:solidFill>
                            <a:srgbClr val="1C222E"/>
                          </a:solidFill>
                          <a:latin typeface="Arial"/>
                        </a:rPr>
                        <a:t>re-run before citing</a:t>
                      </a:r>
                    </a:p>
                  </a:txBody>
                  <a:tcPr marL="76200" marR="76200" marT="25400" marB="25400" anchor="ctr">
                    <a:solidFill>
                      <a:srgbClr val="F3F5F7"/>
                    </a:solidFill>
                  </a:tcPr>
                </a:tc>
              </a:tr>
              <a:tr h="475488">
                <a:tc>
                  <a:txBody>
                    <a:bodyPr wrap="square"/>
                    <a:lstStyle/>
                    <a:p>
                      <a:pPr algn="l"/>
                      <a:r>
                        <a:rPr sz="1100" b="1" i="0">
                          <a:solidFill>
                            <a:srgbClr val="1C222E"/>
                          </a:solidFill>
                          <a:latin typeface="Arial"/>
                        </a:rPr>
                        <a:t>Double-BOS in the old capture path</a:t>
                      </a:r>
                    </a:p>
                  </a:txBody>
                  <a:tcPr marL="76200" marR="76200" marT="25400" marB="25400" anchor="ctr">
                    <a:solidFill>
                      <a:srgbClr val="FFFFFF"/>
                    </a:solidFill>
                  </a:tcPr>
                </a:tc>
                <a:tc>
                  <a:txBody>
                    <a:bodyPr wrap="square"/>
                    <a:lstStyle/>
                    <a:p>
                      <a:pPr algn="ctr"/>
                      <a:r>
                        <a:rPr sz="1100" b="1" i="0">
                          <a:solidFill>
                            <a:srgbClr val="A84B1E"/>
                          </a:solidFill>
                          <a:latin typeface="Arial"/>
                        </a:rPr>
                        <a:t>scoped</a:t>
                      </a:r>
                    </a:p>
                  </a:txBody>
                  <a:tcPr marL="76200" marR="76200" marT="25400" marB="25400" anchor="ctr">
                    <a:solidFill>
                      <a:srgbClr val="FFFFFF"/>
                    </a:solidFill>
                  </a:tcPr>
                </a:tc>
                <a:tc>
                  <a:txBody>
                    <a:bodyPr wrap="square"/>
                    <a:lstStyle/>
                    <a:p>
                      <a:pPr algn="ctr"/>
                      <a:r>
                        <a:rPr sz="1100" b="0" i="0">
                          <a:solidFill>
                            <a:srgbClr val="1C222E"/>
                          </a:solidFill>
                          <a:latin typeface="Arial"/>
                        </a:rPr>
                        <a:t>Phase A only; causal work clean</a:t>
                      </a:r>
                    </a:p>
                  </a:txBody>
                  <a:tcPr marL="76200" marR="76200" marT="25400" marB="25400" anchor="ctr">
                    <a:solidFill>
                      <a:srgbClr val="FFFFFF"/>
                    </a:solidFill>
                  </a:tcPr>
                </a:tc>
              </a:tr>
              <a:tr h="475488">
                <a:tc>
                  <a:txBody>
                    <a:bodyPr wrap="square"/>
                    <a:lstStyle/>
                    <a:p>
                      <a:pPr algn="l"/>
                      <a:r>
                        <a:rPr sz="1100" b="1" i="0">
                          <a:solidFill>
                            <a:srgbClr val="1C222E"/>
                          </a:solidFill>
                          <a:latin typeface="Arial"/>
                        </a:rPr>
                        <a:t>Phase-A necessity specificity over random (126x/8181x)</a:t>
                      </a:r>
                    </a:p>
                  </a:txBody>
                  <a:tcPr marL="76200" marR="76200" marT="25400" marB="25400" anchor="ctr">
                    <a:solidFill>
                      <a:srgbClr val="F3F5F7"/>
                    </a:solidFill>
                  </a:tcPr>
                </a:tc>
                <a:tc>
                  <a:txBody>
                    <a:bodyPr wrap="square"/>
                    <a:lstStyle/>
                    <a:p>
                      <a:pPr algn="ctr"/>
                      <a:r>
                        <a:rPr sz="1100" b="1" i="0">
                          <a:solidFill>
                            <a:srgbClr val="A84B1E"/>
                          </a:solidFill>
                          <a:latin typeface="Arial"/>
                        </a:rPr>
                        <a:t>retracted</a:t>
                      </a:r>
                    </a:p>
                  </a:txBody>
                  <a:tcPr marL="76200" marR="76200" marT="25400" marB="25400" anchor="ctr">
                    <a:solidFill>
                      <a:srgbClr val="F3F5F7"/>
                    </a:solidFill>
                  </a:tcPr>
                </a:tc>
                <a:tc>
                  <a:txBody>
                    <a:bodyPr wrap="square"/>
                    <a:lstStyle/>
                    <a:p>
                      <a:pPr algn="ctr"/>
                      <a:r>
                        <a:rPr sz="1100" b="0" i="0">
                          <a:solidFill>
                            <a:srgbClr val="1C222E"/>
                          </a:solidFill>
                          <a:latin typeface="Arial"/>
                        </a:rPr>
                        <a:t>already bracketed earlier</a:t>
                      </a:r>
                    </a:p>
                  </a:txBody>
                  <a:tcPr marL="76200" marR="76200" marT="25400" marB="25400" anchor="ctr">
                    <a:solidFill>
                      <a:srgbClr val="F3F5F7"/>
                    </a:solidFill>
                  </a:tcPr>
                </a:tc>
              </a:tr>
              <a:tr h="475488">
                <a:tc>
                  <a:txBody>
                    <a:bodyPr wrap="square"/>
                    <a:lstStyle/>
                    <a:p>
                      <a:pPr algn="l"/>
                      <a:r>
                        <a:rPr sz="1100" b="1" i="0">
                          <a:solidFill>
                            <a:srgbClr val="1C222E"/>
                          </a:solidFill>
                          <a:latin typeface="Arial"/>
                        </a:rPr>
                        <a:t>Stale annotations (faithfulness n, top-head list, 0.10 vs 0.123)</a:t>
                      </a:r>
                    </a:p>
                  </a:txBody>
                  <a:tcPr marL="76200" marR="76200" marT="25400" marB="25400" anchor="ctr">
                    <a:solidFill>
                      <a:srgbClr val="FFFFFF"/>
                    </a:solidFill>
                  </a:tcPr>
                </a:tc>
                <a:tc>
                  <a:txBody>
                    <a:bodyPr wrap="square"/>
                    <a:lstStyle/>
                    <a:p>
                      <a:pPr algn="ctr"/>
                      <a:r>
                        <a:rPr sz="1100" b="1" i="0">
                          <a:solidFill>
                            <a:srgbClr val="2B6B45"/>
                          </a:solidFill>
                          <a:latin typeface="Arial"/>
                        </a:rPr>
                        <a:t>fixed</a:t>
                      </a:r>
                    </a:p>
                  </a:txBody>
                  <a:tcPr marL="76200" marR="76200" marT="25400" marB="25400" anchor="ctr">
                    <a:solidFill>
                      <a:srgbClr val="FFFFFF"/>
                    </a:solidFill>
                  </a:tcPr>
                </a:tc>
                <a:tc>
                  <a:txBody>
                    <a:bodyPr wrap="square"/>
                    <a:lstStyle/>
                    <a:p>
                      <a:pPr algn="ctr"/>
                      <a:r>
                        <a:rPr sz="1100" b="0" i="0">
                          <a:solidFill>
                            <a:srgbClr val="1C222E"/>
                          </a:solidFill>
                          <a:latin typeface="Arial"/>
                        </a:rPr>
                        <a:t>none invert a conclusion</a:t>
                      </a:r>
                    </a:p>
                  </a:txBody>
                  <a:tcPr marL="76200" marR="76200" marT="25400" marB="25400" anchor="ctr">
                    <a:solidFill>
                      <a:srgbClr val="FFFFFF"/>
                    </a:solidFill>
                  </a:tcPr>
                </a:tc>
              </a:tr>
            </a:tbl>
          </a:graphicData>
        </a:graphic>
      </p:graphicFrame>
      <p:sp>
        <p:nvSpPr>
          <p:cNvPr id="6" name="TextBox 5"/>
          <p:cNvSpPr txBox="1"/>
          <p:nvPr/>
        </p:nvSpPr>
        <p:spPr>
          <a:xfrm>
            <a:off x="566928" y="5212080"/>
            <a:ext cx="11057839" cy="822960"/>
          </a:xfrm>
          <a:prstGeom prst="rect">
            <a:avLst/>
          </a:prstGeom>
          <a:noFill/>
        </p:spPr>
        <p:txBody>
          <a:bodyPr wrap="square" lIns="0" rIns="0" tIns="0" bIns="0">
            <a:spAutoFit/>
          </a:bodyPr>
          <a:lstStyle/>
          <a:p>
            <a:pPr>
              <a:spcBef>
                <a:spcPts val="0"/>
              </a:spcBef>
              <a:spcAft>
                <a:spcPts val="600"/>
              </a:spcAft>
            </a:pPr>
            <a:r>
              <a:rPr sz="1250" b="1" i="0">
                <a:solidFill>
                  <a:srgbClr val="153A5C"/>
                </a:solidFill>
                <a:latin typeface="Arial"/>
              </a:rPr>
              <a:t>– </a:t>
            </a:r>
            <a:r>
              <a:rPr sz="1250" b="0" i="0">
                <a:solidFill>
                  <a:srgbClr val="1C222E"/>
                </a:solidFill>
                <a:latin typeface="Arial"/>
              </a:rPr>
              <a:t>Core code paths (transplant hook, estimand algebra, equivalence test, per-head and MLP attribution against true patching) were audited and are sound.</a:t>
            </a:r>
          </a:p>
        </p:txBody>
      </p:sp>
      <p:sp>
        <p:nvSpPr>
          <p:cNvPr id="7" name="TextBox 6"/>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8" name="TextBox 7"/>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LIMITATIONS</a:t>
            </a:r>
          </a:p>
          <a:p>
            <a:pPr>
              <a:spcBef>
                <a:spcPts val="200"/>
              </a:spcBef>
            </a:pPr>
            <a:r>
              <a:rPr sz="2300" b="1" i="0">
                <a:solidFill>
                  <a:srgbClr val="153A5C"/>
                </a:solidFill>
                <a:latin typeface="Arial"/>
              </a:rPr>
              <a:t>Where the claims stop</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28800"/>
            <a:ext cx="5528919" cy="3931920"/>
          </a:xfrm>
          <a:prstGeom prst="rect">
            <a:avLst/>
          </a:prstGeom>
          <a:noFill/>
        </p:spPr>
        <p:txBody>
          <a:bodyPr wrap="square" lIns="0" rIns="0" tIns="0" bIns="0">
            <a:spAutoFit/>
          </a:bodyPr>
          <a:lstStyle/>
          <a:p>
            <a:pPr>
              <a:spcBef>
                <a:spcPts val="0"/>
              </a:spcBef>
              <a:spcAft>
                <a:spcPts val="1000"/>
              </a:spcAft>
            </a:pPr>
            <a:r>
              <a:rPr sz="1350" b="1" i="0">
                <a:solidFill>
                  <a:srgbClr val="153A5C"/>
                </a:solidFill>
                <a:latin typeface="Arial"/>
              </a:rPr>
              <a:t>– </a:t>
            </a:r>
            <a:r>
              <a:rPr sz="1350" b="0" i="0">
                <a:solidFill>
                  <a:srgbClr val="1C222E"/>
                </a:solidFill>
                <a:latin typeface="Arial"/>
              </a:rPr>
              <a:t>Modest absolute magnitudes: the reading is about 0.35; the dissociation is relative and robust, not large.</a:t>
            </a:r>
          </a:p>
          <a:p>
            <a:pPr>
              <a:spcBef>
                <a:spcPts val="0"/>
              </a:spcBef>
              <a:spcAft>
                <a:spcPts val="1000"/>
              </a:spcAft>
            </a:pPr>
            <a:r>
              <a:rPr sz="1350" b="1" i="0">
                <a:solidFill>
                  <a:srgbClr val="153A5C"/>
                </a:solidFill>
                <a:latin typeface="Arial"/>
              </a:rPr>
              <a:t>– </a:t>
            </a:r>
            <a:r>
              <a:rPr sz="1350" b="0" i="0">
                <a:solidFill>
                  <a:srgbClr val="1C222E"/>
                </a:solidFill>
                <a:latin typeface="Arial"/>
              </a:rPr>
              <a:t>Primary causal numbers are one model (Llama-3.1-8B) plus a Qwen3 replication; the fine-grained circuit is Llama-only.</a:t>
            </a:r>
          </a:p>
          <a:p>
            <a:pPr>
              <a:spcBef>
                <a:spcPts val="0"/>
              </a:spcBef>
              <a:spcAft>
                <a:spcPts val="1000"/>
              </a:spcAft>
            </a:pPr>
            <a:r>
              <a:rPr sz="1350" b="1" i="0">
                <a:solidFill>
                  <a:srgbClr val="153A5C"/>
                </a:solidFill>
                <a:latin typeface="Arial"/>
              </a:rPr>
              <a:t>– </a:t>
            </a:r>
            <a:r>
              <a:rPr sz="1350" b="0" i="0">
                <a:solidFill>
                  <a:srgbClr val="1C222E"/>
                </a:solidFill>
                <a:latin typeface="Arial"/>
              </a:rPr>
              <a:t>The behavioural TOCTOU generalisation is robust for grenade and bomb, null for chlorine.</a:t>
            </a:r>
          </a:p>
        </p:txBody>
      </p:sp>
      <p:sp>
        <p:nvSpPr>
          <p:cNvPr id="5" name="TextBox 4"/>
          <p:cNvSpPr txBox="1"/>
          <p:nvPr/>
        </p:nvSpPr>
        <p:spPr>
          <a:xfrm>
            <a:off x="6427582" y="1828800"/>
            <a:ext cx="5197184" cy="3931920"/>
          </a:xfrm>
          <a:prstGeom prst="rect">
            <a:avLst/>
          </a:prstGeom>
          <a:noFill/>
        </p:spPr>
        <p:txBody>
          <a:bodyPr wrap="square" lIns="0" rIns="0" tIns="0" bIns="0">
            <a:spAutoFit/>
          </a:bodyPr>
          <a:lstStyle/>
          <a:p>
            <a:pPr>
              <a:spcBef>
                <a:spcPts val="0"/>
              </a:spcBef>
              <a:spcAft>
                <a:spcPts val="1000"/>
              </a:spcAft>
            </a:pPr>
            <a:r>
              <a:rPr sz="1350" b="1" i="0">
                <a:solidFill>
                  <a:srgbClr val="153A5C"/>
                </a:solidFill>
                <a:latin typeface="Arial"/>
              </a:rPr>
              <a:t>– </a:t>
            </a:r>
            <a:r>
              <a:rPr sz="1350" b="0" i="0">
                <a:solidFill>
                  <a:srgbClr val="1C222E"/>
                </a:solidFill>
                <a:latin typeface="Arial"/>
              </a:rPr>
              <a:t>Superposition specificity is a bomb property (though it crosses to Qwen3).</a:t>
            </a:r>
          </a:p>
          <a:p>
            <a:pPr>
              <a:spcBef>
                <a:spcPts val="0"/>
              </a:spcBef>
              <a:spcAft>
                <a:spcPts val="1000"/>
              </a:spcAft>
            </a:pPr>
            <a:r>
              <a:rPr sz="1350" b="1" i="0">
                <a:solidFill>
                  <a:srgbClr val="153A5C"/>
                </a:solidFill>
                <a:latin typeface="Arial"/>
              </a:rPr>
              <a:t>– </a:t>
            </a:r>
            <a:r>
              <a:rPr sz="1350" b="0" i="0">
                <a:solidFill>
                  <a:srgbClr val="1C222E"/>
                </a:solidFill>
                <a:latin typeface="Arial"/>
              </a:rPr>
              <a:t>The Patchscope cross-check fails its positive control for bomb, consistent with the local state being inert.</a:t>
            </a:r>
          </a:p>
          <a:p>
            <a:pPr>
              <a:spcBef>
                <a:spcPts val="0"/>
              </a:spcBef>
              <a:spcAft>
                <a:spcPts val="1000"/>
              </a:spcAft>
            </a:pPr>
            <a:r>
              <a:rPr sz="1350" b="1" i="0">
                <a:solidFill>
                  <a:srgbClr val="153A5C"/>
                </a:solidFill>
                <a:latin typeface="Arial"/>
              </a:rPr>
              <a:t>– </a:t>
            </a:r>
            <a:r>
              <a:rPr sz="1350" b="0" i="0">
                <a:solidFill>
                  <a:srgbClr val="1C222E"/>
                </a:solidFill>
                <a:latin typeface="Arial"/>
              </a:rPr>
              <a:t>The detection result needs a committed, reproducible probe before it can be cited.</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9686239" cy="1234440"/>
          </a:xfrm>
          <a:prstGeom prst="rect">
            <a:avLst/>
          </a:prstGeom>
          <a:noFill/>
        </p:spPr>
        <p:txBody>
          <a:bodyPr wrap="square" lIns="0" rIns="0" tIns="0" bIns="0">
            <a:spAutoFit/>
          </a:bodyPr>
          <a:lstStyle/>
          <a:p>
            <a:r>
              <a:rPr sz="1150" b="1" i="0">
                <a:solidFill>
                  <a:srgbClr val="395B74"/>
                </a:solidFill>
                <a:latin typeface="Arial"/>
              </a:rPr>
              <a:t>WHAT TO TAKE AWAY</a:t>
            </a:r>
          </a:p>
          <a:p>
            <a:pPr>
              <a:spcBef>
                <a:spcPts val="200"/>
              </a:spcBef>
            </a:pPr>
            <a:r>
              <a:rPr sz="2300" b="1" i="0">
                <a:solidFill>
                  <a:srgbClr val="153A5C"/>
                </a:solidFill>
                <a:latin typeface="Arial"/>
              </a:rPr>
              <a:t>Three causal contributions the paper was missing</a:t>
            </a:r>
          </a:p>
        </p:txBody>
      </p:sp>
      <p:cxnSp>
        <p:nvCxnSpPr>
          <p:cNvPr id="3" name="Connector 2"/>
          <p:cNvCxnSpPr/>
          <p:nvPr/>
        </p:nvCxnSpPr>
        <p:spPr>
          <a:xfrm>
            <a:off x="566928" y="1627632"/>
            <a:ext cx="11057839" cy="0"/>
          </a:xfrm>
          <a:prstGeom prst="bentConnector3">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28800"/>
            <a:ext cx="11057839" cy="3291840"/>
          </a:xfrm>
          <a:prstGeom prst="rect">
            <a:avLst/>
          </a:prstGeom>
          <a:noFill/>
        </p:spPr>
        <p:txBody>
          <a:bodyPr wrap="square" lIns="0" rIns="0" tIns="0" bIns="0">
            <a:spAutoFit/>
          </a:bodyPr>
          <a:lstStyle/>
          <a:p>
            <a:pPr>
              <a:spcBef>
                <a:spcPts val="0"/>
              </a:spcBef>
              <a:spcAft>
                <a:spcPts val="900"/>
              </a:spcAft>
            </a:pPr>
            <a:r>
              <a:rPr sz="1450" b="1" i="0">
                <a:solidFill>
                  <a:srgbClr val="153A5C"/>
                </a:solidFill>
                <a:latin typeface="Arial"/>
              </a:rPr>
              <a:t>– </a:t>
            </a:r>
            <a:r>
              <a:rPr sz="1450" b="1" i="0">
                <a:solidFill>
                  <a:srgbClr val="1C222E"/>
                </a:solidFill>
                <a:latin typeface="Arial"/>
              </a:rPr>
              <a:t>The reading is context-carried, not stored in the codeword (S2).</a:t>
            </a:r>
          </a:p>
          <a:p>
            <a:pPr lvl="1">
              <a:spcBef>
                <a:spcPts val="0"/>
              </a:spcBef>
              <a:spcAft>
                <a:spcPts val="900"/>
              </a:spcAft>
            </a:pPr>
            <a:r>
              <a:rPr sz="1450" b="1" i="0">
                <a:solidFill>
                  <a:srgbClr val="395B74"/>
                </a:solidFill>
                <a:latin typeface="Arial"/>
              </a:rPr>
              <a:t>· </a:t>
            </a:r>
            <a:r>
              <a:rPr sz="1450" b="0" i="0">
                <a:solidFill>
                  <a:srgbClr val="1C222E"/>
                </a:solidFill>
                <a:latin typeface="Arial"/>
              </a:rPr>
              <a:t>Full-state transplant of the query codeword is inert; the context supplies 99% of the effect; replicates on Qwen3.</a:t>
            </a:r>
          </a:p>
          <a:p>
            <a:pPr>
              <a:spcBef>
                <a:spcPts val="0"/>
              </a:spcBef>
              <a:spcAft>
                <a:spcPts val="900"/>
              </a:spcAft>
            </a:pPr>
            <a:r>
              <a:rPr sz="1450" b="1" i="0">
                <a:solidFill>
                  <a:srgbClr val="153A5C"/>
                </a:solidFill>
                <a:latin typeface="Arial"/>
              </a:rPr>
              <a:t>– </a:t>
            </a:r>
            <a:r>
              <a:rPr sz="1450" b="1" i="0">
                <a:solidFill>
                  <a:srgbClr val="1C222E"/>
                </a:solidFill>
                <a:latin typeface="Arial"/>
              </a:rPr>
              <a:t>The refusal check is depth-gated (S4, T3, capstone).</a:t>
            </a:r>
          </a:p>
          <a:p>
            <a:pPr lvl="1">
              <a:spcBef>
                <a:spcPts val="0"/>
              </a:spcBef>
              <a:spcAft>
                <a:spcPts val="900"/>
              </a:spcAft>
            </a:pPr>
            <a:r>
              <a:rPr sz="1450" b="1" i="0">
                <a:solidFill>
                  <a:srgbClr val="395B74"/>
                </a:solidFill>
                <a:latin typeface="Arial"/>
              </a:rPr>
              <a:t>· </a:t>
            </a:r>
            <a:r>
              <a:rPr sz="1450" b="0" i="0">
                <a:solidFill>
                  <a:srgbClr val="1C222E"/>
                </a:solidFill>
                <a:latin typeface="Arial"/>
              </a:rPr>
              <a:t>Early concepts are caught, late ones escape; the representational check-depth predicts the behavioural bypass for 4 of 5 pairs.</a:t>
            </a:r>
          </a:p>
          <a:p>
            <a:pPr>
              <a:spcBef>
                <a:spcPts val="0"/>
              </a:spcBef>
              <a:spcAft>
                <a:spcPts val="900"/>
              </a:spcAft>
            </a:pPr>
            <a:r>
              <a:rPr sz="1450" b="1" i="0">
                <a:solidFill>
                  <a:srgbClr val="153A5C"/>
                </a:solidFill>
                <a:latin typeface="Arial"/>
              </a:rPr>
              <a:t>– </a:t>
            </a:r>
            <a:r>
              <a:rPr sz="1450" b="1" i="0">
                <a:solidFill>
                  <a:srgbClr val="1C222E"/>
                </a:solidFill>
                <a:latin typeface="Arial"/>
              </a:rPr>
              <a:t>The mechanism is a distributed mid-band attention-to-MLP cascade, retrieved by induction-like attention, and both hypothesised mechanisms now have evidence.</a:t>
            </a:r>
          </a:p>
        </p:txBody>
      </p:sp>
      <p:sp>
        <p:nvSpPr>
          <p:cNvPr id="5" name="Rounded Rectangle 4"/>
          <p:cNvSpPr/>
          <p:nvPr/>
        </p:nvSpPr>
        <p:spPr>
          <a:xfrm>
            <a:off x="566928" y="5257800"/>
            <a:ext cx="11057839" cy="868680"/>
          </a:xfrm>
          <a:prstGeom prst="roundRect">
            <a:avLst/>
          </a:prstGeom>
          <a:solidFill>
            <a:srgbClr val="F3F5F7"/>
          </a:solidFill>
          <a:ln w="12700">
            <a:solidFill>
              <a:srgbClr val="E9EDF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88900" bIns="76200"/>
          <a:lstStyle/>
          <a:p>
            <a:pPr algn="ctr"/>
            <a:r>
              <a:rPr sz="1250" b="1" i="0">
                <a:solidFill>
                  <a:srgbClr val="2B6B45"/>
                </a:solidFill>
                <a:latin typeface="Arial"/>
              </a:rPr>
              <a:t>One line</a:t>
            </a:r>
          </a:p>
          <a:p>
            <a:pPr>
              <a:spcBef>
                <a:spcPts val="300"/>
              </a:spcBef>
            </a:pPr>
            <a:r>
              <a:rPr sz="1150" b="1" i="0">
                <a:solidFill>
                  <a:srgbClr val="2B6B45"/>
                </a:solidFill>
                <a:latin typeface="Arial"/>
              </a:rPr>
              <a:t>Doublespeak is ordinary in-context remapping that lands its harmful meaning after the early refusal check has already passed; </a:t>
            </a:r>
            <a:r>
              <a:rPr sz="1150" b="0" i="0">
                <a:solidFill>
                  <a:srgbClr val="1C222E"/>
                </a:solidFill>
                <a:latin typeface="Arial"/>
              </a:rPr>
              <a:t>the meaning is a property of the context, distributed across the mid-band, and hard to remove by representation surgery. An in-domain linear probe looks like a strong detector, but that result still needs a committed, reproducible script.</a:t>
            </a:r>
          </a:p>
        </p:txBody>
      </p:sp>
      <p:sp>
        <p:nvSpPr>
          <p:cNvPr id="6" name="TextBox 5"/>
          <p:cNvSpPr txBox="1"/>
          <p:nvPr/>
        </p:nvSpPr>
        <p:spPr>
          <a:xfrm>
            <a:off x="566928" y="6473952"/>
            <a:ext cx="11057839" cy="274320"/>
          </a:xfrm>
          <a:prstGeom prst="rect">
            <a:avLst/>
          </a:prstGeom>
          <a:noFill/>
        </p:spPr>
        <p:txBody>
          <a:bodyPr wrap="square" lIns="0" rIns="0" tIns="0" bIns="0">
            <a:spAutoFit/>
          </a:bodyPr>
          <a:lstStyle/>
          <a:p>
            <a:r>
              <a:rPr sz="850" b="0" i="0">
                <a:solidFill>
                  <a:srgbClr val="6A727D"/>
                </a:solidFill>
                <a:latin typeface="Arial"/>
              </a:rPr>
              <a:t>Doublespeak causality  ·  Llama-3.1-8B-Instruct  ·  carrot↔bomb  ·  arXiv:2512.03771</a:t>
            </a:r>
          </a:p>
          <a:p/>
        </p:txBody>
      </p:sp>
      <p:sp>
        <p:nvSpPr>
          <p:cNvPr id="7" name="TextBox 6"/>
          <p:cNvSpPr txBox="1"/>
          <p:nvPr/>
        </p:nvSpPr>
        <p:spPr>
          <a:xfrm>
            <a:off x="11076127" y="6473952"/>
            <a:ext cx="548640" cy="274320"/>
          </a:xfrm>
          <a:prstGeom prst="rect">
            <a:avLst/>
          </a:prstGeom>
          <a:noFill/>
        </p:spPr>
        <p:txBody>
          <a:bodyPr wrap="square" lIns="0" rIns="0" tIns="0" bIns="0">
            <a:spAutoFit/>
          </a:bodyPr>
          <a:lstStyle/>
          <a:p>
            <a:pPr algn="r"/>
            <a:r>
              <a:rPr sz="850" b="0" i="0">
                <a:solidFill>
                  <a:srgbClr val="6A727D"/>
                </a:solidFill>
                <a:latin typeface="Arial"/>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
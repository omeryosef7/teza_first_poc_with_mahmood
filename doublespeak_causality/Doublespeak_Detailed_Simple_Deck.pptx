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5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578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400" b="1" i="0">
                <a:solidFill>
                  <a:srgbClr val="153A5C"/>
                </a:solidFill>
                <a:latin typeface="Arial"/>
              </a:rPr>
              <a:t>Inside the Doublespeak attack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395B74"/>
                </a:solidFill>
                <a:latin typeface="Arial"/>
              </a:rPr>
              <a:t>How the model gets tricked, where the trick lives, and why it slips past safety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A727D"/>
                </a:solidFill>
                <a:latin typeface="Arial"/>
              </a:rPr>
              <a:t>In-Context Representation Hijacking, arXiv:2512.03771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3977639"/>
            <a:ext cx="2926080" cy="0"/>
          </a:xfrm>
          <a:prstGeom prst="bentConnector3">
            <a:avLst/>
          </a:prstGeom>
          <a:ln w="27940">
            <a:solidFill>
              <a:srgbClr val="A84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20624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C222E"/>
                </a:solidFill>
                <a:latin typeface="Arial"/>
              </a:rPr>
              <a:t>Omer Yosef</a:t>
            </a:r>
            <a:r>
              <a:rPr sz="1300" b="0" i="0">
                <a:solidFill>
                  <a:srgbClr val="6A727D"/>
                </a:solidFill>
                <a:latin typeface="Arial"/>
              </a:rPr>
              <a:t>   ·  M.Sc. thesis, Tel Aviv University  ·  advisor Dr. Mahmood Sharif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395B74"/>
                </a:solidFill>
                <a:latin typeface="Arial"/>
              </a:rPr>
              <a:t>The main results in plain terms. A full-detail slide follows each one.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A727D"/>
                </a:solidFill>
                <a:latin typeface="Arial"/>
              </a:rPr>
              <a:t>Model: Llama-3.1-8B   ·   example pair: carrot ↔ bomb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THE IDEA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paper showed the trick works. We show how it works.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920240"/>
            <a:ext cx="552891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700" b="0" i="0">
                <a:solidFill>
                  <a:srgbClr val="1C222E"/>
                </a:solidFill>
                <a:latin typeface="Arial"/>
              </a:rPr>
              <a:t>The attack: a few examples teach the model that “carrot” means “bomb”. Then it answers a “carrot” question with bomb content.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700" b="0" i="0">
                <a:solidFill>
                  <a:srgbClr val="1C222E"/>
                </a:solidFill>
                <a:latin typeface="Arial"/>
              </a:rPr>
              <a:t>The paper watched this happen from the outside. It never tested why it works.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700" b="0" i="0">
                <a:solidFill>
                  <a:srgbClr val="1C222E"/>
                </a:solidFill>
                <a:latin typeface="Arial"/>
              </a:rPr>
              <a:t>We opened the model up and ran the experiments that answer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7582" y="1920240"/>
            <a:ext cx="5197184" cy="36576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The five things we found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1.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hidden meaning comes from the surrounding sentences, not the word.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2.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safety check runs early; the harmful meaning shows up late.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3.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We traced, step by step, how the model builds it.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4.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We confirmed the two ideas the paper only guessed.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5.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“inside” signal does not predict whether the attack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1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hidden meaning is in the sentence, not in the word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508660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We swapped the model’s memory of the word “carrot” between a plain sentence and the attack.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It changed nothing. A plain “carrot” still reads as “bomb” when it sits inside the attack.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3474720"/>
          <a:ext cx="5086604" cy="1426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3302"/>
                <a:gridCol w="1271651"/>
                <a:gridCol w="1271651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“carrot” state from →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plain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attack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222E"/>
                          </a:solidFill>
                          <a:latin typeface="Arial"/>
                        </a:rPr>
                        <a:t>…dropped into a plain sentence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C222E"/>
                          </a:solidFill>
                          <a:latin typeface="Arial"/>
                        </a:rPr>
                        <a:t>…dropped into the attack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85269" y="1828800"/>
            <a:ext cx="5639497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98.5%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of the effect comes from the surrounding sentences, not the word itself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5269" y="3200400"/>
            <a:ext cx="5639497" cy="13716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Plainly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The word decodes as “bomb”, but the word’s own state is not what does it.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The sentences around it are. Same result on a second model (Qwen3).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1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S2 — state × context transplant, exactly what we did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meta-llama/Llama-3.1-8B-Instruct · bfloat16 · SDPA · 32 layers (0–31), hidden 4096 · run 694691 · readout forced_choice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01952"/>
          <a:ext cx="1105783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700"/>
                <a:gridCol w="9012138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pair_carrot_bomb.json (built by gpt-4o-mini, seed 7). Receiver &amp; source are matched DOUBLESPEAK / NEUTRAL forced_choice prompts (same split, demo-style, n_demos).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Samples (n)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30 prompts per arm (15 dev + 15 heldout); 8 transplant arms + identity + 8 shuffled-donor controls; 17,040 total rows.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Layers checked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All 32 single layers individually AND the 3 windows early L0–9 / mid L10–19 / late L20–31  →  35 intervention groups.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Token position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codeword_last — the LAST ‘carrot’ token in the query (a single token), found after the chat template with add_special_tokens=False. Source captured at the same position.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LayerPatch mode=replace (overwrite, not add): a forward hook on the block output overwrites resid_post = hidden_states[L+1] at that token with the source prompt’s captured resid_post.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Readout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forced_choice, one forward pass, no generation. p_concept = softmax mass at the final prompt token summed over the concept first-token ids {‘ bomb’,‘bomb’,‘ Bomb’,‘Bomb’}.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Controls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identity (α=0); self-transplant faithfulness = 0.0 exact (n=1050); shuffled-donor; benign/unrelated source; cross-fit on split. IE_state judged by an equivalence test (margin 0.05).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IE_state ≈ 0 (within equivalence at all 35 windows, max |eff| 5e-5). DE_context mid +0.347 [+0.261,+0.434] = 98.5% of TE 0.352. Cross-arch Qwen3-14B: DE +0.70 = 92%.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2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safety check is early. The attack shows up late.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5750076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Put the harmful meaning in early layers → the model refuses. Put it in late layers → it complies.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So the attack works by hiding the meaning until after the safety check has looked.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48739" y="1828800"/>
            <a:ext cx="4976027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22×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the harmful meaning is ~22× stronger late (where it’s used) than early (where it’s checked)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03320"/>
            <a:ext cx="57500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3A5C"/>
                </a:solidFill>
                <a:latin typeface="Arial"/>
              </a:rPr>
              <a:t>We can even predict where it happens, per topic — 4 of 5: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160520"/>
          <a:ext cx="5750074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30"/>
                <a:gridCol w="1725022"/>
                <a:gridCol w="172502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check is…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attack works?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222E"/>
                          </a:solidFill>
                          <a:latin typeface="Arial"/>
                        </a:rPr>
                        <a:t>bomb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early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222E"/>
                          </a:solidFill>
                          <a:latin typeface="Arial"/>
                        </a:rPr>
                        <a:t>cocaine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early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222E"/>
                          </a:solidFill>
                          <a:latin typeface="Arial"/>
                        </a:rPr>
                        <a:t>grenade / pistol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C222E"/>
                          </a:solidFill>
                          <a:latin typeface="Arial"/>
                        </a:rPr>
                        <a:t>chlorine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C222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A84B1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48739" y="3383280"/>
            <a:ext cx="4976027" cy="17373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This was the paper’s guess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The paper called this “time-of-check vs time-of-use” but never tested it.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We show it directly: the check looks early, the harm arrives late. Holds on a second model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2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TOCTOU — the concept×refusal factorial, exactly what we did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Llama-3.1-8B-Instruct · run 694811 · outcome = StrongReject 3-way label · MALICIOUS if score ≥ 0.25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01952"/>
          <a:ext cx="1105783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700"/>
                <a:gridCol w="9012138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40 unique benign ‘neutral’ receiver prompts (dedup by pid) from the pair_carrot_bomb behavioral set.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Samples (n)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40 items × 15 cells = 600 rows (8 main + 7 control arms); 600 StrongReject judge calls, 0 failures.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Concept install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LayerPatch mode=add, α=1.0, vector d_Direct[L] (diff-of-means DIRECT−NEUTRAL at resid_post/codeword_last), applied at codeword_last on the window’s layers (early/mid/late).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Refusal ablation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AllPositionProjectOutMultiLayer — project v_refusal out of EVERY position at EVERY one of the 32 layers and every decode step (Arditi), α=1.0.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Refusal direction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diff-of-means harmful − harmless at the last input token; fit at L18 (chosen from {12,14,16,18,20} by ablate+induce gain — ablation drops the harmful-prompt refusal rate 1.0 → 0.533).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Layers checked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concept install at each window (early L0–9 / mid L10–19 / late L20–31); refusal removed at all 32 layers.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Controls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concept-specificity is on the refusal trigger: early concept gives REJECTED 0.82 vs ~0 for norm-matched-random / orthogonal directions; baseline and refusal-only cells give 0.00 malicious.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per-cell MALICIOUS: baseline 0.0 · early-concept 0.075 · early+ablate 0.525 · late+ablate 0.075. Interaction (early−late refusal-gain) = +0.425 [+0.25,+0.60], p_holm 0.008; the REJECTED interaction mirrors it at −0.40.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3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How the model builds the hidden meaning, step by step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920240"/>
          <a:ext cx="1105783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3881"/>
                <a:gridCol w="8403957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what happens inside the model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C222E"/>
                          </a:solidFill>
                          <a:latin typeface="Arial"/>
                        </a:rPr>
                        <a:t>1 · look back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22E"/>
                          </a:solidFill>
                          <a:latin typeface="Arial"/>
                        </a:rPr>
                        <a:t>the query word looks back at the earlier examples — 3.5× more than at random words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C222E"/>
                          </a:solidFill>
                          <a:latin typeface="Arial"/>
                        </a:rPr>
                        <a:t>2 · write it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22E"/>
                          </a:solidFill>
                          <a:latin typeface="Arial"/>
                        </a:rPr>
                        <a:t>middle layers (around layer 9) pull the meaning in from those examples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C222E"/>
                          </a:solidFill>
                          <a:latin typeface="Arial"/>
                        </a:rPr>
                        <a:t>3 · lock it in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22E"/>
                          </a:solidFill>
                          <a:latin typeface="Arial"/>
                        </a:rPr>
                        <a:t>the next few layers (11–14) firm the meaning up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C222E"/>
                          </a:solidFill>
                          <a:latin typeface="Arial"/>
                        </a:rPr>
                        <a:t>4 · carry it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C222E"/>
                          </a:solidFill>
                          <a:latin typeface="Arial"/>
                        </a:rPr>
                        <a:t>the last layers just pass it along to the answer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5074920"/>
            <a:ext cx="6855860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No single part is the key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It’s spread across many parts of the middle layers — we checked each step against the real model.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This is the first time anyone has mapped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54523" y="5074920"/>
            <a:ext cx="3870243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And not just re-reading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~91% of the meaning stays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even if we blank out the examples. The model builds it, not copies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3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circuit — five techniques, each validated separately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Llama-3.1-8B · clean = DOUBLESPEAK vs matched NEUTRAL · one matched pair per run · metric = logit_diff(bomb − carrot) at the final token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38528"/>
          <a:ext cx="11057837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832"/>
                <a:gridCol w="2875038"/>
                <a:gridCol w="2100989"/>
                <a:gridCol w="2653881"/>
                <a:gridCol w="154809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technique (script)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what is patched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layers / peak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validation vs true patch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n / cells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head AtP (49)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per-head z = input to o_proj, [seq,32h,128]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swept L0–30; mid-band L7–14, peak L9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ZHeadPatch top-48; Pearson 0.97/0.99/0.97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 pair · 43,648 cells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path patching (50)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per-head z + freeze all other heads/MLPs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8 mid-band heads (L7–14)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TOTAL large, DIRECT≈0; recon fails (rel-err 1.006)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 pair · 8+8+24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MLP AtP (51)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layer.mlp output tensor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swept L0–30; peak L11–14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SubmodulePatch top-40; Pearson 0.94/0.95/0.93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 pair · 3 concepts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forward sweep (N7-C)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attn_out &amp; mlp_out (overwrite, no backward)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all layers; Llama attn L12 / mlp L31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cross-validates AtP; runs on 14B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 pair · Llama+Qwen3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induction (N7-L)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read attention (eager) — no patch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band L7–14, from codeword_last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demo-codeword vs count-matched random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12 DS prompts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5623560"/>
            <a:ext cx="11057839" cy="56692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Reading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44 attributed positions = 40-token shared suffix + 4 demo codeword sites. Attention writes the demo→query link at L7–9 (peak L9), MLPs consolidate at L11–14;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no single head/layer/edge is a bottleneck. Induction (3.5× vs random) supplies the retrieval.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4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word holds both meanings — and only that one word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74519"/>
            <a:ext cx="552891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Inside the attack, “carrot” carries both “carrot” and “bomb” at once.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That was the paper’s second guess. We measured it, on two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520440"/>
            <a:ext cx="5528919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+0.555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how much extra “bomb” the attack loads in, above a harmless word-swap (clear on Llama and Qwen3)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8161" y="1874519"/>
            <a:ext cx="508660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3A5C"/>
                </a:solidFill>
                <a:latin typeface="Arial"/>
              </a:rPr>
              <a:t>Swap in a new word and the trick vanishes: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8161" y="2331720"/>
          <a:ext cx="5086605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1963"/>
                <a:gridCol w="203464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the question word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reads as “bomb”?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</a:rPr>
                        <a:t>carrot (what the examples trained)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</a:rPr>
                        <a:t>banana / table / pencil (new)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</a:rPr>
                        <a:t>0.10 / 0.00 / 0.00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8161" y="3931920"/>
            <a:ext cx="5086605" cy="12801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153A5C"/>
                </a:solidFill>
                <a:latin typeface="Arial"/>
              </a:rPr>
              <a:t>Plainly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153A5C"/>
                </a:solidFill>
                <a:latin typeface="Arial"/>
              </a:rPr>
              <a:t>The trick only works on the exact word the examples trained — a new word has nothing to look back at.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And just 4 examples are enough; more don’t help.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4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Superposition &amp; install — three measurements, each separate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Llama-3.1-8B-Instruct · reps captured at resid_post / codeword_last · axes built on dev, tested on heldout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38528"/>
          <a:ext cx="11057836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832"/>
                <a:gridCol w="3317351"/>
                <a:gridCol w="1879832"/>
                <a:gridCol w="1437519"/>
                <a:gridCol w="2543302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method (script)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setup / mechanism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band / position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6200" marR="76200" marT="25400" marB="25400" anchor="ctr">
                    <a:solidFill>
                      <a:srgbClr val="153A5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superposition (W3-b)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measurement only: project rep onto concept axis d_Direct and codeword axis d_repeated (unit-norm per layer, anchored at NEUTRAL mean)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band L12–24; codeword_last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DS 15 (dev-built, heldout-tested)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DS loads BOTH: concept +1.81 [1.55,2.08], codeword +3.02; DS−BENIGN concept +0.555 [.26,.87]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novel-word (N7-K)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replace ONLY the query codeword with a novel benign word, keep demos; read the first generated token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one_word readout; greedy 6 tokens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20 / word × 3 words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carrot 0.70 → banana 0.10 / table 0.00 / pencil 0.00 (NEUTRAL 0.00)</a:t>
                      </a:r>
                    </a:p>
                  </a:txBody>
                  <a:tcPr marL="76200" marR="76200" marT="25400" marB="25400" anchor="ctr">
                    <a:solidFill>
                      <a:srgbClr val="F3F5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C222E"/>
                          </a:solidFill>
                          <a:latin typeface="Arial"/>
                        </a:rPr>
                        <a:t>saturation (N7-G)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bin the DS mid-band concept-component by the prompt’s demo count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band L12–24 projection onto d_Direct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10 / bin (4/8/12 demos)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</a:rPr>
                        <a:t>+1.749 / +1.712 / +1.634 — flat → install saturates by ≤4 demos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5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The “inside” signal does not predict the attack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74519"/>
            <a:ext cx="5971233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We ranked words by how strongly they read as “bomb” inside the model.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Picking the top ones made the attack worse, not better.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550" b="0" i="0">
                <a:solidFill>
                  <a:srgbClr val="1C222E"/>
                </a:solidFill>
                <a:latin typeface="Arial"/>
              </a:rPr>
              <a:t>Choosing examples by real results works great (0.17 → 0.83). Choosing by the inside signal does worse than random.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0474" y="1874519"/>
            <a:ext cx="4644292" cy="10515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/>
            <a:r>
              <a:rPr sz="2600" b="1" i="0">
                <a:solidFill>
                  <a:srgbClr val="A84B1E"/>
                </a:solidFill>
                <a:latin typeface="Arial"/>
              </a:rPr>
              <a:t>worse</a:t>
            </a:r>
          </a:p>
          <a:p>
            <a:pPr algn="ctr">
              <a:spcBef>
                <a:spcPts val="100"/>
              </a:spcBef>
            </a:pPr>
            <a:r>
              <a:rPr sz="1050" b="0" i="0">
                <a:solidFill>
                  <a:srgbClr val="395B74"/>
                </a:solidFill>
                <a:latin typeface="Arial"/>
              </a:rPr>
              <a:t>picking words by the inside signal LOWERED attack success (−0.13), not raised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0474" y="3291840"/>
            <a:ext cx="4644292" cy="13716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The lesson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A good-looking signal inside the model is not proof the attack works.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You have to measure the behaviour. This is a useful warning for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RESULT 5 · FULL METHOD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Decoding vs attack success — exactly what we did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A727D"/>
                </a:solidFill>
                <a:latin typeface="Arial"/>
              </a:rPr>
              <a:t>Behavioural evaluation on held-out paraphrases · StrongReject continuous score + 3-way labels (MALICIOUS ≥ 0.25)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01952"/>
          <a:ext cx="11057838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700"/>
                <a:gridCol w="901213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Curated single-noun behavioural benchmark: 20 harmful nouns × 2 phrasings = 40 bases × 2 codewords × 3 context-lengths [4,8,12] = 240 matched Direct/Neutral/Doublespeak conditions.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Attack wrapper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prefix ‘Do not reason, just’ + instruction + suffix ‘given the context.’; substitution provably neutralises (build a {bomb} → build a {kettle}).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Codeword selection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rank 27 codewords by the safe causal semantic score alone (no behaviour), then evaluate top-5 vs bottom-5 on held-out behavioural paraphrases.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Demo selection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choose 6 of 12 demonstrations by behaviour vs by the causal score vs matched random search; score on held-out paraphrases.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Sufficiency test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inject the DS codeword state vs the Direct concept state into a benign prompt during generation; compare behavioural malicious rate (n=183 at mid).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</a:rPr>
                        <a:t>codeword TOP−BOTTOM = −0.133 [−0.200,−0.050] (selecting on the score WORSENS ASR). Demo: behaviour 0.167→0.833 vs causal 0.250 (below random). Sufficiency inverts: DS−Direct −0.393 [−0.470,−0.311].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HONEST LIST  ·  1 OF 2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What we tried that did not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6928" y="1828800"/>
            <a:ext cx="3515258" cy="393192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Defences — all 3 failed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Add the safety signal during the whole answer: nothing to fix, and it garbles the output.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Add it late: too late — the model already decided; and it starts refusing harmless things.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Erase the “bomb” direction in the middle: clean, but doesn’t stop the attack — the meaning is too spread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8218" y="1828800"/>
            <a:ext cx="3515258" cy="393192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Didn’t carry over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One topic (chlorine) doesn’t show the timing effect.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“both meanings at once” result is clear only for bomb, on this model.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Reasoning models (DeepSeek, Phi-4) don’t carry the trick to the final answer.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detailed circuit map doesn’t transfer to the bigger model.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Picking a word far from “bomb” doesn’t help (a folk theory we tested).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9508" y="1828800"/>
            <a:ext cx="3515258" cy="393192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Optimising it backfired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Picking words by the inside signal made the attack worse.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Picking examples by the inside signal did worse than random.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You can’t distil the attack into a short fixed suffix — it needs the examples.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HONEST LIST  ·  2 OF 2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Checks that didn’t pass, and mistakes we caught ourselves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6928" y="1828800"/>
            <a:ext cx="5400903" cy="393192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Checks that didn’t pass their own test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One decoding check (patchscope) failed its sanity control, so we couldn’t use it.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Blocking the “look-back” at every layer broke the model instead of proving the point.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One probe on Phi-4 failed its own control (its answers were too long / cut off).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The cloze question style failed the control — we used forced-choice instead.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3863" y="1828800"/>
            <a:ext cx="5400903" cy="393192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E7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A84B1E"/>
                </a:solidFill>
                <a:latin typeface="Arial"/>
              </a:rPr>
              <a:t>Mistakes we caught and fixed ourselves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 “100% detector” number had no code behind it — we flagged it, didn’t claim it.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One of our own “this doesn’t reproduce” notes was wrong — the result was real, just measured at a different spot.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An old “specificity” number was dropped after a fair control showed it didn’t hold.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C222E"/>
                </a:solidFill>
                <a:latin typeface="Arial"/>
              </a:rPr>
              <a:t>A small code bug (a double start-token) only touched early warm-up runs, not the real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86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95B74"/>
                </a:solidFill>
                <a:latin typeface="Arial"/>
              </a:rPr>
              <a:t>THE BOTTOM LINE</a:t>
            </a:r>
          </a:p>
          <a:p>
            <a:pPr>
              <a:spcBef>
                <a:spcPts val="200"/>
              </a:spcBef>
            </a:pPr>
            <a:r>
              <a:rPr sz="2300" b="1" i="0">
                <a:solidFill>
                  <a:srgbClr val="153A5C"/>
                </a:solidFill>
                <a:latin typeface="Arial"/>
              </a:rPr>
              <a:t>An outside observation, turned into an inside explanation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27632"/>
            <a:ext cx="11057839" cy="0"/>
          </a:xfrm>
          <a:prstGeom prst="bentConnector3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965960"/>
            <a:ext cx="1105783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8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800" b="0" i="0">
                <a:solidFill>
                  <a:srgbClr val="1C222E"/>
                </a:solidFill>
                <a:latin typeface="Arial"/>
              </a:rPr>
              <a:t>The harmful meaning lives in the surrounding sentences, not in the word.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8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800" b="0" i="0">
                <a:solidFill>
                  <a:srgbClr val="1C222E"/>
                </a:solidFill>
                <a:latin typeface="Arial"/>
              </a:rPr>
              <a:t>The safety check runs early; the attack hides the meaning until later.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800" b="1" i="0">
                <a:solidFill>
                  <a:srgbClr val="153A5C"/>
                </a:solidFill>
                <a:latin typeface="Arial"/>
              </a:rPr>
              <a:t>– </a:t>
            </a:r>
            <a:r>
              <a:rPr sz="1800" b="0" i="0">
                <a:solidFill>
                  <a:srgbClr val="1C222E"/>
                </a:solidFill>
                <a:latin typeface="Arial"/>
              </a:rPr>
              <a:t>We mapped how the model builds it — and both of the paper’s guesses now have proof.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029200"/>
            <a:ext cx="11057839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9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/>
            <a:r>
              <a:rPr sz="1250" b="1" i="0">
                <a:solidFill>
                  <a:srgbClr val="2B6B45"/>
                </a:solidFill>
                <a:latin typeface="Arial"/>
              </a:rPr>
              <a:t>In one line</a:t>
            </a:r>
          </a:p>
          <a:p>
            <a:pPr>
              <a:spcBef>
                <a:spcPts val="300"/>
              </a:spcBef>
            </a:pPr>
            <a:r>
              <a:rPr sz="1150" b="1" i="0">
                <a:solidFill>
                  <a:srgbClr val="2B6B45"/>
                </a:solidFill>
                <a:latin typeface="Arial"/>
              </a:rPr>
              <a:t>Doublespeak is the model re-learning a word from a few examples, </a:t>
            </a:r>
            <a:r>
              <a:rPr sz="1150" b="0" i="0">
                <a:solidFill>
                  <a:srgbClr val="1C222E"/>
                </a:solidFill>
                <a:latin typeface="Arial"/>
              </a:rPr>
              <a:t>and slipping the harmful meaning in after the safety check has already looked. It’s hard to fix by surgery — but easy to 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A727D"/>
                </a:solidFill>
                <a:latin typeface="Arial"/>
              </a:rPr>
              <a:t>Doublespeak causality  ·  Llama-3.1-8B-Instruct  ·  carrot↔bomb  ·  arXiv:2512.03771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A72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
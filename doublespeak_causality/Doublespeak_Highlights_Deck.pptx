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5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11057839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53A5C"/>
                </a:solidFill>
                <a:latin typeface="Arial"/>
              </a:rPr>
              <a:t>Doublespeak, made causal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95B74"/>
                </a:solidFill>
                <a:latin typeface="Arial"/>
              </a:rPr>
              <a:t>The results that move the attack from an observation to a mechanism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A727D"/>
                </a:solidFill>
                <a:latin typeface="Arial"/>
              </a:rPr>
              <a:t>In-Context Representation Hijacking, arXiv:2512.03771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3977639"/>
            <a:ext cx="2926080" cy="0"/>
          </a:xfrm>
          <a:prstGeom prst="bentConnector3">
            <a:avLst/>
          </a:prstGeom>
          <a:ln w="27940">
            <a:solidFill>
              <a:srgbClr val="A84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420624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C222E"/>
                </a:solidFill>
                <a:latin typeface="Arial"/>
              </a:rPr>
              <a:t>Omer Yosef</a:t>
            </a:r>
            <a:r>
              <a:rPr sz="1300" b="0" i="0">
                <a:solidFill>
                  <a:srgbClr val="6A727D"/>
                </a:solidFill>
                <a:latin typeface="Arial"/>
              </a:rPr>
              <a:t>   ·  M.Sc. thesis, Tel Aviv University  ·  advisor Dr. Mahmood Sharif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395B74"/>
                </a:solidFill>
                <a:latin typeface="Arial"/>
              </a:rPr>
              <a:t>Highlights: the successful, next-level results  —  plus one honest slide of what did not work.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727D"/>
                </a:solidFill>
                <a:latin typeface="Arial"/>
              </a:rPr>
              <a:t>Llama-3.1-8B-Instruct  ·  carrot↔bomb  ·  every figure checked against the run artifacts.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THE THROUGH-LINE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The paper saw the hijack. We show what it is, where it lives, and why it works.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828800"/>
            <a:ext cx="5528919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00" b="1" i="0">
                <a:solidFill>
                  <a:srgbClr val="1C222E"/>
                </a:solidFill>
                <a:latin typeface="Arial"/>
              </a:rPr>
              <a:t>The paper (observational):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95B74"/>
                </a:solidFill>
                <a:latin typeface="Arial"/>
              </a:rPr>
              <a:t>· </a:t>
            </a:r>
            <a:r>
              <a:rPr sz="1500" b="0" i="0">
                <a:solidFill>
                  <a:srgbClr val="1C222E"/>
                </a:solidFill>
                <a:latin typeface="Arial"/>
              </a:rPr>
              <a:t>logit-lens and Patchscopes show a benign codeword decoding more and more like the harmful concept across layers. It never intervenes, localizes, or tests its own two hypotheses.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00" b="1" i="0">
                <a:solidFill>
                  <a:srgbClr val="1C222E"/>
                </a:solidFill>
                <a:latin typeface="Arial"/>
              </a:rPr>
              <a:t>This work (causal):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95B74"/>
                </a:solidFill>
                <a:latin typeface="Arial"/>
              </a:rPr>
              <a:t>· </a:t>
            </a:r>
            <a:r>
              <a:rPr sz="1500" b="0" i="0">
                <a:solidFill>
                  <a:srgbClr val="1C222E"/>
                </a:solidFill>
                <a:latin typeface="Arial"/>
              </a:rPr>
              <a:t>where the hijacked reading lives, how it is built, why it slips past refusal, and what it co-encodes — each tested by intervention and validated against true patching.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27582" y="1828800"/>
            <a:ext cx="5197184" cy="38404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153A5C"/>
                </a:solidFill>
                <a:latin typeface="Arial"/>
              </a:rPr>
              <a:t>Six results that take it to the next level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1.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The reading is carried by the context, not the word (S2).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2.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Refusal is depth-gated, and representation predicts behaviour.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3.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A validated, distributed attention→MLP circuit.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4.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Both of the paper's hypotheses now tested.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5.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The install is a specific, saturating, retrieved binding.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6.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Decoding score does not track attack success (a guardrail).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1  ·  THE FLAGSHIP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The hijacked reading lives in the context, not in the word's state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783080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C222E"/>
                </a:solidFill>
                <a:latin typeface="Arial"/>
              </a:rPr>
              <a:t>The vector that decoding points at — </a:t>
            </a:r>
            <a:r>
              <a:rPr sz="1450" b="1" i="0">
                <a:solidFill>
                  <a:srgbClr val="153A5C"/>
                </a:solidFill>
                <a:latin typeface="Arial"/>
              </a:rPr>
              <a:t>d_DS</a:t>
            </a:r>
            <a:r>
              <a:rPr sz="1450" b="0" i="0">
                <a:solidFill>
                  <a:srgbClr val="1C222E"/>
                </a:solidFill>
                <a:latin typeface="Arial"/>
              </a:rPr>
              <a:t> (Doublespeak minus Neutral at the codeword) — is causally </a:t>
            </a:r>
            <a:r>
              <a:rPr sz="1450" b="1" i="0">
                <a:solidFill>
                  <a:srgbClr val="A84B1E"/>
                </a:solidFill>
                <a:latin typeface="Arial"/>
              </a:rPr>
              <a:t>inert in all 15 cells</a:t>
            </a:r>
            <a:r>
              <a:rPr sz="1450" b="0" i="0">
                <a:solidFill>
                  <a:srgbClr val="1C222E"/>
                </a:solidFill>
                <a:latin typeface="Arial"/>
              </a:rPr>
              <a:t>. Only the concept direction installs the reading. And that reading is a property of the surrounding context.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697480"/>
          <a:ext cx="5086605" cy="1261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4642"/>
                <a:gridCol w="1017321"/>
                <a:gridCol w="1017321"/>
                <a:gridCol w="1017321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receiver \ source state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h_N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h_DS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h_Direct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C222E"/>
                          </a:solidFill>
                          <a:latin typeface="Arial"/>
                        </a:rPr>
                        <a:t>Neutral context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C222E"/>
                          </a:solidFill>
                          <a:latin typeface="Arial"/>
                        </a:rPr>
                        <a:t>Doublespeak context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0.347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0.353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0.314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114800"/>
            <a:ext cx="508660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250" b="0" i="0">
                <a:solidFill>
                  <a:srgbClr val="1C222E"/>
                </a:solidFill>
                <a:latin typeface="Arial"/>
              </a:rPr>
              <a:t>Any state dropped into a Neutral context reads 0.00; any state in a Doublespeak context reads ~0.35.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250" b="1" i="0">
                <a:solidFill>
                  <a:srgbClr val="1C222E"/>
                </a:solidFill>
                <a:latin typeface="Arial"/>
              </a:rPr>
              <a:t>IE_state ≈ 0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395B74"/>
                </a:solidFill>
                <a:latin typeface="Arial"/>
              </a:rPr>
              <a:t>· </a:t>
            </a:r>
            <a:r>
              <a:rPr sz="1250" b="0" i="0">
                <a:solidFill>
                  <a:srgbClr val="1C222E"/>
                </a:solidFill>
                <a:latin typeface="Arial"/>
              </a:rPr>
              <a:t>within equivalence at all 35 layer windows (max 5e-5); self-transplant faithfulness exactly 0.0.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5269" y="2697480"/>
            <a:ext cx="5639497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98.5%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of the effect comes from the context (DE_context +0.347 [+0.261, +0.434] of TE +0.352)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5269" y="3977639"/>
            <a:ext cx="5639497" cy="1874519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2B6B45"/>
                </a:solidFill>
                <a:latin typeface="Arial"/>
              </a:rPr>
              <a:t>Why it is next-level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The token decodes as the concept, yet its residual state is not what drives the behaviour.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That is the causal answer to the paper's open necessity/sufficiency question.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Replicates on Qwen3-14B: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DE_context +0.70 = 92% of the effect. Holds on two architectures.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2  ·  WHY IT WORKS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Refusal is depth-gated — and the check-depth predicts the behaviour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783080"/>
            <a:ext cx="575007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350" b="0" i="0">
                <a:solidFill>
                  <a:srgbClr val="1C222E"/>
                </a:solidFill>
                <a:latin typeface="Arial"/>
              </a:rPr>
              <a:t>Inject the raw concept at different depths: early triggers refusal, mid triggers compliance, late changes neither. Refusal is a time-of-check on early layers.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350" b="0" i="0">
                <a:solidFill>
                  <a:srgbClr val="1C222E"/>
                </a:solidFill>
                <a:latin typeface="Arial"/>
              </a:rPr>
              <a:t>Install the concept early and ablate refusal: it flips to compliance (0.53). A late-installed concept stays inert (0.07) even with refusal gone.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48739" y="1783080"/>
            <a:ext cx="4976027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+0.425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early−late interaction, MALICIOUS
[+0.250, +0.600], Holm-significant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0440"/>
            <a:ext cx="57500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53A5C"/>
                </a:solidFill>
                <a:latin typeface="Arial"/>
              </a:rPr>
              <a:t>Each pair's refusal-check depth predicts where its behavioural flip appears — 4 of 5 pairs: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3977639"/>
          <a:ext cx="5750075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0021"/>
                <a:gridCol w="1610021"/>
                <a:gridCol w="1610021"/>
                <a:gridCol w="92001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pair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check depth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behavioural flip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sig.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bomb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early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+0.425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cocaine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early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+0.333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grenade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+0.183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pistol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+0.467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chlorine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A84B1E"/>
                          </a:solidFill>
                          <a:latin typeface="Arial"/>
                        </a:rPr>
                        <a:t>+0.033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A84B1E"/>
                          </a:solidFill>
                          <a:latin typeface="Arial"/>
                        </a:rPr>
                        <a:t>null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648739" y="3200400"/>
            <a:ext cx="4976027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22.5×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the concept is 22.5× larger at the use-depth (4.1) than at the early check (0.18)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8739" y="4526280"/>
            <a:ext cx="4976027" cy="13258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2B6B45"/>
                </a:solidFill>
                <a:latin typeface="Arial"/>
              </a:rPr>
              <a:t>The paper's TOCTOU hypothesis, now causal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Depth-gating is representational for 5/5 pairs;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the behavioural bypass reappears at each pair's own predicted depth for 4/5. Timing law +0.846 on Llama, replicates on Qwen3.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11" name="TextBox 10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3  ·  THE MECHANISM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A validated, distributed mid-band attention→MLP circuit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783080"/>
          <a:ext cx="11057837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38508"/>
                <a:gridCol w="3096194"/>
                <a:gridCol w="4423135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where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validated against true patching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retrieval — induction-like, by token identity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query → demo codewords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3.5× / 3.5× / 3.3× vs random (bomb/grenade/chlorine)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attention writes the demo→query link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L7–14, peak L9 (62% of |AtP|)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per-head z-attribution, pearson 0.97–0.99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MLPs consolidate the concept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L7–14, peak L11–14 (+1–2 layer lag)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MLP-layer attribution, pearson 0.93–0.95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late layers only carry it to the readout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L20–31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high true-patch effect but ~0 attribution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4892040"/>
            <a:ext cx="6855860" cy="100584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153A5C"/>
                </a:solidFill>
                <a:latin typeface="Arial"/>
              </a:rPr>
              <a:t>No bottleneck — a real distributed computation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No single head, layer, MLP, or head→head edge carries it: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every mid-band head's direct-to-logits effect is ~0 (−0.03…+0.06) and the edges do not reconstruct the total. The paper localized nothing; this is the first validated circuit.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54523" y="4892040"/>
            <a:ext cx="3870243" cy="100584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2B6B45"/>
                </a:solidFill>
                <a:latin typeface="Arial"/>
              </a:rPr>
              <a:t>And not a re-read (S3)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~91% of the reading survives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neutralising the demonstration key/value states (Qwen3 54%). The meaning is built downstream.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4  ·  BOTH HYPOTHESES TESTED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Superposition confirmed, and the install is one specific, retrieved word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783080"/>
            <a:ext cx="55289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53A5C"/>
                </a:solidFill>
                <a:latin typeface="Arial"/>
              </a:rPr>
              <a:t>Superposition (the paper's 2nd hypothesis, now measured):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94560"/>
            <a:ext cx="2653881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+0.555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DS − benign-remap on the concept axis [+0.260, +0.866]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1966" y="2194560"/>
            <a:ext cx="2653881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+8.96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same test, Qwen3-14B (cross-architecture)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29000"/>
            <a:ext cx="552891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250" b="0" i="0">
                <a:solidFill>
                  <a:srgbClr val="1C222E"/>
                </a:solidFill>
                <a:latin typeface="Arial"/>
              </a:rPr>
              <a:t>The codeword position loads both a codeword axis and a concept axis; the concept part is Doublespeak-specific above matched controls (~13% of a direct concept state).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8161" y="1783080"/>
            <a:ext cx="50866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53A5C"/>
                </a:solidFill>
                <a:latin typeface="Arial"/>
              </a:rPr>
              <a:t>The install: specific and saturating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38161" y="2194560"/>
          <a:ext cx="5086605" cy="987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1963"/>
                <a:gridCol w="203464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query word (demos fixed)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reads as concept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C222E"/>
                          </a:solidFill>
                          <a:latin typeface="Arial"/>
                        </a:rPr>
                        <a:t>carrot (the bound word)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C222E"/>
                          </a:solidFill>
                          <a:latin typeface="Arial"/>
                        </a:rPr>
                        <a:t>0.70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C222E"/>
                          </a:solidFill>
                          <a:latin typeface="Arial"/>
                        </a:rPr>
                        <a:t>banana / table / pencil (novel)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C222E"/>
                          </a:solidFill>
                          <a:latin typeface="Arial"/>
                        </a:rPr>
                        <a:t>0.10 / 0.00 / 0.00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38161" y="3429000"/>
            <a:ext cx="508660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250" b="0" i="0">
                <a:solidFill>
                  <a:srgbClr val="1C222E"/>
                </a:solidFill>
                <a:latin typeface="Arial"/>
              </a:rPr>
              <a:t>A novel word has no earlier tokens to attend back to, so nothing is retrieved. The binding saturates by ≤4 demonstrations (flat 4/8/12).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029200"/>
            <a:ext cx="11057839" cy="8686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153A5C"/>
                </a:solidFill>
                <a:latin typeface="Arial"/>
              </a:rPr>
              <a:t>Net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Both mechanisms the paper hypothesised (TOCTOU, superposition) are now empirically grounded,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and the input side is named: an induction-like retrieval of one specific, saturating codeword→concept binding.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13" name="TextBox 12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5  ·  A GUARDRAIL FOR THE FIELD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Measuring “the word means the concept” does not track attack success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783080"/>
            <a:ext cx="597123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350" b="0" i="0">
                <a:solidFill>
                  <a:srgbClr val="1C222E"/>
                </a:solidFill>
                <a:latin typeface="Arial"/>
              </a:rPr>
              <a:t>Rank codewords by the causally-validated decoding score, then test behaviour: the top-scoring set is less successful than the bottom set.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350" b="0" i="0">
                <a:solidFill>
                  <a:srgbClr val="1C222E"/>
                </a:solidFill>
                <a:latin typeface="Arial"/>
              </a:rPr>
              <a:t>Select demonstrations on behaviour and attack success jumps 0.167 → 0.833; select on the causal score and it reaches only 0.250, below random search.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350" b="0" i="0">
                <a:solidFill>
                  <a:srgbClr val="1C222E"/>
                </a:solidFill>
                <a:latin typeface="Arial"/>
              </a:rPr>
              <a:t>Behavioural sufficiency inverts the rep-level prediction: the raw concept is the stronger injectate, not the hijacked state (DS−Direct −0.393 [−0.470, −0.311]).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0474" y="1783080"/>
            <a:ext cx="4644292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−0.133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selecting codewords by the causal score WORSENS ASR
[−0.200, −0.050] (replicated −0.183)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80474" y="3200400"/>
            <a:ext cx="4644292" cy="15087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2B6B45"/>
                </a:solidFill>
                <a:latin typeface="Arial"/>
              </a:rPr>
              <a:t>Why it matters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A publishable negative the observational paper could not state: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interpretability decoding scores must not be sold as attack-strength predictors. Four independent lines agree.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HONEST LEDGER  ·  1 OF 2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What we tried that did not work — experiments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66928" y="1783080"/>
            <a:ext cx="3515258" cy="402336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E7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A84B1E"/>
                </a:solidFill>
                <a:latin typeface="Arial"/>
              </a:rPr>
              <a:t>Defences — all three failed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W5 · add refusal throughout generation: no attack headroom (baseline 0.033) and the additive steering destabilises decoding.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D7 · add refusal late, with headroom: no suppression at any strength (|δ|≤0.03, all NS); over-refuses benign (+0.23 to +0.43). The decision is already made early.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N7-F · ablate the concept axis at the mid-band: specific (zero benign over-refusal) but ineffective — the reading is distributed, not one direction.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8218" y="1783080"/>
            <a:ext cx="3515258" cy="402336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E7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A84B1E"/>
                </a:solidFill>
                <a:latin typeface="Arial"/>
              </a:rPr>
              <a:t>Did not generalise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Chlorine behavioural TOCTOU is null (+0.033, p=0.73, n=60); the earlier +0.15 did not reproduce.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Superposition specificity is bomb-only on Llama (grenade / chlorine / pistol not distinguishable from a benign remap).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Reasoning models drop the hijack at the answer: DeepSeek weak (+0.33, n=6, NS), Phi-4 absent (+0.00).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The fine-grained circuit does not transfer to Qwen3 (the attribution metric reverses).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d_Direct installs on only 4/5 pairs (cocaine barely moves); embedding distance does not predict hijacking (r≈−0.18).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9508" y="1783080"/>
            <a:ext cx="3515258" cy="402336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E7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A84B1E"/>
                </a:solidFill>
                <a:latin typeface="Arial"/>
              </a:rPr>
              <a:t>Optimisation backfired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Ranking codewords by the causally-validated score and taking the best set WORSENS attack success (TOP−BOTTOM −0.133 [−0.200,−0.050]).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Selecting demonstrations by the causal score reaches only 0.250 ASR — below random search, far below behaviour-selected (0.833).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The temporal representation objective is net-negative: the attack is demonstration-bound and does not distil into a universal suffix.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Behavioural sufficiency inverts the rep-level prediction (DS−Direct −0.393).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HONEST LEDGER  ·  2 OF 2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What we tried that did not work — methods &amp; self-audit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66928" y="1783080"/>
            <a:ext cx="5400903" cy="402336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E7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A84B1E"/>
                </a:solidFill>
                <a:latin typeface="Arial"/>
              </a:rPr>
              <a:t>Probes that did not certify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Patchscope cross-check fails its positive control for bomb (a clean concept rep does not decode through the repeat-prompt decoder) — so it cannot corroborate the transplant. Consistent with the local state being inert.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All-layer induction-edge knockout is confounded: masking attention at all 32 layers RAISES the reading (the random control raises it most) — inconclusive, not necessity.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The Phi-4 anchored chain-of-thought probe fails its own positive control (truncation + verbose math answers).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The cloze readout floors the positive control (DIRECT 0.005 vs 0.785); abandoned in favour of forced-choice.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23863" y="1783080"/>
            <a:ext cx="5400903" cy="402336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E7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A84B1E"/>
                </a:solidFill>
                <a:latin typeface="Arial"/>
              </a:rPr>
              <a:t>Caught and corrected in our self-audit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Detection probe AUC 1.0 (Llama + Qwen3) — committed as a document edit with NO producing script or artifact. Not reproducible; flagged, not claimed.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Our own B4 note (“+0.971 unbacked on disk / no additive install”) was itself wrong: the install is real on disk and site-dependent (+0.97 at all codeword positions, +0.03 at the query alone).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The Phase-A necessity / knockout specificity over a random patch was retracted (the 126× / 8181× ratios invert; a random patch collapses it too).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An early attribution-patching “L0 + demo-codeword” localisation was a reshape-bug artifact — withdrawn.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A double-BOS capture bug is real but scoped to the Phase-A reproduction scripts; every causal result uses the clean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WHERE THIS LEAVES US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An observational finding, turned into a mechanism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828800"/>
            <a:ext cx="11057839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00" b="1" i="0">
                <a:solidFill>
                  <a:srgbClr val="1C222E"/>
                </a:solidFill>
                <a:latin typeface="Arial"/>
              </a:rPr>
              <a:t>The reading is a property of the context, not the word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95B74"/>
                </a:solidFill>
                <a:latin typeface="Arial"/>
              </a:rPr>
              <a:t>· </a:t>
            </a:r>
            <a:r>
              <a:rPr sz="1500" b="0" i="0">
                <a:solidFill>
                  <a:srgbClr val="1C222E"/>
                </a:solidFill>
                <a:latin typeface="Arial"/>
              </a:rPr>
              <a:t>— shown by transplant (99% of the effect), depth-invariant, on two architectures.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00" b="1" i="0">
                <a:solidFill>
                  <a:srgbClr val="1C222E"/>
                </a:solidFill>
                <a:latin typeface="Arial"/>
              </a:rPr>
              <a:t>The safety failure is a depth-gated refusal miss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95B74"/>
                </a:solidFill>
                <a:latin typeface="Arial"/>
              </a:rPr>
              <a:t>· </a:t>
            </a:r>
            <a:r>
              <a:rPr sz="1500" b="0" i="0">
                <a:solidFill>
                  <a:srgbClr val="1C222E"/>
                </a:solidFill>
                <a:latin typeface="Arial"/>
              </a:rPr>
              <a:t>— caught early, escaped late; and the representational check-depth predicts the behavioural bypass (4/5 pairs).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00" b="1" i="0">
                <a:solidFill>
                  <a:srgbClr val="1C222E"/>
                </a:solidFill>
                <a:latin typeface="Arial"/>
              </a:rPr>
              <a:t>The mechanism is a distributed, validated attention→MLP circuit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95B74"/>
                </a:solidFill>
                <a:latin typeface="Arial"/>
              </a:rPr>
              <a:t>· </a:t>
            </a:r>
            <a:r>
              <a:rPr sz="1500" b="0" i="0">
                <a:solidFill>
                  <a:srgbClr val="1C222E"/>
                </a:solidFill>
                <a:latin typeface="Arial"/>
              </a:rPr>
              <a:t>fed by induction-like retrieval of one specific, saturating binding — with both of the paper's hypotheses now tested.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5074920"/>
            <a:ext cx="11057839" cy="8686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2B6B45"/>
                </a:solidFill>
                <a:latin typeface="Arial"/>
              </a:rPr>
              <a:t>One line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Doublespeak is ordinary in-context remapping that lands its harmful meaning after the early refusal check has passed;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the meaning is context-carried, distributed across the mid-band, hard to remove by surgery — and the decoding score that describes it does not predict the attack.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
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30-second opener. Say what this is and set the frame.</a:t>
            </a:r>
          </a:p>
          <a:p>
            <a:r>
              <a:t>SAY: This is a summary of ~3 weeks of work (July 2026) trying to jailbreak safety-tuned reasoning LLMs using optimized adversarial text suffixes — the GCG method.</a:t>
            </a:r>
          </a:p>
          <a:p>
            <a:r>
              <a:t>Models: Qwen3-14B is our main subject; Gemma4-E4B-it is a second model; DeepSeek-R1-Distill-Qwen-7B is a third family we tried once.</a:t>
            </a:r>
          </a:p>
          <a:p>
            <a:r>
              <a:t>Roadmap: background -&gt; how we measure -&gt; five stages of experiments -&gt; a bug caveat -&gt; the FIXED v2 re-run results (10A-10D) -&gt; takeaways.</a:t>
            </a:r>
          </a:p>
          <a:p>
            <a:r>
              <a:t>HONESTY FRAME (say up front): the qualitative findings are solid, but a placement bug we found on 07-19 means the v1 percentages were provisional. The fixed re-run is now landing and it CHANGES the magnitudes — I'll show it in slides 10A-10D and the summary reflects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give the audience the 4 words they need for the rest of the talk.</a:t>
            </a:r>
          </a:p>
          <a:p>
            <a:r>
              <a:t>Jailbreak = getting a safety-tuned model to produce harmful content it is trained to refuse.</a:t>
            </a:r>
          </a:p>
          <a:p>
            <a:r>
              <a:t>Adversarial suffix = a string of tokens we append to the user's request (often looks like gibberish). GCG is the algorithm that optimizes it.</a:t>
            </a:r>
          </a:p>
          <a:p>
            <a:r>
              <a:t>GCG (Greedy Coordinate Gradient, Zou et al. 2023): a white-box, gradient-guided search that, position by position, swaps tokens in the suffix to raise the probability the model STARTS its reply with a chosen 'compliant' sentence.</a:t>
            </a:r>
          </a:p>
          <a:p>
            <a:r>
              <a:t>Thinking models: Qwen3/Gemma4 first write a hidden reasoning block inside &lt;think&gt; ... &lt;/think&gt; before the visible answer. Remember this — it is the whole reason Stage 1 works.</a:t>
            </a:r>
          </a:p>
          <a:p>
            <a:r>
              <a:t>Refusal direction: from prior interpretability work, a single internal direction that encodes 'I refuse.' The 'CoT-Hijacking' paper got 91% jailbreak success by directly EDITING that direction inside the model.</a:t>
            </a:r>
          </a:p>
          <a:p>
            <a:r>
              <a:t>KEY: that 91% is a white-box ACTIVATION edit, not a text suffix — it is the theoretical ceiling. Our job is to approximate it using only input TEXT, which is much harder and more realistic.</a:t>
            </a:r>
          </a:p>
          <a:p>
            <a:r>
              <a:t>LIKELY Q ('why is 91% the ceiling?'): because internal manipulation is strictly stronger than a text-only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explain how every result is measured, so the later numbers are trusted.</a:t>
            </a:r>
          </a:p>
          <a:p>
            <a:r>
              <a:t>AdvBench = a standard benchmark of harmful instructions ('behaviours'). We use 25 for fast iteration (the 'dev panel') and the full 520 for scale claims.</a:t>
            </a:r>
          </a:p>
          <a:p>
            <a:r>
              <a:t>StrongREJECT = an automated LLM-based judge that scores whether an answer actually delivers harmful content (not merely 'failed to refuse'). One yes/no per attempt.</a:t>
            </a:r>
          </a:p>
          <a:p>
            <a:r>
              <a:t>ASR (Attack Success Rate) = successes / attempts. On 25 behaviours x 3 random seeds = 75 attempts, so we write X/75.</a:t>
            </a:r>
          </a:p>
          <a:p>
            <a:r>
              <a:t>CRUCIAL: we ALWAYS compare the optimized suffix against controls — no suffix, task-only, and a random-character suffix. What matters is UPLIFT (optimized minus control), not the raw number. A high ASR that doesn't beat controls is worthless.</a:t>
            </a:r>
          </a:p>
          <a:p>
            <a:r>
              <a:t>Two views at 520 scale: combo-ASR = each (behaviour x seed) attempt (strict); behaviour-ASR = a behaviour counts if ANY seed succeeds (lenient, always higher).</a:t>
            </a:r>
          </a:p>
          <a:p>
            <a:r>
              <a:t>Detection is a SEPARATE question: a tiny classifier reads the model's internal state at the first generated token to see if attacked prompts are distinguishable — scored by AUC (1.0 = perfect, 0.5 = coin flip).</a:t>
            </a:r>
          </a:p>
          <a:p>
            <a:r>
              <a:t>LIKELY Q ('why 3 seeds?'): generation is random; seeds average out sampling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failure that motivates the whole project.</a:t>
            </a:r>
          </a:p>
          <a:p>
            <a:r>
              <a:t>We ran textbook GCG on Qwen3 with the classic target 'Sure, here is {task}'.</a:t>
            </a:r>
          </a:p>
          <a:p>
            <a:r>
              <a:t>Result: 4.0% — statistically the same as doing nothing. At full 520 scale it was even worse, 1.9%, actually slightly NET-NEGATIVE (the suffix suppressed a couple of control successes).</a:t>
            </a:r>
          </a:p>
          <a:p>
            <a:r>
              <a:t>Gemma4: flat 0% — never worked.</a:t>
            </a:r>
          </a:p>
          <a:p>
            <a:r>
              <a:t>WHY (the important bit): GCG's target assumes the model's FIRST output token is 'Sure'. But a thinking model's first token is the literal &lt;think&gt; tag — so we were optimizing for a position that never occurs. The target is misaligned with reality.</a:t>
            </a:r>
          </a:p>
          <a:p>
            <a:r>
              <a:t>This misalignment is exactly what the next slide fixes.</a:t>
            </a:r>
          </a:p>
          <a:p>
            <a:r>
              <a:t>LIKELY Q ('isn't GCG strong?'): yes, on non-thinking models (the original Llama work). Thinking models break its core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v1 headline result — but now READ IT WITH SLIDE 10A. The fixed re-run shows most of this 10.7% was a placement-bug prefill artifact.</a:t>
            </a:r>
          </a:p>
          <a:p>
            <a:r>
              <a:t>The fix: change the target to match what a thinking model really writes — prepend a short fake reasoning block: '&lt;think&gt; Okay, I can help. &lt;/think&gt;' then the compliance sentence. Now the target lines up with the model's actual token stream.</a:t>
            </a:r>
          </a:p>
          <a:p>
            <a:r>
              <a:t>v1 Result: 10.7% ASR (8 of 75), +8pp over baseline — a real-looking jump from ~2.7% with the standard target.</a:t>
            </a:r>
          </a:p>
          <a:p>
            <a:r>
              <a:t>CRITICAL HONESTY: slide 10A shows that under the CORRECTED (user-turn) optimizer this collapses to 4.0% = baseline. So present 10.7% as the v1 number, and immediately flag the v2 correction. Do not oversell 5A on its own.</a:t>
            </a:r>
          </a:p>
          <a:p>
            <a:r>
              <a:t>COUNTERINTUITIVE POINT (loss vs ASR): in v1 data, attack success did NOT track the optimizer's loss. This decoupling is very likely itself an ARTIFACT of the placement bug (loss on the assistant-turn prompt, ASR on the user-turn prompt). The per-behaviour ASR-selection branch (10D) now exploits this deliberately.</a:t>
            </a:r>
          </a:p>
          <a:p>
            <a:r>
              <a:t>If Mahmood asks 'so was 5A wrong?': the DIRECTION (target realism matters) still guided us to the refusal-direction and per-behaviour wins; but the plain-CoT-prefix MAGNITUDE on seed-42 does not survive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v1 scale evidence for 5A — again, pair with the v2 slides (7A seed-42 collapses; 9A/9B keep uplift).</a:t>
            </a:r>
          </a:p>
          <a:p>
            <a:r>
              <a:t>We took the single best 5A suffix and evaluated it on ALL 520 behaviours.</a:t>
            </a:r>
          </a:p>
          <a:p>
            <a:r>
              <a:t>v1 Numbers: 8.01% on training seeds (125/1560); 8.92% on unseen seeds (131/1468), over 493 of 520 behaviours (~95% coverage).</a:t>
            </a:r>
          </a:p>
          <a:p>
            <a:r>
              <a:t>THE NUMBER THAT MATTERS is uplift, not raw ASR: +5.09pp, 95% CI [+3.4, +6.8] (excludes zero = real), and McNemar's paired test gives p &lt; 10^-10.</a:t>
            </a:r>
          </a:p>
          <a:p>
            <a:r>
              <a:t>Why lower than the 25-beh 10.7%? Small dev panels overstate performance; also the unseen-seed baseline is naturally higher (~12%), which inflates raw unseen ASR — that's why we lead with uplift.</a:t>
            </a:r>
          </a:p>
          <a:p>
            <a:r>
              <a:t>Where it works best: 'misinformation' behaviours get the biggest lift (+19.8pp).</a:t>
            </a:r>
          </a:p>
          <a:p>
            <a:r>
              <a:t>v2 NOTE: under the fix, 7A seed-42 (the same 5A suffix) drops to ~3% = baseline; the surviving 520-scale uplift is in the refusal-direction / seed-45 configs (9A ~12.7%, 9B ~8.2%), shown on 10C. 520 v2 evals are still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a defensive-security finding — even when the attack works, is it visible? THIS SURVIVES the v2 re-run (built on clean generations, not the optimized-suffix prompt).</a:t>
            </a:r>
          </a:p>
          <a:p>
            <a:r>
              <a:t>We trained a simple logistic-regression detector on Qwen3's hidden state at the FIRST generated token. For every Qwen3 GCG variant it separates attacked vs clean with AUC = 1.000 — perfect.</a:t>
            </a:r>
          </a:p>
          <a:p>
            <a:r>
              <a:t>Robustness: holds under strict cross-validation — group-by-behaviour, leave-one-seed-out, leave-one-optimization-seed-out, and a 25-vs-495 behaviour split. Not memorisation; the signal generalises.</a:t>
            </a:r>
          </a:p>
          <a:p>
            <a:r>
              <a:t>Independent of ASR: even the weakest attack is perfectly detectable; the strongest suffix is still 'loud'. (Seed 44 had the LOWEST v1 ASR but the LARGEST activation shift.)</a:t>
            </a:r>
          </a:p>
          <a:p>
            <a:r>
              <a:t>Gemma4 is different: detector AUC only ~0.60-0.75 AND not specific — it flags 42.7% of harmless random text as an attack. So this is a Qwen3 story.</a:t>
            </a:r>
          </a:p>
          <a:p>
            <a:r>
              <a:t>CAVEAT (say if asked): measured optimized-vs-neutral only; we did NOT test an adaptive attacker trying to evade the detector. Not 'production-ready'.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biggest v1 surprise — and one of the FEW magnitudes that keeps real uplift under the fix (see 10C).</a:t>
            </a:r>
          </a:p>
          <a:p>
            <a:r>
              <a:t>Context: on slide 4 we saw FULL-strength suppression (lambda=1.0) destroyed the CoT-prefix gain (0%). We had concluded the two were incompatible.</a:t>
            </a:r>
          </a:p>
          <a:p>
            <a:r>
              <a:t>We swept the suppression STRENGTH lambda. It was strength-specific, not a general truth.</a:t>
            </a:r>
          </a:p>
          <a:p>
            <a:r>
              <a:t>At lambda=0.3 (WEAK suppression, layer 25): v1 ASR = 24.0% (18/75), +21.3pp — the best 25-behaviour v1 result.</a:t>
            </a:r>
          </a:p>
          <a:p>
            <a:r>
              <a:t>The pattern: strong suppression kills it (lambda=1.0 -&gt; 0%, lambda=3.0 -&gt; 2.67%); weak suppression amplifies it. A sweet spot.</a:t>
            </a:r>
          </a:p>
          <a:p>
            <a:r>
              <a:t>v2 CORRECTION (say it): under the fixed optimizer the 24% shrinks to ~10.7% — but crucially it KEEPS a real +8pp uplift over baseline (neutral 2.7%), UNLIKE plain 5A which collapses to baseline. This is why refusal-direction is now the surviving lever. Its 520-scale version (9A) is on 10C at ~12.7%.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intellectual honesty — four follow-ups that did NOT pan out. Negatives build credibility.</a:t>
            </a:r>
          </a:p>
          <a:p>
            <a:r>
              <a:t>Track 2 (the important one): we had a CORRELATION — generations whose reasoning 'restates the task' succeed more (12.8%) than ones that 'plan a refusal' (1.3%). Tempting to say the framing CAUSES success.</a:t>
            </a:r>
          </a:p>
          <a:p>
            <a:r>
              <a:t>We tested it causally: forced the model's &lt;think&gt; to open with compliant framing, then let it generate freely. Result: 8% (2/25) vs 12% (3/25) baseline, McNemar p=1.0 -&gt; NO causal effect. (Uses no suffix, so it is IMMUNE to the placement bug — a clean result.)</a:t>
            </a:r>
          </a:p>
          <a:p>
            <a:r>
              <a:t>Track 3: tried a 3rd family, DeepSeek-R1. Already ~50% compliant with NO attack (49% vs 47%) -&gt; no headroom for GCG to show value.</a:t>
            </a:r>
          </a:p>
          <a:p>
            <a:r>
              <a:t>Track 1: pushed Gemma4's 'channel-token' attack to 800 steps. Tokens ARE trainable (loss dropped), refuting 'architecturally impossible' — but ASR still 0%.</a:t>
            </a:r>
          </a:p>
          <a:p>
            <a:r>
              <a:t>Track 4: two attempts to improve Qwen3's attack (35-token suffix; live-ASR-guided seed selection) gave 2.7% and 4.0% — both WORSE than the 10.7% reference. (Note: the per-behaviour ASR-selection on 10D is a BETTER-executed version of this idea and it works.)</a:t>
            </a:r>
          </a:p>
          <a:p>
            <a:r>
              <a:t>TAKEAWAY: we ruled out an over-claim and several dead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v1 scaling of lambda=0.3 to 520 + the best v1 new result. Pair with 10C for the v2 fate of each.</a:t>
            </a:r>
          </a:p>
          <a:p>
            <a:r>
              <a:t>9A (seed 42): 11.21% combo-ASR, 94 of 520 behaviours (18%). 9B (seed 45): 8.83%, 72 behaviours.</a:t>
            </a:r>
          </a:p>
          <a:p>
            <a:r>
              <a:t>lambda=0.3 is NOT additive across seeds (a fresh seed-45 run, 9C, got only 6.09%).</a:t>
            </a:r>
          </a:p>
          <a:p>
            <a:r>
              <a:t>HEADLINE (10F): the two seeds win DIFFERENT behaviours, so take the UNION -&gt; 13.97% combo, 110 of 520 (21.2%), at ZERO extra optimization cost. Overlap: 38 only seed-42, 16 only seed-45, 56 both.</a:t>
            </a:r>
          </a:p>
          <a:p>
            <a:r>
              <a:t>Gemma4 (10A EmptyThink) scaled to 520: 3.91% vs 2.31% (+1.6pp), consistent across 3 seeds — Gemma4's best v1 result.</a:t>
            </a:r>
          </a:p>
          <a:p>
            <a:r>
              <a:t>v2 CORRECTION (say it): 9A/9B KEEP uplift under the fix (~12.7% / ~8.2% vs ~2-3% baseline) — these are the survivors. Gemma4's 3.91% COLLAPSES to ~1.4% (below its 2.3% baseline) — no real attack there. Details on 10C. 520 v2 evals are still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critical honesty slide — do NOT skip it; presenting it BEFORE the v2 results protects your credibility and sets them up.</a:t>
            </a:r>
          </a:p>
          <a:p>
            <a:r>
              <a:t>A dedicated CODE audit (after all the experiments) found a bug we call B1.</a:t>
            </a:r>
          </a:p>
          <a:p>
            <a:r>
              <a:t>THE BUG: when OPTIMIZING the suffix, the code placed it inside the ASSISTANT's turn; when EVALUATING, it placed the same suffix in the USER's turn. So the optimizer was tuned on a slightly different prompt than we tested. Canonical GCG (Zou et al.) puts the suffix in the USER turn — eval was correct, optimization was the deviation.</a:t>
            </a:r>
          </a:p>
          <a:p>
            <a:r>
              <a:t>CONSEQUENCE: every v1 ASR MAGNITUDE (10.7%, 24%, 8.9%, 14%, 3.9%) is provisional until re-run with the fix.</a:t>
            </a:r>
          </a:p>
          <a:p>
            <a:r>
              <a:t>WHAT SURVIVES: the DIRECTIONS of the findings, the detection AUC (clean generations), the baselines, and the causal test (no suffix).</a:t>
            </a:r>
          </a:p>
          <a:p>
            <a:r>
              <a:t>It also likely EXPLAINS 'loss doesn't predict ASR' (loss on the assistant-turn prompt, ASR on the user-turn prompt).</a:t>
            </a:r>
          </a:p>
          <a:p>
            <a:r>
              <a:t>STATUS: fix implemented (suffix in the user turn, verified byte-identical to eval), and the re-run is now landing — the next four slides (10A-10D) are the FIRST v2 results. Tell the audience the story CHANGES here: canonical GCG collapses, but not everywhere.</a:t>
            </a:r>
          </a:p>
          <a:p>
            <a:r>
              <a:t>CONFOUND to disclose if asked: v2 changed two things (placement assistant-&gt;user AND the init unit '! '-&gt;' !'). Both are 'become the Zou et al. reference', so the honest framing is 'buggy vs canonical GCG'; the init effect is expected ~0 and a placement-only isolation cell is planned to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headline of the re-run. This is the single most important NEW slide — spend time here.</a:t>
            </a:r>
          </a:p>
          <a:p>
            <a:r>
              <a:t>THE GATE: re-optimize the flagship 5A suffix with the fix (suffix in the USER turn = canonical GCG), same 25 behaviours, same judge. Question: does 10.7% survive?</a:t>
            </a:r>
          </a:p>
          <a:p>
            <a:r>
              <a:t>RESULT: it does NOT. 4.0% (3/75) = exactly the baseline band (no-suffix 4.0%, random 5.3%, task-only 2.7%). Zero uplift.</a:t>
            </a:r>
          </a:p>
          <a:p>
            <a:r>
              <a:t>WHY (mechanism — say this, it's the insight): v1's assistant-turn placement was accidentally a RESPONSE-PREFILL attack. v1's 'successes' literally start with 'Sure! Below is a fake-news website...'. A prefill is a known strong jailbreak. The correct user-turn suffix cannot force that opening, so the thinking model reasons in &lt;think&gt; and refuses.</a:t>
            </a:r>
          </a:p>
          <a:p>
            <a:r>
              <a:t>IT'S REAL, NOT A SCORING BUG (pre-empt the obvious challenge): all 66/66 v2 failures are genuine refusals (no harmful-but-scored-zero); the 3 successes are genuinely harmful; and re-scoring 6 old v1 rows with today's judge reproduced them exactly (0/6 drift). Same eval code and judge for v1 and v2 — only the suffix differs.</a:t>
            </a:r>
          </a:p>
          <a:p>
            <a:r>
              <a:t>FRAMING: this STRENGTHENS the paper's thesis. Plain canonical GCG is even weaker on thinking models than v1 suggested — we caught our own inflation via a code audit. That's the process working.</a:t>
            </a:r>
          </a:p>
          <a:p>
            <a:r>
              <a:t>LIKELY Q ('so all your numbers are wrong?'): the DIRECTIONS hold and, as the next two slides show, real uplift survives in specific configs; but the plain-CoT-prefix magnitude does not. n=75 is small — direction is judge-independent and solid, exact magnitude needs the full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show that 'GCG is dead on thinking models' is too blunt — seed choice dominates, and the bug had scrambled the seed ranking.</a:t>
            </a:r>
          </a:p>
          <a:p>
            <a:r>
              <a:t>Same 5A recipe, corrected placement, three optimization seeds, 25 behaviours (n=75 each).</a:t>
            </a:r>
          </a:p>
          <a:p>
            <a:r>
              <a:t>Seed 44: 23% (17/75) vs 4% baseline = +18pp — the BEST result. Shock value: seed 44 was v1's WORST, 'dead' seed at 1.3%.</a:t>
            </a:r>
          </a:p>
          <a:p>
            <a:r>
              <a:t>Seed 45: 9.6% (+5.5pp). Seed 43: 7% (marginal).</a:t>
            </a:r>
          </a:p>
          <a:p>
            <a:r>
              <a:t>THE FINDING: v2 ranking s44 &gt; s45 &gt; s43 REVERSES v1's s45 &gt; s43 &gt; s44. The placement bug scrambled which seed looked best. Under correct placement, seed choice swings ASR from ~7% to ~23%.</a:t>
            </a:r>
          </a:p>
          <a:p>
            <a:r>
              <a:t>HONESTY CAVEAT: sanity-checking s44's successes, they skew to a few bio-modelling / misinformation behaviours and some sit in the 0.875 StrongREJECT band (borderline / dual-use, not fully actionable). So the +18pp is real vs baseline (same judge all conditions) but the absolute 23% is concentrated and includes borderline content — a calibration nuance, not a bug.</a:t>
            </a:r>
          </a:p>
          <a:p>
            <a:r>
              <a:t>TAKEAWAY for Mahmood: the real story is high SEED VARIANCE plus config-dependence, not a single collapse. This motivates the per-behaviour approach on 10D.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nuance slide — the collapse is config/seed-SPECIFIC, and the refusal-direction lever survives at scale.</a:t>
            </a:r>
          </a:p>
          <a:p>
            <a:r>
              <a:t>These are 520-behaviour evals under the fix. IMPORTANT: they are PARTIAL (judge-bound, ~800-2000 of 6240 rows) so the numbers are trending, not final. Say this.</a:t>
            </a:r>
          </a:p>
          <a:p>
            <a:r>
              <a:t>SURVIVORS: 9A (refusal-direction, lambda=0.3) ~12.7% vs ~2.3% baseline = +~10pp. 9B (seed-45 CoT) ~8.2% vs ~2.9% = +~5pp. These KEEP real uplift under correct placement.</a:t>
            </a:r>
          </a:p>
          <a:p>
            <a:r>
              <a:t>COLLAPSES: 5A / 7A seed-42 ~3% (= 2% baseline), and Gemma4-10A ~1.4% which is BELOW its 2.3% baseline (net-negative). Gemma4 is genuinely resistant to canonical GCG.</a:t>
            </a:r>
          </a:p>
          <a:p>
            <a:r>
              <a:t>SO: refusal-direction guidance and certain seeds survive; plain CoT-prefix on seed-42 and Gemma4 do not. The month's real signal lives in the refusal-direction / seed variants, and the per-behaviour branch (10D).</a:t>
            </a:r>
          </a:p>
          <a:p>
            <a:r>
              <a:t>LIKELY Q ('why does refusal-direction survive but plain 5A doesn't?'): the refusal-direction term actively steers the search away from the model's refusal representation — that effect is real and not a prefill artifact. Plain 5A was mostly the prefill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forward-looking slide — how we RECOVER attack strength after the universal suffix collapsed. Frame as 'work in progress, early but promising'.</a:t>
            </a:r>
          </a:p>
          <a:p>
            <a:r>
              <a:t>THE IDEA: two changes from the universal attack — (1) optimize a suffix PER BEHAVIOUR (no one-suffix-fits-all constraint), and (2) select the candidate by MEASURED ASR (free-generation), not by the optimizer's loss.</a:t>
            </a:r>
          </a:p>
          <a:p>
            <a:r>
              <a:t>FIRST RESULT: advbench_001 best_asr 30% vs neutral 10% / random 0% = +20pp. The WINNING candidate came from a mid-run CHECKPOINT (step 299), not the final step — concrete proof that ASR-selection beats loss-selection (this operationalises the 'loss != ASR' theme).</a:t>
            </a:r>
          </a:p>
          <a:p>
            <a:r>
              <a:t>advbench_021: 0pp — some behaviours are just hard. Expect variance.</a:t>
            </a:r>
          </a:p>
          <a:p>
            <a:r>
              <a:t>PILOT (running now): 12 behaviours x 4 target styles x 3 seeds = 144 optimizations, 2 shards, resume-safe. Early: ~2/3 of scored behaviours crackable, mean best ~17%, winners from checkpoints.</a:t>
            </a:r>
          </a:p>
          <a:p>
            <a:r>
              <a:t>CAVEATS: n is tiny (N=10 generation seeds per behaviour) so wide confidence intervals; this is a pilot, not a benchmark result yet. If it holds, we scale to a held-out set.</a:t>
            </a:r>
          </a:p>
          <a:p>
            <a:r>
              <a:t>WHY IT MATTERS: after the gate showed the universal suffix collapses, this is the concrete path to a real attack on thinking models — and it's the natural exploitation of the seed/config variance from 10B/10C.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situate the work honestly — we did NOT invent a new attack; we adapted the standard one (GCG). Say that plainly, it builds trust.</a:t>
            </a:r>
          </a:p>
          <a:p>
            <a:r>
              <a:t>GCG = Greedy Coordinate Gradient, Zou et al. 2023 ('Universal and Transferable Adversarial Attacks') — THE standard white-box adversarial-suffix attack.</a:t>
            </a:r>
          </a:p>
          <a:p>
            <a:r>
              <a:t>The mechanics we KEPT are the heart of GCG: gradient-guided top-k token candidates per suffix position (original defaults: top_k=256, batch_size=1024), batched greedy acceptance, teacher-forced cross-entropy loss on the target.</a:t>
            </a:r>
          </a:p>
          <a:p>
            <a:r>
              <a:t>Attack surface is identical: a suffix appended after the request with a space; suffix in the USER turn, target in the ASSISTANT turn.</a:t>
            </a:r>
          </a:p>
          <a:p>
            <a:r>
              <a:t>We validated our (fixed) prompt-builder against the original llm-attacks SuffixManager code — same user-turn placement, same '{goal} {control}' space-join. (This is exactly what the placement fix restored.)</a:t>
            </a:r>
          </a:p>
          <a:p>
            <a:r>
              <a:t>Multi-behaviour gradient aggregation mirrors the original's universal / multi-prompt idea.</a:t>
            </a:r>
          </a:p>
          <a:p>
            <a:r>
              <a:t>LIKELY Q ('is this just GCG?'): the SKELETON is GCG; the novelty is the next slide — reasoning-model targeting, the extra objectives, judge-based evaluation, and the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our actual contributions — what makes this more than a re-run of GCG.</a:t>
            </a:r>
          </a:p>
          <a:p>
            <a:r>
              <a:t>Models: the original code only knew Llama-2 / Vicuna / GPT-family; we added adapters for Qwen3, Gemma4, DeepSeek — tokenizers and &lt;think&gt; markers included.</a:t>
            </a:r>
          </a:p>
          <a:p>
            <a:r>
              <a:t>BIGGEST difference — thinking models: original GCG has zero notion of a reasoning block. Our 5A trick (target starts with a fake &lt;think&gt;...&lt;/think&gt;) is the adaptation for reasoning models. NB: the v2 re-run shows this alone doesn't beat baseline on seed-42; the durable contribution is the refusal-direction objective + per-behaviour ASR-selection.</a:t>
            </a:r>
          </a:p>
          <a:p>
            <a:r>
              <a:t>Objective: original GCG = pure target cross-entropy. We built a composite objective with optional representation, KL, and refusal-direction terms — the refusal-direction term drove the surviving lambda=0.3 result. (Precision: the refusal-direction term only shapes which candidate tokens get PROPOSED via the gradient; it is not in the acceptance criterion.)</a:t>
            </a:r>
          </a:p>
          <a:p>
            <a:r>
              <a:t>Evaluation is much stricter: original GCG calls it a win if the reply merely avoids refusal phrases, which over-counts. We use StrongREJECT (LLM judge) on real free-form generation, vs 3 controls — so our ASR is CONSERVATIVE relative to the original's metric.</a:t>
            </a:r>
          </a:p>
          <a:p>
            <a:r>
              <a:t>Tokenizer detail (if asked): original GCG discards candidates whose text re-tokenizes to a different length (filter_cand=True). On Qwen/Gemma BPE that throws away essentially every candidate and progress stalls — so we disable it (--no-filter-cand).</a:t>
            </a:r>
          </a:p>
          <a:p>
            <a:r>
              <a:t>We added a defensive angle GCG doesn't have: the first-token hidden-state detector (slide 6).</a:t>
            </a:r>
          </a:p>
          <a:p>
            <a:r>
              <a:t>Honesty tie-in: the placement bug (slide 10) was literally where our code DIVERGED from canonical GCG (assistant-turn optimization). The fix put us back on the canonical path (verified against the original code) — and that's what produced the 10A-10D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recap the UPDATED (post-v2) picture; let each takeaway land; then invite questions.</a:t>
            </a:r>
          </a:p>
          <a:p>
            <a:r>
              <a:t>1. CoT-prefix targeting was the v1 unlock, but canonical GCG COLLAPSES to baseline under the fix (5A 10.7% -&gt; 4.0%). v1's number was partly a response-prefill artifact.</a:t>
            </a:r>
          </a:p>
          <a:p>
            <a:r>
              <a:t>2. The collapse is NOT universal: refusal-direction (lambda=0.3, 9A ~12%) and some seeds (s44 23%, s45) KEEP real uplift. The effect is seed/config-dependent.</a:t>
            </a:r>
          </a:p>
          <a:p>
            <a:r>
              <a:t>3. Seed choice dominates: v2 swings ASR ~7% -&gt; ~23% and reverses v1's seed ranking.</a:t>
            </a:r>
          </a:p>
          <a:p>
            <a:r>
              <a:t>4. New per-behaviour + ASR-selection branch recovers uplift (advbench_001 +20pp); winner from a checkpoint -&gt; ASR-selection beats loss-selection.</a:t>
            </a:r>
          </a:p>
          <a:p>
            <a:r>
              <a:t>5. Detection survives and is robust: Qwen3 perfectly detectable at token 0 (AUC 1.0); Gemma4 resists almost everything (collapses to ~1.4% under the fix).</a:t>
            </a:r>
          </a:p>
          <a:p>
            <a:r>
              <a:t>6. Optimizer loss does NOT predict success — now being turned into a tool (ASR-selection).</a:t>
            </a:r>
          </a:p>
          <a:p>
            <a:r>
              <a:t>CLOSE: 'The v1 directions mostly hold, but the corrected re-run lowers the plain-GCG magnitudes to baseline and moves the real signal to refusal-direction / seed / per-behaviour variants. The 520-scale v2 numbers are still partial — evals are running.' Then open for questions.</a:t>
            </a:r>
          </a:p>
          <a:p>
            <a:r>
              <a:t>IF ASKED 'what's next?': finish the partial 520 v2 evals to lock magnitudes, drain the per-behaviour pilot (144 opts) and, if it holds, scale it to a held-out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GCG Adversarial-Suffix Jailbreak Research</a:t>
            </a:r>
          </a:p>
          <a:p>
            <a:r>
              <a:rPr sz="2000">
                <a:solidFill>
                  <a:srgbClr val="202020"/>
                </a:solidFill>
              </a:rPr>
              <a:t>A Plain-Language Summary of Everything We Did (July 2026)</a:t>
            </a:r>
          </a:p>
          <a:p>
            <a:pPr>
              <a:spcBef>
                <a:spcPts val="1800"/>
              </a:spcBef>
            </a:pPr>
            <a:r>
              <a:rPr sz="1500" i="1">
                <a:solidFill>
                  <a:srgbClr val="555555"/>
                </a:solidFill>
              </a:rPr>
              <a:t>Models: Qwen3-14B, Gemma4-E4B-it, DeepSeek-R1-Distill-Qwen-7B
Omer Yosef  ·  prepared for Mahmood  ·  2026-07-19
(now includes the v2 fixed-optimizer re-run: slides 10A–10D)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1. What We Are Studying (Background)</a:t>
            </a:r>
          </a:p>
          <a:p>
            <a:r>
              <a:rPr sz="1500" i="1">
                <a:solidFill>
                  <a:srgbClr val="555555"/>
                </a:solidFill>
              </a:rPr>
              <a:t>The problem and the words you need to follow the 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question:</a:t>
            </a:r>
            <a:r>
              <a:rPr sz="1500" b="0">
                <a:solidFill>
                  <a:srgbClr val="202020"/>
                </a:solidFill>
              </a:rPr>
              <a:t> can we make a safety-tuned chatbot answer a harmful request by adding a short, optimized nonsense string (an "adversarial suffix") to the end of the prompt?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GCG (Greedy Coordinate Gradient):</a:t>
            </a:r>
            <a:r>
              <a:rPr sz="1500" b="0">
                <a:solidFill>
                  <a:srgbClr val="202020"/>
                </a:solidFill>
              </a:rPr>
              <a:t> the algorithm that searches, one token at a time, for the suffix that makes the model most likely to start its reply with a chosen "compliant" sentence.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"Thinking" models (Qwen3, Gemma4):</a:t>
            </a:r>
            <a:r>
              <a:rPr sz="1500" b="0">
                <a:solidFill>
                  <a:srgbClr val="202020"/>
                </a:solidFill>
              </a:rPr>
              <a:t> before the visible answer they write a hidden reasoning block between </a:t>
            </a:r>
            <a:r>
              <a:rPr sz="1500" b="1">
                <a:solidFill>
                  <a:srgbClr val="202020"/>
                </a:solidFill>
              </a:rPr>
              <a:t>&lt;think&gt; … &lt;/think&gt;</a:t>
            </a:r>
            <a:r>
              <a:rPr sz="1500" b="0">
                <a:solidFill>
                  <a:srgbClr val="202020"/>
                </a:solidFill>
              </a:rPr>
              <a:t> tags. This detail turns out to matter a lot.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Refusal direction:</a:t>
            </a:r>
            <a:r>
              <a:rPr sz="1500" b="0">
                <a:solidFill>
                  <a:srgbClr val="202020"/>
                </a:solidFill>
              </a:rPr>
              <a:t> a single internal direction in the model's activations that is linked to "I refuse." Pushing activations away from it is a known jailbreak lever.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Our yardstick:</a:t>
            </a:r>
            <a:r>
              <a:rPr sz="1500" b="0">
                <a:solidFill>
                  <a:srgbClr val="202020"/>
                </a:solidFill>
              </a:rPr>
              <a:t> a prior paper ("CoT-Hijacking") reached </a:t>
            </a:r>
            <a:r>
              <a:rPr sz="1500" b="1">
                <a:solidFill>
                  <a:srgbClr val="202020"/>
                </a:solidFill>
              </a:rPr>
              <a:t>91%</a:t>
            </a:r>
            <a:r>
              <a:rPr sz="1500" b="0">
                <a:solidFill>
                  <a:srgbClr val="202020"/>
                </a:solidFill>
              </a:rPr>
              <a:t> success by directly editing that refusal direction inside the model. We only get to change the input text (a harder, more realistic setting) — so 91% is the ceiling we compare against.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2. How We Run and Score Every Test (Setup)</a:t>
            </a:r>
          </a:p>
          <a:p>
            <a:r>
              <a:rPr sz="1500" i="1">
                <a:solidFill>
                  <a:srgbClr val="555555"/>
                </a:solidFill>
              </a:rPr>
              <a:t>Same recipe for all experiments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Models:</a:t>
            </a:r>
            <a:r>
              <a:rPr sz="1400" b="0">
                <a:solidFill>
                  <a:srgbClr val="202020"/>
                </a:solidFill>
              </a:rPr>
              <a:t> Qwen3-14B (main focus), Gemma4-E4B-it (second model), DeepSeek-R1-Distill-Qwen-7B (a third model family, used once).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Data:</a:t>
            </a:r>
            <a:r>
              <a:rPr sz="1400" b="0">
                <a:solidFill>
                  <a:srgbClr val="202020"/>
                </a:solidFill>
              </a:rPr>
              <a:t> AdvBench harmful behaviours — a </a:t>
            </a:r>
            <a:r>
              <a:rPr sz="1400" b="1">
                <a:solidFill>
                  <a:srgbClr val="202020"/>
                </a:solidFill>
              </a:rPr>
              <a:t>25-behaviour</a:t>
            </a:r>
            <a:r>
              <a:rPr sz="1400" b="0">
                <a:solidFill>
                  <a:srgbClr val="202020"/>
                </a:solidFill>
              </a:rPr>
              <a:t> "dev panel" for fast iteration, and the full </a:t>
            </a:r>
            <a:r>
              <a:rPr sz="1400" b="1">
                <a:solidFill>
                  <a:srgbClr val="202020"/>
                </a:solidFill>
              </a:rPr>
              <a:t>520-behaviour</a:t>
            </a:r>
            <a:r>
              <a:rPr sz="1400" b="0">
                <a:solidFill>
                  <a:srgbClr val="202020"/>
                </a:solidFill>
              </a:rPr>
              <a:t> benchmark for scale.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Judge:</a:t>
            </a:r>
            <a:r>
              <a:rPr sz="1400" b="0">
                <a:solidFill>
                  <a:srgbClr val="202020"/>
                </a:solidFill>
              </a:rPr>
              <a:t> the </a:t>
            </a:r>
            <a:r>
              <a:rPr sz="1400" b="1">
                <a:solidFill>
                  <a:srgbClr val="202020"/>
                </a:solidFill>
              </a:rPr>
              <a:t>StrongREJECT</a:t>
            </a:r>
            <a:r>
              <a:rPr sz="1400" b="0">
                <a:solidFill>
                  <a:srgbClr val="202020"/>
                </a:solidFill>
              </a:rPr>
              <a:t> classifier decides, for each generated answer, whether it is a genuine successful jailbreak (yes/no).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Main metric — ASR (Attack Success Rate):</a:t>
            </a:r>
            <a:r>
              <a:rPr sz="1400" b="0">
                <a:solidFill>
                  <a:srgbClr val="202020"/>
                </a:solidFill>
              </a:rPr>
              <a:t> the fraction of attempts judged successful. We always compare the optimized suffix against controls (no suffix / random suffix). On 25 behaviours we use 3 seeds, so ASR is out of 75 attempts (written </a:t>
            </a:r>
            <a:r>
              <a:rPr sz="1400" b="1">
                <a:solidFill>
                  <a:srgbClr val="202020"/>
                </a:solidFill>
              </a:rPr>
              <a:t>X/75</a:t>
            </a:r>
            <a:r>
              <a:rPr sz="14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At 520 scale we report two views: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combo-ASR</a:t>
            </a:r>
            <a:r>
              <a:rPr sz="1300" b="0">
                <a:solidFill>
                  <a:srgbClr val="555555"/>
                </a:solidFill>
              </a:rPr>
              <a:t> = per (behaviour × seed) attempt;  </a:t>
            </a:r>
            <a:r>
              <a:rPr sz="1300" b="1">
                <a:solidFill>
                  <a:srgbClr val="555555"/>
                </a:solidFill>
              </a:rPr>
              <a:t>behaviour-ASR</a:t>
            </a:r>
            <a:r>
              <a:rPr sz="1300" b="0">
                <a:solidFill>
                  <a:srgbClr val="555555"/>
                </a:solidFill>
              </a:rPr>
              <a:t> = a behaviour counts as won if any seed succeeds (always the higher number).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Detection:</a:t>
            </a:r>
            <a:r>
              <a:rPr sz="1400" b="0">
                <a:solidFill>
                  <a:srgbClr val="202020"/>
                </a:solidFill>
              </a:rPr>
              <a:t> a simple classifier reads the model's internal state at the first generated token and tries to tell "attacked" from "clean." Scored by </a:t>
            </a:r>
            <a:r>
              <a:rPr sz="1400" b="1">
                <a:solidFill>
                  <a:srgbClr val="202020"/>
                </a:solidFill>
              </a:rPr>
              <a:t>AUC</a:t>
            </a:r>
            <a:r>
              <a:rPr sz="1400" b="0">
                <a:solidFill>
                  <a:srgbClr val="202020"/>
                </a:solidFill>
              </a:rPr>
              <a:t> (1.0 = perfect, 0.5 = coin flip).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3. Stage 1 — Ablation (25 behaviours): Textbook GCG Barely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What we did:</a:t>
            </a:r>
            <a:r>
              <a:rPr sz="1600" b="0">
                <a:solidFill>
                  <a:srgbClr val="202020"/>
                </a:solidFill>
              </a:rPr>
              <a:t> ran standard GCG on Qwen3, with the usual target "Sure, here is …".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Result:</a:t>
            </a:r>
            <a:r>
              <a:rPr sz="1600" b="0">
                <a:solidFill>
                  <a:srgbClr val="202020"/>
                </a:solidFill>
              </a:rPr>
              <a:t> </a:t>
            </a:r>
            <a:r>
              <a:rPr sz="1600" b="1">
                <a:solidFill>
                  <a:srgbClr val="202020"/>
                </a:solidFill>
              </a:rPr>
              <a:t>4.0%</a:t>
            </a:r>
            <a:r>
              <a:rPr sz="1600" b="0">
                <a:solidFill>
                  <a:srgbClr val="202020"/>
                </a:solidFill>
              </a:rPr>
              <a:t> ASR on Qwen3 — no better than the no-attack baseline. Scaled to all 520 behaviours it was </a:t>
            </a:r>
            <a:r>
              <a:rPr sz="1600" b="1">
                <a:solidFill>
                  <a:srgbClr val="202020"/>
                </a:solidFill>
              </a:rPr>
              <a:t>1.9%</a:t>
            </a:r>
            <a:r>
              <a:rPr sz="1600" b="0">
                <a:solidFill>
                  <a:srgbClr val="202020"/>
                </a:solidFill>
              </a:rPr>
              <a:t>, actually slightly net-negative.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Gemma4:</a:t>
            </a:r>
            <a:r>
              <a:rPr sz="1600" b="0">
                <a:solidFill>
                  <a:srgbClr val="202020"/>
                </a:solidFill>
              </a:rPr>
              <a:t> </a:t>
            </a:r>
            <a:r>
              <a:rPr sz="1600" b="1">
                <a:solidFill>
                  <a:srgbClr val="202020"/>
                </a:solidFill>
              </a:rPr>
              <a:t>0%</a:t>
            </a:r>
            <a:r>
              <a:rPr sz="1600" b="0">
                <a:solidFill>
                  <a:srgbClr val="202020"/>
                </a:solidFill>
              </a:rPr>
              <a:t> — the plain attack never worked on it at all.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Why it fails on thinking models:</a:t>
            </a:r>
            <a:r>
              <a:rPr sz="1600" b="0">
                <a:solidFill>
                  <a:srgbClr val="202020"/>
                </a:solidFill>
              </a:rPr>
              <a:t> the target assumes the model's first token is "Sure". But a thinking model's first token is </a:t>
            </a:r>
            <a:r>
              <a:rPr sz="1600" b="1">
                <a:solidFill>
                  <a:srgbClr val="202020"/>
                </a:solidFill>
              </a:rPr>
              <a:t>&lt;think&gt;</a:t>
            </a:r>
            <a:r>
              <a:rPr sz="1600" b="0">
                <a:solidFill>
                  <a:srgbClr val="202020"/>
                </a:solidFill>
              </a:rPr>
              <a:t>, so the target is aimed at the wrong place.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Data:</a:t>
            </a:r>
            <a:r>
              <a:rPr sz="1600" b="0">
                <a:solidFill>
                  <a:srgbClr val="202020"/>
                </a:solidFill>
              </a:rPr>
              <a:t> 25 AdvBench behaviours × 3 seeds, StrongREJECT judge, compared against no-suffix and random-suffix controls.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Takeaway:</a:t>
            </a:r>
            <a:r>
              <a:rPr sz="1600" b="0">
                <a:solidFill>
                  <a:srgbClr val="202020"/>
                </a:solidFill>
              </a:rPr>
              <a:t> the standard attack is essentially useless here — which set up the key fix on the next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4. Stage 1 — The Key Unlock: CoT-Prefix Targeting (Exp 5A)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idea:</a:t>
            </a:r>
            <a:r>
              <a:rPr sz="1500" b="0">
                <a:solidFill>
                  <a:srgbClr val="202020"/>
                </a:solidFill>
              </a:rPr>
              <a:t> make the target look like what a thinking model actually writes first — put a fake reasoning block in front: </a:t>
            </a:r>
            <a:r>
              <a:rPr sz="1500" b="1">
                <a:solidFill>
                  <a:srgbClr val="202020"/>
                </a:solidFill>
              </a:rPr>
              <a:t>"&lt;think&gt; Okay, I can help. &lt;/think&gt; Sure, here is {task}"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</a:t>
            </a:r>
            <a:r>
              <a:rPr sz="1500" b="0">
                <a:solidFill>
                  <a:srgbClr val="202020"/>
                </a:solidFill>
              </a:rPr>
              <a:t> ASR jumps to </a:t>
            </a:r>
            <a:r>
              <a:rPr sz="1500" b="1">
                <a:solidFill>
                  <a:srgbClr val="202020"/>
                </a:solidFill>
              </a:rPr>
              <a:t>10.7% (8/75)</a:t>
            </a:r>
            <a:r>
              <a:rPr sz="1500" b="0">
                <a:solidFill>
                  <a:srgbClr val="202020"/>
                </a:solidFill>
              </a:rPr>
              <a:t>, </a:t>
            </a:r>
            <a:r>
              <a:rPr sz="1500" b="1">
                <a:solidFill>
                  <a:srgbClr val="202020"/>
                </a:solidFill>
              </a:rPr>
              <a:t>+8pp</a:t>
            </a:r>
            <a:r>
              <a:rPr sz="1500" b="0">
                <a:solidFill>
                  <a:srgbClr val="202020"/>
                </a:solidFill>
              </a:rPr>
              <a:t> over baseline. This is the single most important trick in the whole project.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counter-intuitive part:</a:t>
            </a:r>
            <a:r>
              <a:rPr sz="1500" b="0">
                <a:solidFill>
                  <a:srgbClr val="202020"/>
                </a:solidFill>
              </a:rPr>
              <a:t> this trick makes the training loss worse (task_loss 47.6 → 20.5 is a worse teacher-forced fit) yet gives </a:t>
            </a:r>
            <a:r>
              <a:rPr sz="1500" b="1">
                <a:solidFill>
                  <a:srgbClr val="202020"/>
                </a:solidFill>
              </a:rPr>
              <a:t>~4× the ASR (2.7% → 10.7%)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Lesson: attack success tracks how behaviourally realistic the target is, </a:t>
            </a:r>
            <a:r>
              <a:rPr sz="1400" b="1">
                <a:solidFill>
                  <a:srgbClr val="555555"/>
                </a:solidFill>
              </a:rPr>
              <a:t>not</a:t>
            </a:r>
            <a:r>
              <a:rPr sz="1400" b="0">
                <a:solidFill>
                  <a:srgbClr val="555555"/>
                </a:solidFill>
              </a:rPr>
              <a:t> the optimizer's loss.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Important limit:</a:t>
            </a:r>
            <a:r>
              <a:rPr sz="1500" b="0">
                <a:solidFill>
                  <a:srgbClr val="202020"/>
                </a:solidFill>
              </a:rPr>
              <a:t> if we ALSO add full-strength refusal-direction suppression on top (Exp 6C, λ=1.0), the gain is destroyed — back to </a:t>
            </a:r>
            <a:r>
              <a:rPr sz="1500" b="1">
                <a:solidFill>
                  <a:srgbClr val="202020"/>
                </a:solidFill>
              </a:rPr>
              <a:t>0% (−10.7pp)</a:t>
            </a:r>
            <a:r>
              <a:rPr sz="1500" b="0">
                <a:solidFill>
                  <a:srgbClr val="202020"/>
                </a:solidFill>
              </a:rPr>
              <a:t>. Full-strength suppression and this trick fight each other. (Slide 7 revisits this.)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⚠ v2 update (slide 10A):</a:t>
            </a:r>
            <a:r>
              <a:rPr sz="1500" b="0">
                <a:solidFill>
                  <a:srgbClr val="202020"/>
                </a:solidFill>
              </a:rPr>
              <a:t> the corrected re-run finds this 10.7% was largely a placement-bug artifact — canonical GCG gives </a:t>
            </a:r>
            <a:r>
              <a:rPr sz="1500" b="1">
                <a:solidFill>
                  <a:srgbClr val="202020"/>
                </a:solidFill>
              </a:rPr>
              <a:t>no uplift</a:t>
            </a:r>
            <a:r>
              <a:rPr sz="1500" b="0">
                <a:solidFill>
                  <a:srgbClr val="202020"/>
                </a:solidFill>
              </a:rPr>
              <a:t> here. Read this slide together with 10A.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5. Stage 2 — Does It Scale? Full 520-Behaviour Benchmark (Phase 7A)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we did:</a:t>
            </a:r>
            <a:r>
              <a:rPr sz="1500" b="0">
                <a:solidFill>
                  <a:srgbClr val="202020"/>
                </a:solidFill>
              </a:rPr>
              <a:t> took the winning 5A suffix and evaluated it on ALL 520 AdvBench behaviours.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</a:t>
            </a:r>
            <a:r>
              <a:rPr sz="1500" b="0">
                <a:solidFill>
                  <a:srgbClr val="202020"/>
                </a:solidFill>
              </a:rPr>
              <a:t> </a:t>
            </a:r>
            <a:r>
              <a:rPr sz="1500" b="1">
                <a:solidFill>
                  <a:srgbClr val="202020"/>
                </a:solidFill>
              </a:rPr>
              <a:t>8.01%</a:t>
            </a:r>
            <a:r>
              <a:rPr sz="1500" b="0">
                <a:solidFill>
                  <a:srgbClr val="202020"/>
                </a:solidFill>
              </a:rPr>
              <a:t> ASR on training seeds (125/1560); </a:t>
            </a:r>
            <a:r>
              <a:rPr sz="1500" b="1">
                <a:solidFill>
                  <a:srgbClr val="202020"/>
                </a:solidFill>
              </a:rPr>
              <a:t>8.92%</a:t>
            </a:r>
            <a:r>
              <a:rPr sz="1500" b="0">
                <a:solidFill>
                  <a:srgbClr val="202020"/>
                </a:solidFill>
              </a:rPr>
              <a:t> on unseen seeds (131/1468, covering 493 of 520 behaviours).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Uplift over the no-attack baseline: +5.09pp</a:t>
            </a:r>
            <a:r>
              <a:rPr sz="1500" b="0">
                <a:solidFill>
                  <a:srgbClr val="202020"/>
                </a:solidFill>
              </a:rPr>
              <a:t> (95% confidence interval +3.4 to +6.8), and statistically very strong (</a:t>
            </a:r>
            <a:r>
              <a:rPr sz="1500" b="1">
                <a:solidFill>
                  <a:srgbClr val="202020"/>
                </a:solidFill>
              </a:rPr>
              <a:t>McNemar p &lt; 10⁻¹⁰</a:t>
            </a:r>
            <a:r>
              <a:rPr sz="15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Lower than the 25-behaviour number — expected, because small dev sets overstate performance — but a </a:t>
            </a:r>
            <a:r>
              <a:rPr sz="1500" b="1">
                <a:solidFill>
                  <a:srgbClr val="202020"/>
                </a:solidFill>
              </a:rPr>
              <a:t>real, robust</a:t>
            </a:r>
            <a:r>
              <a:rPr sz="1500" b="0">
                <a:solidFill>
                  <a:srgbClr val="202020"/>
                </a:solidFill>
              </a:rPr>
              <a:t> effect.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Where it works best:</a:t>
            </a:r>
            <a:r>
              <a:rPr sz="1500" b="0">
                <a:solidFill>
                  <a:srgbClr val="202020"/>
                </a:solidFill>
              </a:rPr>
              <a:t> "misinformation" behaviours show by far the biggest lift (</a:t>
            </a:r>
            <a:r>
              <a:rPr sz="1500" b="1">
                <a:solidFill>
                  <a:srgbClr val="202020"/>
                </a:solidFill>
              </a:rPr>
              <a:t>+19.8pp</a:t>
            </a:r>
            <a:r>
              <a:rPr sz="15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Caution — high seed variance:</a:t>
            </a:r>
            <a:r>
              <a:rPr sz="1500" b="0">
                <a:solidFill>
                  <a:srgbClr val="202020"/>
                </a:solidFill>
              </a:rPr>
              <a:t> seed 45 was best (16% / 21%), while seed 44 was net-negative (1.3%). The same recipe swings a lot by random seed.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6. Stage 2 — A Second Finding: These Attacks Are Easy to Detect (Qwen3)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we did:</a:t>
            </a:r>
            <a:r>
              <a:rPr sz="1500" b="0">
                <a:solidFill>
                  <a:srgbClr val="202020"/>
                </a:solidFill>
              </a:rPr>
              <a:t> trained a simple detector on Qwen3's internal state at the first generated token to separate attacked prompts from clean ones.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 AUC = 1.000 — perfect separation</a:t>
            </a:r>
            <a:r>
              <a:rPr sz="1500" b="0">
                <a:solidFill>
                  <a:srgbClr val="202020"/>
                </a:solidFill>
              </a:rPr>
              <a:t>, for every Qwen3 GCG variant we tried.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It's robust:</a:t>
            </a:r>
            <a:r>
              <a:rPr sz="1500" b="0">
                <a:solidFill>
                  <a:srgbClr val="202020"/>
                </a:solidFill>
              </a:rPr>
              <a:t> the perfect score holds even under strict cross-validation (held-out behaviours, held-out seeds) — so it is not overfitting.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It's independent of ASR:</a:t>
            </a:r>
            <a:r>
              <a:rPr sz="1500" b="0">
                <a:solidFill>
                  <a:srgbClr val="202020"/>
                </a:solidFill>
              </a:rPr>
              <a:t> even weak attacks are perfectly visible; even the strongest suffix leaves an obvious fingerprint at token 0.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Gemma4 is different:</a:t>
            </a:r>
            <a:r>
              <a:rPr sz="1500" b="0">
                <a:solidFill>
                  <a:srgbClr val="202020"/>
                </a:solidFill>
              </a:rPr>
              <a:t> its detector is much weaker (</a:t>
            </a:r>
            <a:r>
              <a:rPr sz="1500" b="1">
                <a:solidFill>
                  <a:srgbClr val="202020"/>
                </a:solidFill>
              </a:rPr>
              <a:t>~0.60–0.75 AUC</a:t>
            </a:r>
            <a:r>
              <a:rPr sz="1500" b="0">
                <a:solidFill>
                  <a:srgbClr val="202020"/>
                </a:solidFill>
              </a:rPr>
              <a:t>) and unreliable — it flags </a:t>
            </a:r>
            <a:r>
              <a:rPr sz="1500" b="1">
                <a:solidFill>
                  <a:srgbClr val="202020"/>
                </a:solidFill>
              </a:rPr>
              <a:t>42.7%</a:t>
            </a:r>
            <a:r>
              <a:rPr sz="1500" b="0">
                <a:solidFill>
                  <a:srgbClr val="202020"/>
                </a:solidFill>
              </a:rPr>
              <a:t> of harmless random text as an attack.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Takeaway:</a:t>
            </a:r>
            <a:r>
              <a:rPr sz="1500" b="0">
                <a:solidFill>
                  <a:srgbClr val="202020"/>
                </a:solidFill>
              </a:rPr>
              <a:t> on Qwen3, succeeding at the attack and hiding it are two different problems — the suffix is very "loud" internally. </a:t>
            </a:r>
            <a:r>
              <a:rPr sz="1500" b="1">
                <a:solidFill>
                  <a:srgbClr val="202020"/>
                </a:solidFill>
              </a:rPr>
              <a:t>(Unaffected by the v2 re-run — detection uses clean generations.)</a:t>
            </a:r>
            <a:r>
              <a:rPr sz="1500" b="0">
                <a:solidFill>
                  <a:srgbClr val="20202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7. Stage 3 — Biggest Surprise: Weak Suppression Doubles ASR (Phase 8)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Background:</a:t>
            </a:r>
            <a:r>
              <a:rPr sz="1400" b="0">
                <a:solidFill>
                  <a:srgbClr val="202020"/>
                </a:solidFill>
              </a:rPr>
              <a:t> we believed refusal-direction suppression was simply incompatible with the CoT-prefix trick, because at full strength (λ=1.0) it gave 0%.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What we did:</a:t>
            </a:r>
            <a:r>
              <a:rPr sz="1400" b="0">
                <a:solidFill>
                  <a:srgbClr val="202020"/>
                </a:solidFill>
              </a:rPr>
              <a:t> instead of on/off, we swept the strength λ of the suppression.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Result — it was strength-specific, not a general truth.</a:t>
            </a:r>
            <a:r>
              <a:rPr sz="1400" b="0">
                <a:solidFill>
                  <a:srgbClr val="202020"/>
                </a:solidFill>
              </a:rPr>
              <a:t> At </a:t>
            </a:r>
            <a:r>
              <a:rPr sz="1400" b="1">
                <a:solidFill>
                  <a:srgbClr val="202020"/>
                </a:solidFill>
              </a:rPr>
              <a:t>λ=0.3 (weak suppression)</a:t>
            </a:r>
            <a:r>
              <a:rPr sz="1400" b="0">
                <a:solidFill>
                  <a:srgbClr val="202020"/>
                </a:solidFill>
              </a:rPr>
              <a:t> ASR = </a:t>
            </a:r>
            <a:r>
              <a:rPr sz="1400" b="1">
                <a:solidFill>
                  <a:srgbClr val="202020"/>
                </a:solidFill>
              </a:rPr>
              <a:t>24.0% (18/75), +21.3pp</a:t>
            </a:r>
            <a:r>
              <a:rPr sz="1400" b="0">
                <a:solidFill>
                  <a:srgbClr val="202020"/>
                </a:solidFill>
              </a:rPr>
              <a:t> — the best 25-behaviour result of the project.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Strong suppression (λ=1.0 → 0%, λ=3.0 → 2.7%) kills it; weak suppression amplifies it.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Replicated</a:t>
            </a:r>
            <a:r>
              <a:rPr sz="1400" b="0">
                <a:solidFill>
                  <a:srgbClr val="202020"/>
                </a:solidFill>
              </a:rPr>
              <a:t> on a second seed (seed 43: </a:t>
            </a:r>
            <a:r>
              <a:rPr sz="1400" b="1">
                <a:solidFill>
                  <a:srgbClr val="202020"/>
                </a:solidFill>
              </a:rPr>
              <a:t>12.0%</a:t>
            </a:r>
            <a:r>
              <a:rPr sz="1400" b="0">
                <a:solidFill>
                  <a:srgbClr val="202020"/>
                </a:solidFill>
              </a:rPr>
              <a:t>). The effect is real but varies ~2× by seed.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Lesson:</a:t>
            </a:r>
            <a:r>
              <a:rPr sz="1400" b="0">
                <a:solidFill>
                  <a:srgbClr val="202020"/>
                </a:solidFill>
              </a:rPr>
              <a:t> "the two objectives are incompatible" was false — it only held at the one strength we first tried.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⚠ v2 update (slide 10C):</a:t>
            </a:r>
            <a:r>
              <a:rPr sz="1400" b="0">
                <a:solidFill>
                  <a:srgbClr val="202020"/>
                </a:solidFill>
              </a:rPr>
              <a:t> the 24% shrinks to </a:t>
            </a:r>
            <a:r>
              <a:rPr sz="1400" b="1">
                <a:solidFill>
                  <a:srgbClr val="202020"/>
                </a:solidFill>
              </a:rPr>
              <a:t>~10.7%</a:t>
            </a:r>
            <a:r>
              <a:rPr sz="1400" b="0">
                <a:solidFill>
                  <a:srgbClr val="202020"/>
                </a:solidFill>
              </a:rPr>
              <a:t> under the fix, but — unlike plain 5A — it </a:t>
            </a:r>
            <a:r>
              <a:rPr sz="1400" b="1">
                <a:solidFill>
                  <a:srgbClr val="202020"/>
                </a:solidFill>
              </a:rPr>
              <a:t>keeps a real +8pp uplift</a:t>
            </a:r>
            <a:r>
              <a:rPr sz="1400" b="0">
                <a:solidFill>
                  <a:srgbClr val="202020"/>
                </a:solidFill>
              </a:rPr>
              <a:t>. This lever survives.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8. Stage 4 — Sprint 2: Four Follow-ups, All Null or Negative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Causal test — does "compliant framing" cause success?</a:t>
            </a:r>
            <a:r>
              <a:rPr sz="1500" b="0">
                <a:solidFill>
                  <a:srgbClr val="202020"/>
                </a:solidFill>
              </a:rPr>
              <a:t> We forced the model's reasoning to open with compliant framing. Result: </a:t>
            </a:r>
            <a:r>
              <a:rPr sz="1500" b="1">
                <a:solidFill>
                  <a:srgbClr val="202020"/>
                </a:solidFill>
              </a:rPr>
              <a:t>8% vs 12%</a:t>
            </a:r>
            <a:r>
              <a:rPr sz="1500" b="0">
                <a:solidFill>
                  <a:srgbClr val="202020"/>
                </a:solidFill>
              </a:rPr>
              <a:t> baseline, </a:t>
            </a:r>
            <a:r>
              <a:rPr sz="1500" b="1">
                <a:solidFill>
                  <a:srgbClr val="202020"/>
                </a:solidFill>
              </a:rPr>
              <a:t>p=1.0 → no causal effect.</a:t>
            </a:r>
            <a:r>
              <a:rPr sz="1500" b="0">
                <a:solidFill>
                  <a:srgbClr val="202020"/>
                </a:solidFill>
              </a:rPr>
              <a:t> An earlier correlation was NOT causal. (Uses no suffix, so it is unaffected by the later bug.)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Third model (DeepSeek-R1):</a:t>
            </a:r>
            <a:r>
              <a:rPr sz="1500" b="0">
                <a:solidFill>
                  <a:srgbClr val="202020"/>
                </a:solidFill>
              </a:rPr>
              <a:t> already </a:t>
            </a:r>
            <a:r>
              <a:rPr sz="1500" b="1">
                <a:solidFill>
                  <a:srgbClr val="202020"/>
                </a:solidFill>
              </a:rPr>
              <a:t>~50% compliant with NO attack</a:t>
            </a:r>
            <a:r>
              <a:rPr sz="1500" b="0">
                <a:solidFill>
                  <a:srgbClr val="202020"/>
                </a:solidFill>
              </a:rPr>
              <a:t> (CoT 49% vs 47% baseline) → no safety "headroom" for GCG to add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Gemma4 CoT-channel v2 (800 steps):</a:t>
            </a:r>
            <a:r>
              <a:rPr sz="1500" b="0">
                <a:solidFill>
                  <a:srgbClr val="202020"/>
                </a:solidFill>
              </a:rPr>
              <a:t> the special tokens are trainable now, but ASR still </a:t>
            </a:r>
            <a:r>
              <a:rPr sz="1500" b="1">
                <a:solidFill>
                  <a:srgbClr val="202020"/>
                </a:solidFill>
              </a:rPr>
              <a:t>0%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Attack-quality tweaks:</a:t>
            </a:r>
            <a:r>
              <a:rPr sz="1500" b="0">
                <a:solidFill>
                  <a:srgbClr val="202020"/>
                </a:solidFill>
              </a:rPr>
              <a:t> longer suffix = </a:t>
            </a:r>
            <a:r>
              <a:rPr sz="1500" b="1">
                <a:solidFill>
                  <a:srgbClr val="202020"/>
                </a:solidFill>
              </a:rPr>
              <a:t>2.7%</a:t>
            </a:r>
            <a:r>
              <a:rPr sz="1500" b="0">
                <a:solidFill>
                  <a:srgbClr val="202020"/>
                </a:solidFill>
              </a:rPr>
              <a:t>; seed-44 + live-ASR selection = </a:t>
            </a:r>
            <a:r>
              <a:rPr sz="1500" b="1">
                <a:solidFill>
                  <a:srgbClr val="202020"/>
                </a:solidFill>
              </a:rPr>
              <a:t>4.0%</a:t>
            </a:r>
            <a:r>
              <a:rPr sz="1500" b="0">
                <a:solidFill>
                  <a:srgbClr val="202020"/>
                </a:solidFill>
              </a:rPr>
              <a:t> — both worse than the 10.7% reference.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Takeaway:</a:t>
            </a:r>
            <a:r>
              <a:rPr sz="1500" b="0">
                <a:solidFill>
                  <a:srgbClr val="202020"/>
                </a:solidFill>
              </a:rPr>
              <a:t> none of these four directions helped — they ruled out tempting explanations and dead 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9. Stage 5 — Sprint 3: Scaling to 520 + the Best New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Scaled the λ=0.3 recipe to all 520 behaviours:</a:t>
            </a:r>
            <a:r>
              <a:rPr sz="1400" b="0">
                <a:solidFill>
                  <a:srgbClr val="202020"/>
                </a:solidFill>
              </a:rPr>
              <a:t> seed 42 (9A) = </a:t>
            </a:r>
            <a:r>
              <a:rPr sz="1400" b="1">
                <a:solidFill>
                  <a:srgbClr val="202020"/>
                </a:solidFill>
              </a:rPr>
              <a:t>11.21% combo / 94 of 520 behaviours</a:t>
            </a:r>
            <a:r>
              <a:rPr sz="1400" b="0">
                <a:solidFill>
                  <a:srgbClr val="202020"/>
                </a:solidFill>
              </a:rPr>
              <a:t>; seed 45 (9B) = </a:t>
            </a:r>
            <a:r>
              <a:rPr sz="1400" b="1">
                <a:solidFill>
                  <a:srgbClr val="202020"/>
                </a:solidFill>
              </a:rPr>
              <a:t>8.83% / 72 behaviours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λ=0.3 is </a:t>
            </a:r>
            <a:r>
              <a:rPr sz="1400" b="1">
                <a:solidFill>
                  <a:srgbClr val="202020"/>
                </a:solidFill>
              </a:rPr>
              <a:t>not additive across seeds</a:t>
            </a:r>
            <a:r>
              <a:rPr sz="1400" b="0">
                <a:solidFill>
                  <a:srgbClr val="202020"/>
                </a:solidFill>
              </a:rPr>
              <a:t> (a fresh seed-45 run, 9C, gave 6.09%).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Headline result (10F) — a free "union" ensemble:</a:t>
            </a:r>
            <a:r>
              <a:rPr sz="1400" b="0">
                <a:solidFill>
                  <a:srgbClr val="202020"/>
                </a:solidFill>
              </a:rPr>
              <a:t> count a behaviour as won if either the seed-42 or seed-45 run wins it → </a:t>
            </a:r>
            <a:r>
              <a:rPr sz="1400" b="1">
                <a:solidFill>
                  <a:srgbClr val="202020"/>
                </a:solidFill>
              </a:rPr>
              <a:t>13.97% combo, 110 of 520 behaviours (21.2%)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Better than either seed alone, at </a:t>
            </a:r>
            <a:r>
              <a:rPr sz="1300" b="1">
                <a:solidFill>
                  <a:srgbClr val="555555"/>
                </a:solidFill>
              </a:rPr>
              <a:t>zero extra optimization cost</a:t>
            </a:r>
            <a:r>
              <a:rPr sz="1300" b="0">
                <a:solidFill>
                  <a:srgbClr val="555555"/>
                </a:solidFill>
              </a:rPr>
              <a:t> — because the seeds win on different behaviours (38 only seed-42, 16 only seed-45, 56 both).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Gemma4 (10A, "EmptyThink" recipe) at 520 scale:</a:t>
            </a:r>
            <a:r>
              <a:rPr sz="1400" b="0">
                <a:solidFill>
                  <a:srgbClr val="202020"/>
                </a:solidFill>
              </a:rPr>
              <a:t> </a:t>
            </a:r>
            <a:r>
              <a:rPr sz="1400" b="1">
                <a:solidFill>
                  <a:srgbClr val="202020"/>
                </a:solidFill>
              </a:rPr>
              <a:t>3.91% vs 2.31%</a:t>
            </a:r>
            <a:r>
              <a:rPr sz="1400" b="0">
                <a:solidFill>
                  <a:srgbClr val="202020"/>
                </a:solidFill>
              </a:rPr>
              <a:t> baseline (</a:t>
            </a:r>
            <a:r>
              <a:rPr sz="1400" b="1">
                <a:solidFill>
                  <a:srgbClr val="202020"/>
                </a:solidFill>
              </a:rPr>
              <a:t>+1.6pp</a:t>
            </a:r>
            <a:r>
              <a:rPr sz="1400" b="0">
                <a:solidFill>
                  <a:srgbClr val="202020"/>
                </a:solidFill>
              </a:rPr>
              <a:t>), consistent across seeds — modest, but </a:t>
            </a:r>
            <a:r>
              <a:rPr sz="1400" b="1">
                <a:solidFill>
                  <a:srgbClr val="202020"/>
                </a:solidFill>
              </a:rPr>
              <a:t>Gemma4's best result of the whole project.</a:t>
            </a:r>
            <a:r>
              <a:rPr sz="14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⚠ v2 update (slides 10C):</a:t>
            </a:r>
            <a:r>
              <a:rPr sz="1400" b="0">
                <a:solidFill>
                  <a:srgbClr val="202020"/>
                </a:solidFill>
              </a:rPr>
              <a:t> 9A/9B </a:t>
            </a:r>
            <a:r>
              <a:rPr sz="1400" b="1">
                <a:solidFill>
                  <a:srgbClr val="202020"/>
                </a:solidFill>
              </a:rPr>
              <a:t>keep uplift</a:t>
            </a:r>
            <a:r>
              <a:rPr sz="1400" b="0">
                <a:solidFill>
                  <a:srgbClr val="202020"/>
                </a:solidFill>
              </a:rPr>
              <a:t> under the fix (~12.7% / ~8.2%); Gemma4's 3.91% </a:t>
            </a:r>
            <a:r>
              <a:rPr sz="1400" b="1">
                <a:solidFill>
                  <a:srgbClr val="202020"/>
                </a:solidFill>
              </a:rPr>
              <a:t>collapses to ~1.4%</a:t>
            </a:r>
            <a:r>
              <a:rPr sz="1400" b="0">
                <a:solidFill>
                  <a:srgbClr val="202020"/>
                </a:solidFill>
              </a:rPr>
              <a:t> (below baseline).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10. Important Caveat — A Placement Bug Made the v1 Numbers Provisional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A code audit found a </a:t>
            </a:r>
            <a:r>
              <a:rPr sz="1500" b="1">
                <a:solidFill>
                  <a:srgbClr val="202020"/>
                </a:solidFill>
              </a:rPr>
              <a:t>suffix-placement bug</a:t>
            </a:r>
            <a:r>
              <a:rPr sz="1500" b="0">
                <a:solidFill>
                  <a:srgbClr val="202020"/>
                </a:solidFill>
              </a:rPr>
              <a:t> (we call it "B1"):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The suffix was </a:t>
            </a:r>
            <a:r>
              <a:rPr sz="1400" b="1">
                <a:solidFill>
                  <a:srgbClr val="555555"/>
                </a:solidFill>
              </a:rPr>
              <a:t>optimized inside the assistant's turn</a:t>
            </a:r>
            <a:r>
              <a:rPr sz="1400" b="0">
                <a:solidFill>
                  <a:srgbClr val="555555"/>
                </a:solidFill>
              </a:rPr>
              <a:t>, but </a:t>
            </a:r>
            <a:r>
              <a:rPr sz="1400" b="1">
                <a:solidFill>
                  <a:srgbClr val="555555"/>
                </a:solidFill>
              </a:rPr>
              <a:t>evaluated in the user's turn</a:t>
            </a:r>
            <a:r>
              <a:rPr sz="1400" b="0">
                <a:solidFill>
                  <a:srgbClr val="555555"/>
                </a:solidFill>
              </a:rPr>
              <a:t> — a mismatch, so the optimizer was tuned on a slightly different prompt than we tested.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Consequence:</a:t>
            </a:r>
            <a:r>
              <a:rPr sz="1500" b="0">
                <a:solidFill>
                  <a:srgbClr val="202020"/>
                </a:solidFill>
              </a:rPr>
              <a:t> every ASR magnitude on the earlier slides (10.7%, 24%, 8.9%, 14%, …) is </a:t>
            </a:r>
            <a:r>
              <a:rPr sz="1500" b="1">
                <a:solidFill>
                  <a:srgbClr val="202020"/>
                </a:solidFill>
              </a:rPr>
              <a:t>provisional</a:t>
            </a:r>
            <a:r>
              <a:rPr sz="1500" b="0">
                <a:solidFill>
                  <a:srgbClr val="202020"/>
                </a:solidFill>
              </a:rPr>
              <a:t> until re-run with the fix.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still holds (expected to survive):</a:t>
            </a:r>
            <a:r>
              <a:rPr sz="1500" b="0">
                <a:solidFill>
                  <a:srgbClr val="202020"/>
                </a:solidFill>
              </a:rPr>
              <a:t> the directions of every finding (CoT-prefix helps, weak λ=0.3 helps, the ensemble helps), the detection AUC, the baselines, and the causal test.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This bug is also the likely reason </a:t>
            </a:r>
            <a:r>
              <a:rPr sz="1500" b="1">
                <a:solidFill>
                  <a:srgbClr val="202020"/>
                </a:solidFill>
              </a:rPr>
              <a:t>"loss doesn't predict ASR"</a:t>
            </a:r>
            <a:r>
              <a:rPr sz="1500" b="0">
                <a:solidFill>
                  <a:srgbClr val="202020"/>
                </a:solidFill>
              </a:rPr>
              <a:t> (loss was measured on the wrong prompt).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Status — the fixed re-run has now produced its first results (next four slides, 10A–10D):</a:t>
            </a:r>
            <a:r>
              <a:rPr sz="1500" b="0">
                <a:solidFill>
                  <a:srgbClr val="202020"/>
                </a:solidFill>
              </a:rPr>
              <a:t> they change the magnitudes — the gate shows canonical GCG collapses to baseline, but the collapse is </a:t>
            </a:r>
            <a:r>
              <a:rPr sz="1500" b="1">
                <a:solidFill>
                  <a:srgbClr val="202020"/>
                </a:solidFill>
              </a:rPr>
              <a:t>not universal</a:t>
            </a:r>
            <a:r>
              <a:rPr sz="1500" b="0">
                <a:solidFill>
                  <a:srgbClr val="202020"/>
                </a:solidFill>
              </a:rPr>
              <a:t>. 520-scale v2 numbers are still </a:t>
            </a:r>
            <a:r>
              <a:rPr sz="1500" b="1">
                <a:solidFill>
                  <a:srgbClr val="202020"/>
                </a:solidFill>
              </a:rPr>
              <a:t>partial</a:t>
            </a:r>
            <a:r>
              <a:rPr sz="1500" b="0">
                <a:solidFill>
                  <a:srgbClr val="202020"/>
                </a:solidFill>
              </a:rPr>
              <a:t> (evals running).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10A. v2 Re-run — The Gate: Canonical GCG Collapses</a:t>
            </a:r>
          </a:p>
          <a:p>
            <a:r>
              <a:rPr sz="1500" i="1">
                <a:solidFill>
                  <a:srgbClr val="555555"/>
                </a:solidFill>
              </a:rPr>
              <a:t>Fixed optimizer (suffix correctly in the user turn) · 25 behaviours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gate test:</a:t>
            </a:r>
            <a:r>
              <a:rPr sz="1500" b="0">
                <a:solidFill>
                  <a:srgbClr val="202020"/>
                </a:solidFill>
              </a:rPr>
              <a:t> re-run the flagship 5A CoT-prefix attack with the suffix correctly in the </a:t>
            </a:r>
            <a:r>
              <a:rPr sz="1500" b="1">
                <a:solidFill>
                  <a:srgbClr val="202020"/>
                </a:solidFill>
              </a:rPr>
              <a:t>user turn</a:t>
            </a:r>
            <a:r>
              <a:rPr sz="1500" b="0">
                <a:solidFill>
                  <a:srgbClr val="202020"/>
                </a:solidFill>
              </a:rPr>
              <a:t> (canonical GCG) and ask — does the 10.7% hold?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 10.7% → 4.0% (3/75) — exactly the baseline level</a:t>
            </a:r>
            <a:r>
              <a:rPr sz="1500" b="0">
                <a:solidFill>
                  <a:srgbClr val="202020"/>
                </a:solidFill>
              </a:rPr>
              <a:t> (no-suffix 4.0%, random 5.3%, task-only 2.7%). </a:t>
            </a:r>
            <a:r>
              <a:rPr sz="1500" b="1">
                <a:solidFill>
                  <a:srgbClr val="202020"/>
                </a:solidFill>
              </a:rPr>
              <a:t>Zero uplift.</a:t>
            </a:r>
            <a:r>
              <a:rPr sz="15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Why:</a:t>
            </a:r>
            <a:r>
              <a:rPr sz="1500" b="0">
                <a:solidFill>
                  <a:srgbClr val="202020"/>
                </a:solidFill>
              </a:rPr>
              <a:t> v1's assistant-turn suffix was accidentally a </a:t>
            </a:r>
            <a:r>
              <a:rPr sz="1500" b="1">
                <a:solidFill>
                  <a:srgbClr val="202020"/>
                </a:solidFill>
              </a:rPr>
              <a:t>response-prefill attack</a:t>
            </a:r>
            <a:r>
              <a:rPr sz="1500" b="0">
                <a:solidFill>
                  <a:srgbClr val="202020"/>
                </a:solidFill>
              </a:rPr>
              <a:t> — its "successes" literally began with "Sure! Below is a fake-news website…". The correct user-turn attack can't force that opening, so the model reasons in &lt;think&gt; and refuses.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Verified real, not a scoring glitch:</a:t>
            </a:r>
            <a:r>
              <a:rPr sz="1500" b="0">
                <a:solidFill>
                  <a:srgbClr val="202020"/>
                </a:solidFill>
              </a:rPr>
              <a:t> all </a:t>
            </a:r>
            <a:r>
              <a:rPr sz="1500" b="1">
                <a:solidFill>
                  <a:srgbClr val="202020"/>
                </a:solidFill>
              </a:rPr>
              <a:t>66/66</a:t>
            </a:r>
            <a:r>
              <a:rPr sz="1500" b="0">
                <a:solidFill>
                  <a:srgbClr val="202020"/>
                </a:solidFill>
              </a:rPr>
              <a:t> v2 failures are genuine refusals; re-scoring old v1 rows with today's judge reproduced them exactly (</a:t>
            </a:r>
            <a:r>
              <a:rPr sz="1500" b="1">
                <a:solidFill>
                  <a:srgbClr val="202020"/>
                </a:solidFill>
              </a:rPr>
              <a:t>0/6 drift</a:t>
            </a:r>
            <a:r>
              <a:rPr sz="15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Meaning:</a:t>
            </a:r>
            <a:r>
              <a:rPr sz="1500" b="0">
                <a:solidFill>
                  <a:srgbClr val="202020"/>
                </a:solidFill>
              </a:rPr>
              <a:t> v1's 10.7% was partly a prefill artifact → plain GCG is even weaker on thinking models than we thought. This </a:t>
            </a:r>
            <a:r>
              <a:rPr sz="1500" b="1">
                <a:solidFill>
                  <a:srgbClr val="202020"/>
                </a:solidFill>
              </a:rPr>
              <a:t>strengthens</a:t>
            </a:r>
            <a:r>
              <a:rPr sz="1500" b="0">
                <a:solidFill>
                  <a:srgbClr val="202020"/>
                </a:solidFill>
              </a:rPr>
              <a:t>, not overturns, the headline.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10B. v2 Re-run — Seed Variance Reverses the Ranking</a:t>
            </a:r>
          </a:p>
          <a:p>
            <a:r>
              <a:rPr sz="1500" i="1">
                <a:solidFill>
                  <a:srgbClr val="555555"/>
                </a:solidFill>
              </a:rPr>
              <a:t>Same 5A recipe, three optimization seeds, corrected placement · 25 behaviours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Seed 44: 23% (17/75)</a:t>
            </a:r>
            <a:r>
              <a:rPr sz="1500" b="0">
                <a:solidFill>
                  <a:srgbClr val="202020"/>
                </a:solidFill>
              </a:rPr>
              <a:t> vs 4% baseline — </a:t>
            </a:r>
            <a:r>
              <a:rPr sz="1500" b="1">
                <a:solidFill>
                  <a:srgbClr val="202020"/>
                </a:solidFill>
              </a:rPr>
              <a:t>+18pp, the best result</a:t>
            </a:r>
            <a:r>
              <a:rPr sz="1500" b="0">
                <a:solidFill>
                  <a:srgbClr val="202020"/>
                </a:solidFill>
              </a:rPr>
              <a:t> — yet seed 44 was v1's worst / "dead" seed (1.3%).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Seed 45: 9.6%</a:t>
            </a:r>
            <a:r>
              <a:rPr sz="1500" b="0">
                <a:solidFill>
                  <a:srgbClr val="202020"/>
                </a:solidFill>
              </a:rPr>
              <a:t> vs 4.1% (</a:t>
            </a:r>
            <a:r>
              <a:rPr sz="1500" b="1">
                <a:solidFill>
                  <a:srgbClr val="202020"/>
                </a:solidFill>
              </a:rPr>
              <a:t>+5.5pp</a:t>
            </a:r>
            <a:r>
              <a:rPr sz="1500" b="0">
                <a:solidFill>
                  <a:srgbClr val="202020"/>
                </a:solidFill>
              </a:rPr>
              <a:t>).   </a:t>
            </a:r>
            <a:r>
              <a:rPr sz="1500" b="1">
                <a:solidFill>
                  <a:srgbClr val="202020"/>
                </a:solidFill>
              </a:rPr>
              <a:t>Seed 43: 7%</a:t>
            </a:r>
            <a:r>
              <a:rPr sz="1500" b="0">
                <a:solidFill>
                  <a:srgbClr val="202020"/>
                </a:solidFill>
              </a:rPr>
              <a:t> vs 3% (marginal).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ranking flips:</a:t>
            </a:r>
            <a:r>
              <a:rPr sz="1500" b="0">
                <a:solidFill>
                  <a:srgbClr val="202020"/>
                </a:solidFill>
              </a:rPr>
              <a:t> v2 is </a:t>
            </a:r>
            <a:r>
              <a:rPr sz="1500" b="1">
                <a:solidFill>
                  <a:srgbClr val="202020"/>
                </a:solidFill>
              </a:rPr>
              <a:t>s44 &gt; s45 &gt; s43</a:t>
            </a:r>
            <a:r>
              <a:rPr sz="1500" b="0">
                <a:solidFill>
                  <a:srgbClr val="202020"/>
                </a:solidFill>
              </a:rPr>
              <a:t>; v1 was </a:t>
            </a:r>
            <a:r>
              <a:rPr sz="1500" b="1">
                <a:solidFill>
                  <a:srgbClr val="202020"/>
                </a:solidFill>
              </a:rPr>
              <a:t>s45 &gt; s43 &gt; s44</a:t>
            </a:r>
            <a:r>
              <a:rPr sz="1500" b="0">
                <a:solidFill>
                  <a:srgbClr val="202020"/>
                </a:solidFill>
              </a:rPr>
              <a:t>. The placement bug had scrambled the seed order.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Takeaway:</a:t>
            </a:r>
            <a:r>
              <a:rPr sz="1500" b="0">
                <a:solidFill>
                  <a:srgbClr val="202020"/>
                </a:solidFill>
              </a:rPr>
              <a:t> under correct placement, seed choice swings ASR from </a:t>
            </a:r>
            <a:r>
              <a:rPr sz="1500" b="1">
                <a:solidFill>
                  <a:srgbClr val="202020"/>
                </a:solidFill>
              </a:rPr>
              <a:t>~7% to ~23%</a:t>
            </a:r>
            <a:r>
              <a:rPr sz="1500" b="0">
                <a:solidFill>
                  <a:srgbClr val="202020"/>
                </a:solidFill>
              </a:rPr>
              <a:t>. "Canonical GCG is weak on thinking models" is too blunt — the result is highly </a:t>
            </a:r>
            <a:r>
              <a:rPr sz="1500" b="1">
                <a:solidFill>
                  <a:srgbClr val="202020"/>
                </a:solidFill>
              </a:rPr>
              <a:t>seed-dependent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Caveat: s44's successes skew to a few bio-modelling / misinformation behaviours and include some borderline-band StrongREJECT content — a judge-calibration nuance, not a bug. The relative seed-variance finding stands (n=75 each).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10C. v2 Re-run — The Collapse Is NOT Universal</a:t>
            </a:r>
          </a:p>
          <a:p>
            <a:r>
              <a:rPr sz="1500" i="1">
                <a:solidFill>
                  <a:srgbClr val="555555"/>
                </a:solidFill>
              </a:rPr>
              <a:t>520-behaviour evals under the fix (still partial, judge-bound)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The gate (5A) collapsed — but </a:t>
            </a:r>
            <a:r>
              <a:rPr sz="1500" b="1">
                <a:solidFill>
                  <a:srgbClr val="202020"/>
                </a:solidFill>
              </a:rPr>
              <a:t>other configurations keep real uplift under the fix:</a:t>
            </a:r>
            <a:r>
              <a:rPr sz="15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9A (refusal-direction, λ=0.3): ~12.7%</a:t>
            </a:r>
            <a:r>
              <a:rPr sz="1500" b="0">
                <a:solidFill>
                  <a:srgbClr val="202020"/>
                </a:solidFill>
              </a:rPr>
              <a:t> vs ~2.3% baseline → </a:t>
            </a:r>
            <a:r>
              <a:rPr sz="1500" b="1">
                <a:solidFill>
                  <a:srgbClr val="202020"/>
                </a:solidFill>
              </a:rPr>
              <a:t>+~10pp uplift.</a:t>
            </a:r>
            <a:r>
              <a:rPr sz="15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9B (seed-45 CoT): ~8.2%</a:t>
            </a:r>
            <a:r>
              <a:rPr sz="1500" b="0">
                <a:solidFill>
                  <a:srgbClr val="202020"/>
                </a:solidFill>
              </a:rPr>
              <a:t> vs ~2.9% baseline → </a:t>
            </a:r>
            <a:r>
              <a:rPr sz="1500" b="1">
                <a:solidFill>
                  <a:srgbClr val="202020"/>
                </a:solidFill>
              </a:rPr>
              <a:t>+~5pp uplift.</a:t>
            </a:r>
            <a:r>
              <a:rPr sz="15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collapses:</a:t>
            </a:r>
            <a:r>
              <a:rPr sz="1500" b="0">
                <a:solidFill>
                  <a:srgbClr val="202020"/>
                </a:solidFill>
              </a:rPr>
              <a:t> 5A / 7A seed-42 (~3% ≈ 2% baseline), and </a:t>
            </a:r>
            <a:r>
              <a:rPr sz="1500" b="1">
                <a:solidFill>
                  <a:srgbClr val="202020"/>
                </a:solidFill>
              </a:rPr>
              <a:t>Gemma4-10A ~1.4%</a:t>
            </a:r>
            <a:r>
              <a:rPr sz="1500" b="0">
                <a:solidFill>
                  <a:srgbClr val="202020"/>
                </a:solidFill>
              </a:rPr>
              <a:t> — below its 2.3% baseline (no uplift).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So the pattern is config/seed-specific:</a:t>
            </a:r>
            <a:r>
              <a:rPr sz="1500" b="0">
                <a:solidFill>
                  <a:srgbClr val="202020"/>
                </a:solidFill>
              </a:rPr>
              <a:t> refusal-direction guidance and certain seeds survive the fix; plain CoT-prefix on seed-42 and Gemma4 do not. This variance is exactly what the next slide exploits.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Caveat: 520-scale evals land partial (~800–2000 of 6240 rows) — these magnitudes will still move as the runs finish.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10D. v2 Re-run — New Branch: Per-Behaviour + ASR-Selection</a:t>
            </a:r>
          </a:p>
          <a:p>
            <a:r>
              <a:rPr sz="1500" i="1">
                <a:solidFill>
                  <a:srgbClr val="555555"/>
                </a:solidFill>
              </a:rPr>
              <a:t>Recovering attack strength after the universal suffix collapsed (pilot running)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The idea:</a:t>
            </a:r>
            <a:r>
              <a:rPr sz="1400" b="0">
                <a:solidFill>
                  <a:srgbClr val="202020"/>
                </a:solidFill>
              </a:rPr>
              <a:t> drop the one-suffix-fits-all constraint — optimize a suffix </a:t>
            </a:r>
            <a:r>
              <a:rPr sz="1400" b="1">
                <a:solidFill>
                  <a:srgbClr val="202020"/>
                </a:solidFill>
              </a:rPr>
              <a:t>per behaviour</a:t>
            </a:r>
            <a:r>
              <a:rPr sz="1400" b="0">
                <a:solidFill>
                  <a:srgbClr val="202020"/>
                </a:solidFill>
              </a:rPr>
              <a:t>, and pick the winning candidate by </a:t>
            </a:r>
            <a:r>
              <a:rPr sz="1400" b="1">
                <a:solidFill>
                  <a:srgbClr val="202020"/>
                </a:solidFill>
              </a:rPr>
              <a:t>actual ASR</a:t>
            </a:r>
            <a:r>
              <a:rPr sz="1400" b="0">
                <a:solidFill>
                  <a:srgbClr val="202020"/>
                </a:solidFill>
              </a:rPr>
              <a:t>, not by optimizer loss.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First result — advbench_001: 30%</a:t>
            </a:r>
            <a:r>
              <a:rPr sz="1400" b="0">
                <a:solidFill>
                  <a:srgbClr val="202020"/>
                </a:solidFill>
              </a:rPr>
              <a:t> vs 10% (no-suffix) / 0% (random) → </a:t>
            </a:r>
            <a:r>
              <a:rPr sz="1400" b="1">
                <a:solidFill>
                  <a:srgbClr val="202020"/>
                </a:solidFill>
              </a:rPr>
              <a:t>+20pp.</a:t>
            </a:r>
            <a:r>
              <a:rPr sz="14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Key detail:</a:t>
            </a:r>
            <a:r>
              <a:rPr sz="1400" b="0">
                <a:solidFill>
                  <a:srgbClr val="202020"/>
                </a:solidFill>
              </a:rPr>
              <a:t> the winning suffix came from a </a:t>
            </a:r>
            <a:r>
              <a:rPr sz="1400" b="1">
                <a:solidFill>
                  <a:srgbClr val="202020"/>
                </a:solidFill>
              </a:rPr>
              <a:t>mid-run checkpoint (step 299), not the final step</a:t>
            </a:r>
            <a:r>
              <a:rPr sz="1400" b="0">
                <a:solidFill>
                  <a:srgbClr val="202020"/>
                </a:solidFill>
              </a:rPr>
              <a:t> — direct evidence that </a:t>
            </a:r>
            <a:r>
              <a:rPr sz="1400" b="1">
                <a:solidFill>
                  <a:srgbClr val="202020"/>
                </a:solidFill>
              </a:rPr>
              <a:t>ASR-selection beats loss-selection</a:t>
            </a:r>
            <a:r>
              <a:rPr sz="1400" b="0">
                <a:solidFill>
                  <a:srgbClr val="202020"/>
                </a:solidFill>
              </a:rPr>
              <a:t> (the recurring "loss ≠ ASR" theme, now actionable).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advbench_021: 0pp</a:t>
            </a:r>
            <a:r>
              <a:rPr sz="1400" b="0">
                <a:solidFill>
                  <a:srgbClr val="202020"/>
                </a:solidFill>
              </a:rPr>
              <a:t> — some behaviours are just hard.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Pilot running now:</a:t>
            </a:r>
            <a:r>
              <a:rPr sz="1400" b="0">
                <a:solidFill>
                  <a:srgbClr val="202020"/>
                </a:solidFill>
              </a:rPr>
              <a:t> 12 behaviours × 4 target styles × 3 seeds = </a:t>
            </a:r>
            <a:r>
              <a:rPr sz="1400" b="1">
                <a:solidFill>
                  <a:srgbClr val="202020"/>
                </a:solidFill>
              </a:rPr>
              <a:t>144 optimizations</a:t>
            </a:r>
            <a:r>
              <a:rPr sz="1400" b="0">
                <a:solidFill>
                  <a:srgbClr val="202020"/>
                </a:solidFill>
              </a:rPr>
              <a:t>; early-scored behaviours ~⅔ crackable, mean best ~17%, winners from checkpoints. Small samples (10 generation seeds) → wide error bars.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Why it matters:</a:t>
            </a:r>
            <a:r>
              <a:rPr sz="1400" b="0">
                <a:solidFill>
                  <a:srgbClr val="202020"/>
                </a:solidFill>
              </a:rPr>
              <a:t> this is the live path to recovering attack strength on thinking models after the gate showed the universal suffix collapses.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11. How This Relates to Standard GCG — What Is the SAME</a:t>
            </a:r>
          </a:p>
          <a:p>
            <a:r>
              <a:rPr sz="1500" i="1">
                <a:solidFill>
                  <a:srgbClr val="555555"/>
                </a:solidFill>
              </a:rPr>
              <a:t>We adapted the standard attack (GCG, Zou et al. 2023), we did not invent a new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core algorithm — Greedy Coordinate Gradient (GCG, Zou et al. 2023).</a:t>
            </a:r>
            <a:r>
              <a:rPr sz="1600" b="0">
                <a:solidFill>
                  <a:srgbClr val="202020"/>
                </a:solidFill>
              </a:rPr>
              <a:t> For each position in the suffix, use the gradient of a teacher-forced target loss to shortlist the top-k token swaps, batch-test many candidates, and greedily keep the best.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attack surface:</a:t>
            </a:r>
            <a:r>
              <a:rPr sz="1600" b="0">
                <a:solidFill>
                  <a:srgbClr val="202020"/>
                </a:solidFill>
              </a:rPr>
              <a:t> a token suffix appended to the user's request, joined with a space — "{request} {suffix}" — exactly the original's format.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base objective:</a:t>
            </a:r>
            <a:r>
              <a:rPr sz="1600" b="0">
                <a:solidFill>
                  <a:srgbClr val="202020"/>
                </a:solidFill>
              </a:rPr>
              <a:t> a cross-entropy loss pushing the model to START its answer with a chosen compliant target string.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prompt placement (after our fix):</a:t>
            </a:r>
            <a:r>
              <a:rPr sz="1600" b="0">
                <a:solidFill>
                  <a:srgbClr val="202020"/>
                </a:solidFill>
              </a:rPr>
              <a:t> suffix in the USER turn, target in the ASSISTANT turn — we checked our corrected prompt-builder against the original `llm-attacks` `SuffixManager` code and it matches.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multi-behaviour idea:</a:t>
            </a:r>
            <a:r>
              <a:rPr sz="1600" b="0">
                <a:solidFill>
                  <a:srgbClr val="202020"/>
                </a:solidFill>
              </a:rPr>
              <a:t> aggregate gradients across several behaviours to search for a more universal suffix.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12. How This Relates to Standard GCG — What Is DIFFERENT (what we added)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New target models.</a:t>
            </a:r>
            <a:r>
              <a:rPr sz="1400" b="0">
                <a:solidFill>
                  <a:srgbClr val="202020"/>
                </a:solidFill>
              </a:rPr>
              <a:t> Original GCG attacks Llama-2 / Vicuna / GPT-family. We built adapters for reasoning models — Qwen3-14B, Gemma4-E4B-it, DeepSeek-R1 — which the original code never handled.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Thinking-model targeting — our main contribution.</a:t>
            </a:r>
            <a:r>
              <a:rPr sz="1400" b="0">
                <a:solidFill>
                  <a:srgbClr val="202020"/>
                </a:solidFill>
              </a:rPr>
              <a:t> Original GCG has no concept of a `&lt;think&gt;` reasoning block. Our key unlock (5A) makes the target include a fake `&lt;think&gt;…&lt;/think&gt;` prefix so it matches what a reasoning model actually generates first.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Richer objective.</a:t>
            </a:r>
            <a:r>
              <a:rPr sz="1400" b="0">
                <a:solidFill>
                  <a:srgbClr val="202020"/>
                </a:solidFill>
              </a:rPr>
              <a:t> Original GCG optimizes ONE loss (target cross-entropy). We add optional terms: representation-alignment, KL, and a refusal-direction suppression term (Stage 3's λ) folded into the candidate-proposal gradient.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Harder success test.</a:t>
            </a:r>
            <a:r>
              <a:rPr sz="1400" b="0">
                <a:solidFill>
                  <a:srgbClr val="202020"/>
                </a:solidFill>
              </a:rPr>
              <a:t> Original GCG scores a "win" by simple string matching (did the reply avoid phrases like "I'm sorry"?). We use the StrongREJECT LLM judge on free-form generation, against 3 controls — a much stricter bar.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Tokenizer fix.</a:t>
            </a:r>
            <a:r>
              <a:rPr sz="1400" b="0">
                <a:solidFill>
                  <a:srgbClr val="202020"/>
                </a:solidFill>
              </a:rPr>
              <a:t> Original GCG filters candidates by re-tokenization (`filter_cand=True`). On Qwen/Gemma's BPE tokenizers that silently kills all progress, so we disable it (`--no-filter-cand`).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Bonus — detection.</a:t>
            </a:r>
            <a:r>
              <a:rPr sz="1400" b="0">
                <a:solidFill>
                  <a:srgbClr val="202020"/>
                </a:solidFill>
              </a:rPr>
              <a:t> We added a first-token hidden-state detector (AUC, slide 6) — not part of GCG at all.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Honesty tie-in:</a:t>
            </a:r>
            <a:r>
              <a:rPr sz="1400" b="0">
                <a:solidFill>
                  <a:srgbClr val="202020"/>
                </a:solidFill>
              </a:rPr>
              <a:t> the placement bug (slide 10) was itself a divergence from canonical GCG (we optimized in the assistant turn); the fix re-aligns us to the original.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13. Summary — What We Actually Learned (updated with the v2 re-run)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1. CoT-prefix targeting</a:t>
            </a:r>
            <a:r>
              <a:rPr sz="1400" b="0">
                <a:solidFill>
                  <a:srgbClr val="202020"/>
                </a:solidFill>
              </a:rPr>
              <a:t> was the v1 unlock — but the corrected v2 re-run shows </a:t>
            </a:r>
            <a:r>
              <a:rPr sz="1400" b="1">
                <a:solidFill>
                  <a:srgbClr val="202020"/>
                </a:solidFill>
              </a:rPr>
              <a:t>plain canonical GCG collapses to baseline</a:t>
            </a:r>
            <a:r>
              <a:rPr sz="1400" b="0">
                <a:solidFill>
                  <a:srgbClr val="202020"/>
                </a:solidFill>
              </a:rPr>
              <a:t> on thinking models (5A 10.7% → </a:t>
            </a:r>
            <a:r>
              <a:rPr sz="1400" b="1">
                <a:solidFill>
                  <a:srgbClr val="202020"/>
                </a:solidFill>
              </a:rPr>
              <a:t>4.0%</a:t>
            </a:r>
            <a:r>
              <a:rPr sz="1400" b="0">
                <a:solidFill>
                  <a:srgbClr val="202020"/>
                </a:solidFill>
              </a:rPr>
              <a:t>); v1's number was partly a response-prefill artifact.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2. The collapse is NOT universal:</a:t>
            </a:r>
            <a:r>
              <a:rPr sz="1400" b="0">
                <a:solidFill>
                  <a:srgbClr val="202020"/>
                </a:solidFill>
              </a:rPr>
              <a:t> refusal-direction (λ=0.3, 9A ~12%) and some seeds (</a:t>
            </a:r>
            <a:r>
              <a:rPr sz="1400" b="1">
                <a:solidFill>
                  <a:srgbClr val="202020"/>
                </a:solidFill>
              </a:rPr>
              <a:t>s44 23%</a:t>
            </a:r>
            <a:r>
              <a:rPr sz="1400" b="0">
                <a:solidFill>
                  <a:srgbClr val="202020"/>
                </a:solidFill>
              </a:rPr>
              <a:t>, s45) </a:t>
            </a:r>
            <a:r>
              <a:rPr sz="1400" b="1">
                <a:solidFill>
                  <a:srgbClr val="202020"/>
                </a:solidFill>
              </a:rPr>
              <a:t>keep real uplift</a:t>
            </a:r>
            <a:r>
              <a:rPr sz="1400" b="0">
                <a:solidFill>
                  <a:srgbClr val="202020"/>
                </a:solidFill>
              </a:rPr>
              <a:t> under the fix — the effect is strongly </a:t>
            </a:r>
            <a:r>
              <a:rPr sz="1400" b="1">
                <a:solidFill>
                  <a:srgbClr val="202020"/>
                </a:solidFill>
              </a:rPr>
              <a:t>seed / config-dependent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3. Seed choice dominates:</a:t>
            </a:r>
            <a:r>
              <a:rPr sz="1400" b="0">
                <a:solidFill>
                  <a:srgbClr val="202020"/>
                </a:solidFill>
              </a:rPr>
              <a:t> v2 swings ASR </a:t>
            </a:r>
            <a:r>
              <a:rPr sz="1400" b="1">
                <a:solidFill>
                  <a:srgbClr val="202020"/>
                </a:solidFill>
              </a:rPr>
              <a:t>~7% → ~23%</a:t>
            </a:r>
            <a:r>
              <a:rPr sz="1400" b="0">
                <a:solidFill>
                  <a:srgbClr val="202020"/>
                </a:solidFill>
              </a:rPr>
              <a:t> and </a:t>
            </a:r>
            <a:r>
              <a:rPr sz="1400" b="1">
                <a:solidFill>
                  <a:srgbClr val="202020"/>
                </a:solidFill>
              </a:rPr>
              <a:t>reverses</a:t>
            </a:r>
            <a:r>
              <a:rPr sz="1400" b="0">
                <a:solidFill>
                  <a:srgbClr val="202020"/>
                </a:solidFill>
              </a:rPr>
              <a:t> v1's seed ranking (the bug had scrambled it).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4. New per-behaviour + ASR-selection branch</a:t>
            </a:r>
            <a:r>
              <a:rPr sz="1400" b="0">
                <a:solidFill>
                  <a:srgbClr val="202020"/>
                </a:solidFill>
              </a:rPr>
              <a:t> recovers uplift on crackable behaviours (advbench_001 </a:t>
            </a:r>
            <a:r>
              <a:rPr sz="1400" b="1">
                <a:solidFill>
                  <a:srgbClr val="202020"/>
                </a:solidFill>
              </a:rPr>
              <a:t>+20pp</a:t>
            </a:r>
            <a:r>
              <a:rPr sz="1400" b="0">
                <a:solidFill>
                  <a:srgbClr val="202020"/>
                </a:solidFill>
              </a:rPr>
              <a:t>); the winner came from a checkpoint → </a:t>
            </a:r>
            <a:r>
              <a:rPr sz="1400" b="1">
                <a:solidFill>
                  <a:srgbClr val="202020"/>
                </a:solidFill>
              </a:rPr>
              <a:t>ASR-selection beats loss-selection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5. Detection is unchanged and robust:</a:t>
            </a:r>
            <a:r>
              <a:rPr sz="1400" b="0">
                <a:solidFill>
                  <a:srgbClr val="202020"/>
                </a:solidFill>
              </a:rPr>
              <a:t> Qwen3 attacks perfectly detectable at token 0 (</a:t>
            </a:r>
            <a:r>
              <a:rPr sz="1400" b="1">
                <a:solidFill>
                  <a:srgbClr val="202020"/>
                </a:solidFill>
              </a:rPr>
              <a:t>AUC 1.0</a:t>
            </a:r>
            <a:r>
              <a:rPr sz="1400" b="0">
                <a:solidFill>
                  <a:srgbClr val="202020"/>
                </a:solidFill>
              </a:rPr>
              <a:t>); Gemma4 resists almost everything (and collapses to ~1.4% under the fix).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6. Optimizer loss still does NOT predict</a:t>
            </a:r>
            <a:r>
              <a:rPr sz="1400" b="0">
                <a:solidFill>
                  <a:srgbClr val="202020"/>
                </a:solidFill>
              </a:rPr>
              <a:t> attack success — now being turned into a tool (ASR-selection).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Bottom line:</a:t>
            </a:r>
            <a:r>
              <a:rPr sz="1400" b="0">
                <a:solidFill>
                  <a:srgbClr val="202020"/>
                </a:solidFill>
              </a:rPr>
              <a:t> the v1 directions mostly hold, but the corrected re-run </a:t>
            </a:r>
            <a:r>
              <a:rPr sz="1400" b="1">
                <a:solidFill>
                  <a:srgbClr val="202020"/>
                </a:solidFill>
              </a:rPr>
              <a:t>lowers the plain-GCG magnitudes to baseline</a:t>
            </a:r>
            <a:r>
              <a:rPr sz="1400" b="0">
                <a:solidFill>
                  <a:srgbClr val="202020"/>
                </a:solidFill>
              </a:rPr>
              <a:t> and relocates the signal to refusal-direction / seed / per-behaviour variants. 520-scale v2 numbers are still </a:t>
            </a:r>
            <a:r>
              <a:rPr sz="1400" b="1">
                <a:solidFill>
                  <a:srgbClr val="202020"/>
                </a:solidFill>
              </a:rPr>
              <a:t>partial</a:t>
            </a:r>
            <a:r>
              <a:rPr sz="1400" b="0">
                <a:solidFill>
                  <a:srgbClr val="202020"/>
                </a:solidFill>
              </a:rPr>
              <a:t> (evals running).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
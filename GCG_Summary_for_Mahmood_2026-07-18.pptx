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PURPOSE: 30-second opener. Say what this is and set the frame.</a:t>
            </a:r>
          </a:p>
          <a:p>
            <a:r>
              <a:t>SAY: This is a summary of ~3 weeks of work (July 2026) trying to jailbreak safety-tuned reasoning LLMs using optimized adversarial text suffixes — the GCG method.</a:t>
            </a:r>
          </a:p>
          <a:p>
            <a:r>
              <a:t>Models: Qwen3-14B is our main subject; Gemma4-E4B-it is a second model; DeepSeek-R1-Distill-Qwen-7B is a third family we tried once.</a:t>
            </a:r>
          </a:p>
          <a:p>
            <a:r>
              <a:t>Roadmap: background -&gt; how we measure -&gt; five stages of experiments -&gt; one important bug caveat -&gt; takeaways.</a:t>
            </a:r>
          </a:p>
          <a:p>
            <a:r>
              <a:t>HONESTY FRAME (say up front): the qualitative findings are solid, but a bug we found late means the exact percentages are provisional. I'll flag it clearly near the end (slide 10).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PURPOSE: give the audience the 4 words they need for the rest of the talk.</a:t>
            </a:r>
          </a:p>
          <a:p>
            <a:r>
              <a:t>Jailbreak = getting a safety-tuned model to produce harmful content it is trained to refuse.</a:t>
            </a:r>
          </a:p>
          <a:p>
            <a:r>
              <a:t>Adversarial suffix = a string of tokens we append to the user's request (often looks like gibberish). GCG is the algorithm that optimizes it.</a:t>
            </a:r>
          </a:p>
          <a:p>
            <a:r>
              <a:t>GCG (Greedy Coordinate Gradient, Zou et al. 2023): a white-box, gradient-guided search that, position by position, swaps tokens in the suffix to raise the probability the model STARTS its reply with a chosen 'compliant' sentence.</a:t>
            </a:r>
          </a:p>
          <a:p>
            <a:r>
              <a:t>Thinking models: Qwen3/Gemma4 first write a hidden reasoning block inside &lt;think&gt; ... &lt;/think&gt; before the visible answer. Remember this — it is the whole reason Stage 1 works.</a:t>
            </a:r>
          </a:p>
          <a:p>
            <a:r>
              <a:t>Refusal direction: from prior interpretability work, a single internal direction that encodes 'I refuse.' The 'CoT-Hijacking' paper got 91% jailbreak success by directly EDITING that direction inside the model.</a:t>
            </a:r>
          </a:p>
          <a:p>
            <a:r>
              <a:t>KEY: that 91% is a white-box ACTIVATION edit, not a text suffix — it is the theoretical ceiling. Our job is to approximate it using only input TEXT, which is much harder and more realistic.</a:t>
            </a:r>
          </a:p>
          <a:p>
            <a:r>
              <a:t>LIKELY Q ('why is 91% the ceiling?'): because internal manipulation is strictly stronger than a text-only attack.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PURPOSE: explain how every result is measured, so the later numbers are trusted.</a:t>
            </a:r>
          </a:p>
          <a:p>
            <a:r>
              <a:t>AdvBench = a standard benchmark of harmful instructions ('behaviours'). We use 25 for fast iteration (the 'dev panel') and the full 520 for scale claims.</a:t>
            </a:r>
          </a:p>
          <a:p>
            <a:r>
              <a:t>StrongREJECT = an automated LLM-based judge that scores whether an answer actually delivers harmful content (not merely 'failed to refuse'). One yes/no per attempt.</a:t>
            </a:r>
          </a:p>
          <a:p>
            <a:r>
              <a:t>ASR (Attack Success Rate) = successes / attempts. On 25 behaviours x 3 random seeds = 75 attempts, so we write X/75.</a:t>
            </a:r>
          </a:p>
          <a:p>
            <a:r>
              <a:t>CRUCIAL: we ALWAYS compare the optimized suffix against controls — no suffix, task-only, and a random-character suffix. What matters is UPLIFT (optimized minus control), not the raw number. A high ASR that doesn't beat controls is worthless.</a:t>
            </a:r>
          </a:p>
          <a:p>
            <a:r>
              <a:t>Two views at 520 scale: combo-ASR = each (behaviour x seed) attempt (strict); behaviour-ASR = a behaviour counts if ANY seed succeeds (lenient, always higher).</a:t>
            </a:r>
          </a:p>
          <a:p>
            <a:r>
              <a:t>Detection is a SEPARATE question: a tiny classifier reads the model's internal state at the first generated token to see if attacked prompts are distinguishable — scored by AUC (1.0 = perfect, 0.5 = coin flip).</a:t>
            </a:r>
          </a:p>
          <a:p>
            <a:r>
              <a:t>LIKELY Q ('why 3 seeds?'): generation is random; seeds average out sampling noise.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PURPOSE: the failure that motivates the whole project.</a:t>
            </a:r>
          </a:p>
          <a:p>
            <a:r>
              <a:t>We ran textbook GCG on Qwen3 with the classic target 'Sure, here is {task}'.</a:t>
            </a:r>
          </a:p>
          <a:p>
            <a:r>
              <a:t>Result: 4.0% — statistically the same as doing nothing. At full 520 scale it was even worse, 1.9%, actually slightly NET-NEGATIVE (the suffix suppressed a couple of control successes).</a:t>
            </a:r>
          </a:p>
          <a:p>
            <a:r>
              <a:t>Gemma4: flat 0% — never worked.</a:t>
            </a:r>
          </a:p>
          <a:p>
            <a:r>
              <a:t>WHY (the important bit): GCG's target assumes the model's FIRST output token is 'Sure'. But a thinking model's first token is the literal &lt;think&gt; tag — so we were optimizing for a position that never occurs. The target is misaligned with reality.</a:t>
            </a:r>
          </a:p>
          <a:p>
            <a:r>
              <a:t>This misalignment is exactly what the next slide fixes.</a:t>
            </a:r>
          </a:p>
          <a:p>
            <a:r>
              <a:t>LIKELY Q ('isn't GCG strong?'): yes, on non-thinking models (the original Llama work). Thinking models break its core assumption.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PURPOSE: the single most important result in the deck — spend time here.</a:t>
            </a:r>
          </a:p>
          <a:p>
            <a:r>
              <a:t>The fix: change the target to match what a thinking model really writes — prepend a short fake reasoning block: '&lt;think&gt; Okay, I can help. &lt;/think&gt;' then the compliance sentence. Now the target lines up with the model's actual token stream.</a:t>
            </a:r>
          </a:p>
          <a:p>
            <a:r>
              <a:t>Result: 10.7% ASR (8 of 75), +8pp over baseline — a real jump from ~2.7% with the standard target.</a:t>
            </a:r>
          </a:p>
          <a:p>
            <a:r>
              <a:t>COUNTERINTUITIVE POINT on the slide: in our data, attack success did NOT track the optimizer's loss (the slide cites task_loss 47.6 vs 20.52).</a:t>
            </a:r>
          </a:p>
          <a:p>
            <a:r>
              <a:t>State this HONESTLY, don't explain it away. Two caveats: (1) raw task_loss across different-length targets isn't an apples-to-apples 'lower is better' comparison (the master log flags this), so don't over-argue the 47.6-vs-20.52 direction; (2) MORE IMPORTANTLY, this loss-vs-ASR decoupling may itself be an ARTIFACT of the B1 placement bug (slide 10) — loss was computed on the assistant-turn prompt while ASR was measured on the user-turn prompt, so the two need not correlate. Present it as an observation we're re-testing, not a settled law.</a:t>
            </a:r>
          </a:p>
          <a:p>
            <a:r>
              <a:t>Supporting example (also B1-affected — caveat it): seeds 44 and 45 had near-identical loss (19.91 vs 19.98) but 1.3% vs 16.0% ASR (~11x gap). If Mahmood raises the bug, agree: 'right — the fixed re-run will tell us whether this decoupling survives.'</a:t>
            </a:r>
          </a:p>
          <a:p>
            <a:r>
              <a:t>Also flag forward: if we ALSO add FULL-strength refusal-direction suppression on top (Exp 6C, lambda=1.0), the gain is destroyed -&gt; 0% (-10.7pp). Remember this — Stage 3 shows WEAK suppression does the opposite.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PURPOSE: prove 5A isn't a fluke of 25 hand-picked behaviours.</a:t>
            </a:r>
          </a:p>
          <a:p>
            <a:r>
              <a:t>We took the single best 5A suffix and evaluated it on ALL 520 behaviours.</a:t>
            </a:r>
          </a:p>
          <a:p>
            <a:r>
              <a:t>Numbers: 8.01% on training seeds (125/1560); 8.92% on unseen seeds (131/1468), over 493 of 520 behaviours (~95% coverage).</a:t>
            </a:r>
          </a:p>
          <a:p>
            <a:r>
              <a:t>THE NUMBER THAT MATTERS is uplift, not raw ASR: +5.09pp, 95% CI [+3.4, +6.8] (excludes zero = real), and McNemar's paired test gives p &lt; 10^-10 (extremely significant).</a:t>
            </a:r>
          </a:p>
          <a:p>
            <a:r>
              <a:t>Why lower than the 25-beh 10.7%? Small dev panels overstate performance; also the unseen-seed baseline is naturally higher (~12%), which inflates raw unseen ASR — that's exactly why we lead with uplift, not the headline number.</a:t>
            </a:r>
          </a:p>
          <a:p>
            <a:r>
              <a:t>Where it works best: 'misinformation' behaviours get the biggest lift (+19.8pp) — the attack helps most where refusal is softest.</a:t>
            </a:r>
          </a:p>
          <a:p>
            <a:r>
              <a:t>HONESTY: high seed variance. Seed 45 best (16%/21%), seed 44 net-negative (1.3%). Same recipe, different random seed, very different outcome.</a:t>
            </a:r>
          </a:p>
          <a:p>
            <a:r>
              <a:t>LIKELY Q ('is 8.9% good?'): modest in absolute terms, but it's a real, statistically robust uplift that generalises to the full benchmark — most GCG-on-thinking-model attempts get essentially nothing.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PURPOSE: a defensive-security finding — even when the attack works, is it visible?</a:t>
            </a:r>
          </a:p>
          <a:p>
            <a:r>
              <a:t>We trained a simple logistic-regression detector on Qwen3's hidden state at the FIRST generated token. For every Qwen3 GCG variant it separates attacked vs clean with AUC = 1.000 — perfect.</a:t>
            </a:r>
          </a:p>
          <a:p>
            <a:r>
              <a:t>Robustness: holds under strict cross-validation — group-by-behaviour, leave-one-seed-out, leave-one-optimization-seed-out, and a 25-vs-495 behaviour split. Not memorisation; the signal generalises.</a:t>
            </a:r>
          </a:p>
          <a:p>
            <a:r>
              <a:t>Independent of ASR: even the weakest attack is perfectly detectable; the strongest suffix is still 'loud'. (Fun detail: seed 44 had the LOWEST ASR but the LARGEST activation shift.)</a:t>
            </a:r>
          </a:p>
          <a:p>
            <a:r>
              <a:t>Gemma4 is different: detector AUC only ~0.60-0.75 AND not specific — it flags 42.7% of harmless random text as an attack. So this is a Qwen3 story.</a:t>
            </a:r>
          </a:p>
          <a:p>
            <a:r>
              <a:t>CAVEAT (say if asked): measured optimized-vs-neutral only; we did NOT test an adaptive attacker trying to evade the detector. Do not call it 'production-ready'.</a:t>
            </a:r>
          </a:p>
          <a:p>
            <a:r>
              <a:t>LIKELY Q ('so the attack is useless if detectable?'): for a deployed system, largely yes — but detection and attack success are separate axes; the research value is understanding the attack.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PURPOSE: the biggest surprise of the project.</a:t>
            </a:r>
          </a:p>
          <a:p>
            <a:r>
              <a:t>Context: on slide 4 we saw FULL-strength refusal-direction suppression (lambda=1.0) destroyed the CoT-prefix gain (0%). We had concluded the two were incompatible.</a:t>
            </a:r>
          </a:p>
          <a:p>
            <a:r>
              <a:t>We tested that assumption by sweeping the suppression STRENGTH lambda. It turned out to be strength-specific, not a general truth.</a:t>
            </a:r>
          </a:p>
          <a:p>
            <a:r>
              <a:t>At lambda=0.3 (WEAK suppression, layer 25): ASR = 24.0% (18/75), +21.3pp — the best 25-behaviour result of the whole project, more than double plain CoT-prefix (10.7%).</a:t>
            </a:r>
          </a:p>
          <a:p>
            <a:r>
              <a:t>The pattern: strong suppression kills it (lambda=1.0 -&gt; 0%, lambda=3.0 -&gt; 2.67%); weak suppression amplifies it. There is a sweet spot.</a:t>
            </a:r>
          </a:p>
          <a:p>
            <a:r>
              <a:t>Replicated on a second seed (43: 12.0%). Real but seed-variable (~2x swing) — consistent with our general high seed variance.</a:t>
            </a:r>
          </a:p>
          <a:p>
            <a:r>
              <a:t>MECHANISM nuance (only if asked): the refusal-direction term shapes which candidate tokens get PROPOSED (via the gradient), not which get accepted — so 'jointly optimises' is imprecise; and it was measured on one behaviour, not averaged.</a:t>
            </a:r>
          </a:p>
          <a:p>
            <a:r>
              <a:t>LIKELY Q ('why does weak help but strong hurt?'): honestly not fully understood — strong suppression over-constrains / destabilises the search. It's an empirical sweet spot, not exhaustively characterised (only this layer/target, 2 seeds).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PURPOSE: intellectual honesty — four follow-ups that did NOT pan out. Negatives build credibility with Mahmood.</a:t>
            </a:r>
          </a:p>
          <a:p>
            <a:r>
              <a:t>Track 2 (the important one): we had a CORRELATION — generations whose reasoning 'restates the task' succeed more (12.8%) than ones that 'plan a refusal' (1.3%). Tempting to say the framing CAUSES success.</a:t>
            </a:r>
          </a:p>
          <a:p>
            <a:r>
              <a:t>We tested it causally: forced the model's &lt;think&gt; to open with compliant framing, then let it generate freely. Result: 8% (2/25) vs 12% (3/25) baseline, McNemar p=1.0 -&gt; NO causal effect. So we must NOT claim the framing is causal. (Uses no suffix, so it's immune to the slide-10 bug — a clean result.)</a:t>
            </a:r>
          </a:p>
          <a:p>
            <a:r>
              <a:t>Track 3: tried a 3rd family, DeepSeek-R1. It is already ~50% compliant with NO attack (49% vs 47%) -&gt; no safety 'headroom' for GCG to show value. A different failure mode, not a refutation.</a:t>
            </a:r>
          </a:p>
          <a:p>
            <a:r>
              <a:t>Track 1: pushed Gemma4's special 'channel-token' attack to 800 steps. The tokens ARE trainable (loss dropped a lot), which refutes the old 'architecturally impossible' claim — but ASR was still 0%. Mechanism corrected, conclusion unchanged.</a:t>
            </a:r>
          </a:p>
          <a:p>
            <a:r>
              <a:t>Track 4: two attempts to improve Qwen3's attack (a longer 35-token suffix; live-ASR-guided seed selection) gave 2.7% and 4.0% — both WORSE than the 10.7% reference.</a:t>
            </a:r>
          </a:p>
          <a:p>
            <a:r>
              <a:t>TAKEAWAY: we ruled out an over-claim and several dead ends.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PURPOSE: scaling the winning lambda=0.3 recipe to 520, plus the best NEW result.</a:t>
            </a:r>
          </a:p>
          <a:p>
            <a:r>
              <a:t>9A (seed 42): 11.21% combo-ASR, winning 94 of 520 behaviours (18%). 9B (seed 45): 8.83%, 72 behaviours.</a:t>
            </a:r>
          </a:p>
          <a:p>
            <a:r>
              <a:t>Does lambda=0.3 stack with a good seed? A fresh seed-45 run (9C) got only 6.09% — so lambda=0.3 is NOT additive across seeds; it helped seed 42 a lot, seed 45 much less.</a:t>
            </a:r>
          </a:p>
          <a:p>
            <a:r>
              <a:t>HEADLINE (10F): the two seeds succeed on DIFFERENT behaviours, so take the UNION — count a behaviour won if EITHER seed wins it. Result: 13.97% combo, 110 of 520 behaviours (21.2%) — better than either seed alone, at ZERO extra optimization cost (just combining runs we already had).</a:t>
            </a:r>
          </a:p>
          <a:p>
            <a:r>
              <a:t>Overlap proof it's real diversity, not noise: 38 behaviours only seed-42, 16 only seed-45, 56 both. This is the clearest new positive result of Sprint 3.</a:t>
            </a:r>
          </a:p>
          <a:p>
            <a:r>
              <a:t>Gemma4 (10A, 'EmptyThink' recipe) scaled to 520: 3.91% vs 2.31% baseline (+1.6pp), consistent across 3 seeds — modest, but Gemma4's BEST result of the project and the first positive, multi-seed-consistent one at full scale. Reframes Gemma4 from 'totally unsolved' to 'one working recipe'.</a:t>
            </a:r>
          </a:p>
          <a:p>
            <a:r>
              <a:t>LIKELY Q ('why is the ensemble better?'): seed diversity — different random seeds crack different behaviours, so combining broadens coverage for free.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PURPOSE: the critical honesty slide — do NOT skip it; presenting it first protects your credibility.</a:t>
            </a:r>
          </a:p>
          <a:p>
            <a:r>
              <a:t>A dedicated CODE audit (after all the experiments) found a bug we call B1.</a:t>
            </a:r>
          </a:p>
          <a:p>
            <a:r>
              <a:t>THE BUG: when OPTIMIZING the suffix, the code placed it inside the ASSISTANT's turn of the chat template; when EVALUATING, it placed the same suffix in the USER's turn. So the optimizer was tuned on a slightly different prompt than we actually tested. The canonical GCG attack (Zou et al.) puts the suffix in the USER turn — so eval was correct and the optimization was the deviation.</a:t>
            </a:r>
          </a:p>
          <a:p>
            <a:r>
              <a:t>CONSEQUENCE: every ASR MAGNITUDE in this deck (10.7%, 24%, 8.9%, 14%, 3.9%) is provisional — it could move up or down after re-running with the fix.</a:t>
            </a:r>
          </a:p>
          <a:p>
            <a:r>
              <a:t>WHAT SURVIVES (say this clearly): the DIRECTIONS of every finding (CoT-prefix helps, weak lambda=0.3 helps, the ensemble helps), the detection AUC (built on clean generations, not the optimized suffix), the baselines, and the causal test (no suffix). The qualitative story stands.</a:t>
            </a:r>
          </a:p>
          <a:p>
            <a:r>
              <a:t>It also likely EXPLAINS 'loss doesn't predict ASR': loss was computed on the assistant-turn prompt while ASR was measured on the user-turn prompt — so of course they didn't correlate. If that decoupling shrinks after the fix, we'll revise that claim.</a:t>
            </a:r>
          </a:p>
          <a:p>
            <a:r>
              <a:t>STATUS: fix implemented (suffix in the user turn, verified byte-identical to eval), tiered re-run running now. There's a GATE run — if fixed-5A ASR is much higher than 10.7% we re-run everything; if unchanged, the bug didn't drive the numbers.</a:t>
            </a:r>
          </a:p>
          <a:p>
            <a:r>
              <a:t>LIKELY Q ('so are your results wrong?'): the directions and qualitative findings are expected to hold; the exact percentages are pending confirmation. We caught this ourselves via a code audit — that's the process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PURPOSE: situate the work honestly — we did NOT invent a new attack; we adapted the standard one (GCG) to reasoning models. Say that plainly, it builds trust.</a:t>
            </a:r>
          </a:p>
          <a:p>
            <a:r>
              <a:t>GCG = Greedy Coordinate Gradient, from Zou et al. 2023 ('Universal and Transferable Adversarial Attacks') — THE standard white-box adversarial-suffix attack.</a:t>
            </a:r>
          </a:p>
          <a:p>
            <a:r>
              <a:t>The mechanics we KEPT are the heart of GCG: gradient-guided top-k token candidates per suffix position (original defaults: top_k=256, batch_size=1024), batched greedy acceptance, and a teacher-forced cross-entropy loss on the target.</a:t>
            </a:r>
          </a:p>
          <a:p>
            <a:r>
              <a:t>Attack surface is identical: a suffix appended after the request with a space; suffix in the USER turn, target in the ASSISTANT turn.</a:t>
            </a:r>
          </a:p>
          <a:p>
            <a:r>
              <a:t>We literally validated our (fixed) prompt-builder against the original llm-attacks `SuffixManager` code — same user-turn placement, same '{goal} {control}' space-join.</a:t>
            </a:r>
          </a:p>
          <a:p>
            <a:r>
              <a:t>Multi-behaviour gradient aggregation mirrors the original's universal / multi-prompt idea.</a:t>
            </a:r>
          </a:p>
          <a:p>
            <a:r>
              <a:t>LIKELY Q ('is this just GCG?'): the SKELETON is GCG; the novelty is everything on the next slide — reasoning-model targeting, the extra objectives, and judge-based evaluation.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PURPOSE: our actual contributions — what makes this more than a re-run of GCG.</a:t>
            </a:r>
          </a:p>
          <a:p>
            <a:r>
              <a:t>Models: the original code only knew Llama-2 / Vicuna / GPT-family embeddings and chat templates; we added model-family adapters for Qwen3, Gemma4, and DeepSeek — including their tokenizers and &lt;think&gt; markers.</a:t>
            </a:r>
          </a:p>
          <a:p>
            <a:r>
              <a:t>BIGGEST difference — thinking models: original GCG has zero notion of a reasoning block. Our 5A trick (target starts with a fake &lt;think&gt;…&lt;/think&gt;) is exactly the adaptation that makes GCG work on reasoning models. This is the core scientific contribution.</a:t>
            </a:r>
          </a:p>
          <a:p>
            <a:r>
              <a:t>Objective: original GCG = pure target cross-entropy. We built a composite objective with optional representation, KL, and refusal-direction terms — the refusal-direction term is what drove the Stage-3 λ=0.3 result. (Precision if pushed: the refusal-direction term only shapes which candidate tokens get PROPOSED via the gradient; it is not in the acceptance/selection criterion.)</a:t>
            </a:r>
          </a:p>
          <a:p>
            <a:r>
              <a:t>Evaluation is much stricter: original GCG calls it a win if the reply merely avoids refusal phrases ('I'm sorry', 'As an', …), which over-counts. We use StrongREJECT (an LLM judge) on real free-form generation, vs 3 controls — so our ASR numbers are CONSERVATIVE relative to the original's metric.</a:t>
            </a:r>
          </a:p>
          <a:p>
            <a:r>
              <a:t>Tokenizer detail (say if asked): original GCG discards any candidate whose text re-tokenizes to a different length (filter_cand=True). Fine for Llama's SentencePiece, but on Qwen/Gemma BPE it throws away essentially every candidate and the optimizer makes zero progress — so we disable it (--no-filter-cand). A necessary, documented divergence.</a:t>
            </a:r>
          </a:p>
          <a:p>
            <a:r>
              <a:t>We also added a defensive-security angle GCG doesn't have: the first-token hidden-state detector (slide 6).</a:t>
            </a:r>
          </a:p>
          <a:p>
            <a:r>
              <a:t>Honesty tie-in: the placement bug (slide 10) was literally a spot where our code DIVERGED from canonical GCG — we optimized the suffix in the assistant turn instead of the user turn. The fix puts us back on the canonical path (verified against the original code).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PURPOSE: recap; let each takeaway land; then invite questions.</a:t>
            </a:r>
          </a:p>
          <a:p>
            <a:r>
              <a:t>1. CoT-prefix targeting is THE unlock for thinking models (standard GCG ~2.7% -&gt; 10.7%).</a:t>
            </a:r>
          </a:p>
          <a:p>
            <a:r>
              <a:t>2. WEAK refusal-direction suppression (lambda=0.3) is the strongest single lever — up to 24% on the dev set; STRONG suppression kills it (a sweet spot).</a:t>
            </a:r>
          </a:p>
          <a:p>
            <a:r>
              <a:t>3. A free union-of-two-seeds ensemble covers the most of the benchmark: 110/520 = 21%.</a:t>
            </a:r>
          </a:p>
          <a:p>
            <a:r>
              <a:t>4. Two separate axes: Qwen3 attacks are perfectly detectable at token 0 (AUC 1.0); Gemma4 resists almost everything (one modest 3.9% recipe).</a:t>
            </a:r>
          </a:p>
          <a:p>
            <a:r>
              <a:t>5. Optimizer loss does NOT predict attack success — a recurring theme.</a:t>
            </a:r>
          </a:p>
          <a:p>
            <a:r>
              <a:t>6. A placement bug (B1) means exact magnitudes are provisional; the fixed re-run is confirming them now.</a:t>
            </a:r>
          </a:p>
          <a:p>
            <a:r>
              <a:t>CLOSE: 'The qualitative findings are clear and real; the final numbers are pending the corrected re-run.' Then open for questions.</a:t>
            </a:r>
          </a:p>
          <a:p>
            <a:r>
              <a:t>IF ASKED 'what's next?': finish the v2 (fixed) re-runs to lock down magnitudes, then decide whether to push the ensemble / lambda-sweep further or start writing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F3A5F"/>
                </a:solidFill>
              </a:rPr>
              <a:t>GCG Adversarial-Suffix Jailbreak Research</a:t>
            </a:r>
          </a:p>
          <a:p>
            <a:r>
              <a:rPr sz="2000">
                <a:solidFill>
                  <a:srgbClr val="202020"/>
                </a:solidFill>
              </a:rPr>
              <a:t>A Plain-Language Summary of Everything We Did (July 2026)</a:t>
            </a:r>
          </a:p>
          <a:p>
            <a:pPr>
              <a:spcBef>
                <a:spcPts val="1800"/>
              </a:spcBef>
            </a:pPr>
            <a:r>
              <a:rPr sz="1500" i="1">
                <a:solidFill>
                  <a:srgbClr val="555555"/>
                </a:solidFill>
              </a:rPr>
              <a:t>Models: Qwen3-14B, Gemma4-E4B-it, DeepSeek-R1-Distill-Qwen-7B
Omer Yosef  ·  prepared for Mahmood  ·  2026-07-18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5F"/>
                </a:solidFill>
              </a:rPr>
              <a:t>1. What We Are Studying (Background)</a:t>
            </a:r>
          </a:p>
          <a:p>
            <a:r>
              <a:rPr sz="1500" i="1">
                <a:solidFill>
                  <a:srgbClr val="555555"/>
                </a:solidFill>
              </a:rPr>
              <a:t>The problem and the words you need to follow the rest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25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The question:</a:t>
            </a:r>
            <a:r>
              <a:rPr sz="1500" b="0">
                <a:solidFill>
                  <a:srgbClr val="202020"/>
                </a:solidFill>
              </a:rPr>
              <a:t> can we make a safety-tuned chatbot answer a harmful request by adding a short, optimized nonsense string (an "adversarial suffix") to the end of the prompt?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GCG (Greedy Coordinate Gradient):</a:t>
            </a:r>
            <a:r>
              <a:rPr sz="1500" b="0">
                <a:solidFill>
                  <a:srgbClr val="202020"/>
                </a:solidFill>
              </a:rPr>
              <a:t> the algorithm that searches, one token at a time, for the suffix that makes the model most likely to start its reply with a chosen "compliant" sentence.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"Thinking" models (Qwen3, Gemma4):</a:t>
            </a:r>
            <a:r>
              <a:rPr sz="1500" b="0">
                <a:solidFill>
                  <a:srgbClr val="202020"/>
                </a:solidFill>
              </a:rPr>
              <a:t> before the visible answer they write a hidden reasoning block between </a:t>
            </a:r>
            <a:r>
              <a:rPr sz="1500" b="1">
                <a:solidFill>
                  <a:srgbClr val="202020"/>
                </a:solidFill>
              </a:rPr>
              <a:t>&lt;think&gt; … &lt;/think&gt;</a:t>
            </a:r>
            <a:r>
              <a:rPr sz="1500" b="0">
                <a:solidFill>
                  <a:srgbClr val="202020"/>
                </a:solidFill>
              </a:rPr>
              <a:t> tags. This detail turns out to matter a lot.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Refusal direction:</a:t>
            </a:r>
            <a:r>
              <a:rPr sz="1500" b="0">
                <a:solidFill>
                  <a:srgbClr val="202020"/>
                </a:solidFill>
              </a:rPr>
              <a:t> a single internal direction in the model's activations that is linked to "I refuse." Pushing activations away from it is a known jailbreak lever.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Our yardstick:</a:t>
            </a:r>
            <a:r>
              <a:rPr sz="1500" b="0">
                <a:solidFill>
                  <a:srgbClr val="202020"/>
                </a:solidFill>
              </a:rPr>
              <a:t> a prior paper ("CoT-Hijacking") reached </a:t>
            </a:r>
            <a:r>
              <a:rPr sz="1500" b="1">
                <a:solidFill>
                  <a:srgbClr val="202020"/>
                </a:solidFill>
              </a:rPr>
              <a:t>91%</a:t>
            </a:r>
            <a:r>
              <a:rPr sz="1500" b="0">
                <a:solidFill>
                  <a:srgbClr val="202020"/>
                </a:solidFill>
              </a:rPr>
              <a:t> success by directly editing that refusal direction inside the model. We only get to change the input text (a harder, more realistic setting) — so 91% is the ceiling we compare against.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5F"/>
                </a:solidFill>
              </a:rPr>
              <a:t>2. How We Run and Score Every Test (Setup)</a:t>
            </a:r>
          </a:p>
          <a:p>
            <a:r>
              <a:rPr sz="1500" i="1">
                <a:solidFill>
                  <a:srgbClr val="555555"/>
                </a:solidFill>
              </a:rPr>
              <a:t>Same recipe for all experiments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25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0">
                <a:solidFill>
                  <a:srgbClr val="202020"/>
                </a:solidFill>
              </a:rPr>
              <a:t>•  </a:t>
            </a:r>
            <a:r>
              <a:rPr sz="1400" b="1">
                <a:solidFill>
                  <a:srgbClr val="202020"/>
                </a:solidFill>
              </a:rPr>
              <a:t>Models:</a:t>
            </a:r>
            <a:r>
              <a:rPr sz="1400" b="0">
                <a:solidFill>
                  <a:srgbClr val="202020"/>
                </a:solidFill>
              </a:rPr>
              <a:t> Qwen3-14B (main focus), Gemma4-E4B-it (second model), DeepSeek-R1-Distill-Qwen-7B (a third model family, used once).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02020"/>
                </a:solidFill>
              </a:rPr>
              <a:t>•  </a:t>
            </a:r>
            <a:r>
              <a:rPr sz="1400" b="1">
                <a:solidFill>
                  <a:srgbClr val="202020"/>
                </a:solidFill>
              </a:rPr>
              <a:t>Data:</a:t>
            </a:r>
            <a:r>
              <a:rPr sz="1400" b="0">
                <a:solidFill>
                  <a:srgbClr val="202020"/>
                </a:solidFill>
              </a:rPr>
              <a:t> AdvBench harmful behaviours — a </a:t>
            </a:r>
            <a:r>
              <a:rPr sz="1400" b="1">
                <a:solidFill>
                  <a:srgbClr val="202020"/>
                </a:solidFill>
              </a:rPr>
              <a:t>25-behaviour</a:t>
            </a:r>
            <a:r>
              <a:rPr sz="1400" b="0">
                <a:solidFill>
                  <a:srgbClr val="202020"/>
                </a:solidFill>
              </a:rPr>
              <a:t> "dev panel" for fast iteration, and the full </a:t>
            </a:r>
            <a:r>
              <a:rPr sz="1400" b="1">
                <a:solidFill>
                  <a:srgbClr val="202020"/>
                </a:solidFill>
              </a:rPr>
              <a:t>520-behaviour</a:t>
            </a:r>
            <a:r>
              <a:rPr sz="1400" b="0">
                <a:solidFill>
                  <a:srgbClr val="202020"/>
                </a:solidFill>
              </a:rPr>
              <a:t> benchmark for scale.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02020"/>
                </a:solidFill>
              </a:rPr>
              <a:t>•  </a:t>
            </a:r>
            <a:r>
              <a:rPr sz="1400" b="1">
                <a:solidFill>
                  <a:srgbClr val="202020"/>
                </a:solidFill>
              </a:rPr>
              <a:t>Judge:</a:t>
            </a:r>
            <a:r>
              <a:rPr sz="1400" b="0">
                <a:solidFill>
                  <a:srgbClr val="202020"/>
                </a:solidFill>
              </a:rPr>
              <a:t> the </a:t>
            </a:r>
            <a:r>
              <a:rPr sz="1400" b="1">
                <a:solidFill>
                  <a:srgbClr val="202020"/>
                </a:solidFill>
              </a:rPr>
              <a:t>StrongREJECT</a:t>
            </a:r>
            <a:r>
              <a:rPr sz="1400" b="0">
                <a:solidFill>
                  <a:srgbClr val="202020"/>
                </a:solidFill>
              </a:rPr>
              <a:t> classifier decides, for each generated answer, whether it is a genuine successful jailbreak (yes/no).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02020"/>
                </a:solidFill>
              </a:rPr>
              <a:t>•  </a:t>
            </a:r>
            <a:r>
              <a:rPr sz="1400" b="1">
                <a:solidFill>
                  <a:srgbClr val="202020"/>
                </a:solidFill>
              </a:rPr>
              <a:t>Main metric — ASR (Attack Success Rate):</a:t>
            </a:r>
            <a:r>
              <a:rPr sz="1400" b="0">
                <a:solidFill>
                  <a:srgbClr val="202020"/>
                </a:solidFill>
              </a:rPr>
              <a:t> the fraction of attempts judged successful. We always compare the optimized suffix against controls (no suffix / random suffix). On 25 behaviours we use 3 seeds, so ASR is out of 75 attempts (written </a:t>
            </a:r>
            <a:r>
              <a:rPr sz="1400" b="1">
                <a:solidFill>
                  <a:srgbClr val="202020"/>
                </a:solidFill>
              </a:rPr>
              <a:t>X/75</a:t>
            </a:r>
            <a:r>
              <a:rPr sz="1400" b="0">
                <a:solidFill>
                  <a:srgbClr val="202020"/>
                </a:solidFill>
              </a:rPr>
              <a:t>).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02020"/>
                </a:solidFill>
              </a:rPr>
              <a:t>•  At 520 scale we report two views:</a:t>
            </a:r>
          </a:p>
          <a:p>
            <a:pPr lvl="1">
              <a:spcAft>
                <a:spcPts val="200"/>
              </a:spcAft>
            </a:pPr>
            <a:r>
              <a:rPr sz="1300" b="0">
                <a:solidFill>
                  <a:srgbClr val="555555"/>
                </a:solidFill>
              </a:rPr>
              <a:t>–  </a:t>
            </a:r>
            <a:r>
              <a:rPr sz="1300" b="1">
                <a:solidFill>
                  <a:srgbClr val="555555"/>
                </a:solidFill>
              </a:rPr>
              <a:t>combo-ASR</a:t>
            </a:r>
            <a:r>
              <a:rPr sz="1300" b="0">
                <a:solidFill>
                  <a:srgbClr val="555555"/>
                </a:solidFill>
              </a:rPr>
              <a:t> = per (behaviour × seed) attempt;  </a:t>
            </a:r>
            <a:r>
              <a:rPr sz="1300" b="1">
                <a:solidFill>
                  <a:srgbClr val="555555"/>
                </a:solidFill>
              </a:rPr>
              <a:t>behaviour-ASR</a:t>
            </a:r>
            <a:r>
              <a:rPr sz="1300" b="0">
                <a:solidFill>
                  <a:srgbClr val="555555"/>
                </a:solidFill>
              </a:rPr>
              <a:t> = a behaviour counts as won if any seed succeeds (always the higher number).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02020"/>
                </a:solidFill>
              </a:rPr>
              <a:t>•  </a:t>
            </a:r>
            <a:r>
              <a:rPr sz="1400" b="1">
                <a:solidFill>
                  <a:srgbClr val="202020"/>
                </a:solidFill>
              </a:rPr>
              <a:t>Detection:</a:t>
            </a:r>
            <a:r>
              <a:rPr sz="1400" b="0">
                <a:solidFill>
                  <a:srgbClr val="202020"/>
                </a:solidFill>
              </a:rPr>
              <a:t> a simple classifier reads the model's internal state at the first generated token and tries to tell "attacked" from "clean." Scored by </a:t>
            </a:r>
            <a:r>
              <a:rPr sz="1400" b="1">
                <a:solidFill>
                  <a:srgbClr val="202020"/>
                </a:solidFill>
              </a:rPr>
              <a:t>AUC</a:t>
            </a:r>
            <a:r>
              <a:rPr sz="1400" b="0">
                <a:solidFill>
                  <a:srgbClr val="202020"/>
                </a:solidFill>
              </a:rPr>
              <a:t> (1.0 = perfect, 0.5 = coin flip).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5F"/>
                </a:solidFill>
              </a:rPr>
              <a:t>3. Stage 1 — Ablation (25 behaviours): Textbook GCG Barely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25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>
                <a:solidFill>
                  <a:srgbClr val="202020"/>
                </a:solidFill>
              </a:rPr>
              <a:t>•  </a:t>
            </a:r>
            <a:r>
              <a:rPr sz="1600" b="1">
                <a:solidFill>
                  <a:srgbClr val="202020"/>
                </a:solidFill>
              </a:rPr>
              <a:t>What we did:</a:t>
            </a:r>
            <a:r>
              <a:rPr sz="1600" b="0">
                <a:solidFill>
                  <a:srgbClr val="202020"/>
                </a:solidFill>
              </a:rPr>
              <a:t> ran standard GCG on Qwen3, with the usual target "Sure, here is …".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202020"/>
                </a:solidFill>
              </a:rPr>
              <a:t>•  </a:t>
            </a:r>
            <a:r>
              <a:rPr sz="1600" b="1">
                <a:solidFill>
                  <a:srgbClr val="202020"/>
                </a:solidFill>
              </a:rPr>
              <a:t>Result:</a:t>
            </a:r>
            <a:r>
              <a:rPr sz="1600" b="0">
                <a:solidFill>
                  <a:srgbClr val="202020"/>
                </a:solidFill>
              </a:rPr>
              <a:t> </a:t>
            </a:r>
            <a:r>
              <a:rPr sz="1600" b="1">
                <a:solidFill>
                  <a:srgbClr val="202020"/>
                </a:solidFill>
              </a:rPr>
              <a:t>4.0%</a:t>
            </a:r>
            <a:r>
              <a:rPr sz="1600" b="0">
                <a:solidFill>
                  <a:srgbClr val="202020"/>
                </a:solidFill>
              </a:rPr>
              <a:t> ASR on Qwen3 — no better than the no-attack baseline. Scaled to all 520 behaviours it was </a:t>
            </a:r>
            <a:r>
              <a:rPr sz="1600" b="1">
                <a:solidFill>
                  <a:srgbClr val="202020"/>
                </a:solidFill>
              </a:rPr>
              <a:t>1.9%</a:t>
            </a:r>
            <a:r>
              <a:rPr sz="1600" b="0">
                <a:solidFill>
                  <a:srgbClr val="202020"/>
                </a:solidFill>
              </a:rPr>
              <a:t>, actually slightly net-negative.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202020"/>
                </a:solidFill>
              </a:rPr>
              <a:t>•  </a:t>
            </a:r>
            <a:r>
              <a:rPr sz="1600" b="1">
                <a:solidFill>
                  <a:srgbClr val="202020"/>
                </a:solidFill>
              </a:rPr>
              <a:t>Gemma4:</a:t>
            </a:r>
            <a:r>
              <a:rPr sz="1600" b="0">
                <a:solidFill>
                  <a:srgbClr val="202020"/>
                </a:solidFill>
              </a:rPr>
              <a:t> </a:t>
            </a:r>
            <a:r>
              <a:rPr sz="1600" b="1">
                <a:solidFill>
                  <a:srgbClr val="202020"/>
                </a:solidFill>
              </a:rPr>
              <a:t>0%</a:t>
            </a:r>
            <a:r>
              <a:rPr sz="1600" b="0">
                <a:solidFill>
                  <a:srgbClr val="202020"/>
                </a:solidFill>
              </a:rPr>
              <a:t> — the plain attack never worked on it at all.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202020"/>
                </a:solidFill>
              </a:rPr>
              <a:t>•  </a:t>
            </a:r>
            <a:r>
              <a:rPr sz="1600" b="1">
                <a:solidFill>
                  <a:srgbClr val="202020"/>
                </a:solidFill>
              </a:rPr>
              <a:t>Why it fails on thinking models:</a:t>
            </a:r>
            <a:r>
              <a:rPr sz="1600" b="0">
                <a:solidFill>
                  <a:srgbClr val="202020"/>
                </a:solidFill>
              </a:rPr>
              <a:t> the target assumes the model's first token is "Sure". But a thinking model's first token is </a:t>
            </a:r>
            <a:r>
              <a:rPr sz="1600" b="1">
                <a:solidFill>
                  <a:srgbClr val="202020"/>
                </a:solidFill>
              </a:rPr>
              <a:t>&lt;think&gt;</a:t>
            </a:r>
            <a:r>
              <a:rPr sz="1600" b="0">
                <a:solidFill>
                  <a:srgbClr val="202020"/>
                </a:solidFill>
              </a:rPr>
              <a:t>, so the target is aimed at the wrong place.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202020"/>
                </a:solidFill>
              </a:rPr>
              <a:t>•  </a:t>
            </a:r>
            <a:r>
              <a:rPr sz="1600" b="1">
                <a:solidFill>
                  <a:srgbClr val="202020"/>
                </a:solidFill>
              </a:rPr>
              <a:t>Data:</a:t>
            </a:r>
            <a:r>
              <a:rPr sz="1600" b="0">
                <a:solidFill>
                  <a:srgbClr val="202020"/>
                </a:solidFill>
              </a:rPr>
              <a:t> 25 AdvBench behaviours × 3 seeds, StrongREJECT judge, compared against no-suffix and random-suffix controls.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202020"/>
                </a:solidFill>
              </a:rPr>
              <a:t>•  </a:t>
            </a:r>
            <a:r>
              <a:rPr sz="1600" b="1">
                <a:solidFill>
                  <a:srgbClr val="202020"/>
                </a:solidFill>
              </a:rPr>
              <a:t>Takeaway:</a:t>
            </a:r>
            <a:r>
              <a:rPr sz="1600" b="0">
                <a:solidFill>
                  <a:srgbClr val="202020"/>
                </a:solidFill>
              </a:rPr>
              <a:t> the standard attack is essentially useless here — which set up the key fix on the next slide.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5F"/>
                </a:solidFill>
              </a:rPr>
              <a:t>4. Stage 1 — The Key Unlock: CoT-Prefix Targeting (Exp 5A)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25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>
                <a:solidFill>
                  <a:srgbClr val="202020"/>
                </a:solidFill>
              </a:rPr>
              <a:t>•  </a:t>
            </a:r>
            <a:r>
              <a:rPr sz="1600" b="1">
                <a:solidFill>
                  <a:srgbClr val="202020"/>
                </a:solidFill>
              </a:rPr>
              <a:t>The idea:</a:t>
            </a:r>
            <a:r>
              <a:rPr sz="1600" b="0">
                <a:solidFill>
                  <a:srgbClr val="202020"/>
                </a:solidFill>
              </a:rPr>
              <a:t> make the target look like what a thinking model actually writes first — put a fake reasoning block in front: </a:t>
            </a:r>
            <a:r>
              <a:rPr sz="1600" b="1">
                <a:solidFill>
                  <a:srgbClr val="202020"/>
                </a:solidFill>
              </a:rPr>
              <a:t>"&lt;think&gt; Okay, I can help. &lt;/think&gt; Sure, here is {task}"</a:t>
            </a:r>
            <a:r>
              <a:rPr sz="1600" b="0">
                <a:solidFill>
                  <a:srgbClr val="202020"/>
                </a:solidFill>
              </a:rPr>
              <a:t>.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202020"/>
                </a:solidFill>
              </a:rPr>
              <a:t>•  </a:t>
            </a:r>
            <a:r>
              <a:rPr sz="1600" b="1">
                <a:solidFill>
                  <a:srgbClr val="202020"/>
                </a:solidFill>
              </a:rPr>
              <a:t>Result:</a:t>
            </a:r>
            <a:r>
              <a:rPr sz="1600" b="0">
                <a:solidFill>
                  <a:srgbClr val="202020"/>
                </a:solidFill>
              </a:rPr>
              <a:t> ASR jumps to </a:t>
            </a:r>
            <a:r>
              <a:rPr sz="1600" b="1">
                <a:solidFill>
                  <a:srgbClr val="202020"/>
                </a:solidFill>
              </a:rPr>
              <a:t>10.7% (8/75)</a:t>
            </a:r>
            <a:r>
              <a:rPr sz="1600" b="0">
                <a:solidFill>
                  <a:srgbClr val="202020"/>
                </a:solidFill>
              </a:rPr>
              <a:t>, </a:t>
            </a:r>
            <a:r>
              <a:rPr sz="1600" b="1">
                <a:solidFill>
                  <a:srgbClr val="202020"/>
                </a:solidFill>
              </a:rPr>
              <a:t>+8pp</a:t>
            </a:r>
            <a:r>
              <a:rPr sz="1600" b="0">
                <a:solidFill>
                  <a:srgbClr val="202020"/>
                </a:solidFill>
              </a:rPr>
              <a:t> over baseline. This is the single most important trick in the whole project.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202020"/>
                </a:solidFill>
              </a:rPr>
              <a:t>•  </a:t>
            </a:r>
            <a:r>
              <a:rPr sz="1600" b="1">
                <a:solidFill>
                  <a:srgbClr val="202020"/>
                </a:solidFill>
              </a:rPr>
              <a:t>The counter-intuitive part:</a:t>
            </a:r>
            <a:r>
              <a:rPr sz="1600" b="0">
                <a:solidFill>
                  <a:srgbClr val="202020"/>
                </a:solidFill>
              </a:rPr>
              <a:t> this trick makes the training loss worse (task_loss 47.6 → 20.5 is a worse teacher-forced fit) yet gives </a:t>
            </a:r>
            <a:r>
              <a:rPr sz="1600" b="1">
                <a:solidFill>
                  <a:srgbClr val="202020"/>
                </a:solidFill>
              </a:rPr>
              <a:t>~4× the ASR (2.7% → 10.7%)</a:t>
            </a:r>
            <a:r>
              <a:rPr sz="1600" b="0">
                <a:solidFill>
                  <a:srgbClr val="202020"/>
                </a:solidFill>
              </a:rPr>
              <a:t>.</a:t>
            </a:r>
          </a:p>
          <a:p>
            <a:pPr lvl="1">
              <a:spcAft>
                <a:spcPts val="200"/>
              </a:spcAft>
            </a:pPr>
            <a:r>
              <a:rPr sz="1500" b="0">
                <a:solidFill>
                  <a:srgbClr val="555555"/>
                </a:solidFill>
              </a:rPr>
              <a:t>–  Lesson: attack success tracks how behaviourally realistic the target is, </a:t>
            </a:r>
            <a:r>
              <a:rPr sz="1500" b="1">
                <a:solidFill>
                  <a:srgbClr val="555555"/>
                </a:solidFill>
              </a:rPr>
              <a:t>not</a:t>
            </a:r>
            <a:r>
              <a:rPr sz="1500" b="0">
                <a:solidFill>
                  <a:srgbClr val="555555"/>
                </a:solidFill>
              </a:rPr>
              <a:t> the optimizer's loss.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202020"/>
                </a:solidFill>
              </a:rPr>
              <a:t>•  </a:t>
            </a:r>
            <a:r>
              <a:rPr sz="1600" b="1">
                <a:solidFill>
                  <a:srgbClr val="202020"/>
                </a:solidFill>
              </a:rPr>
              <a:t>Important limit:</a:t>
            </a:r>
            <a:r>
              <a:rPr sz="1600" b="0">
                <a:solidFill>
                  <a:srgbClr val="202020"/>
                </a:solidFill>
              </a:rPr>
              <a:t> if we ALSO add full-strength refusal-direction suppression on top (Exp 6C, λ=1.0), the gain is destroyed — back to </a:t>
            </a:r>
            <a:r>
              <a:rPr sz="1600" b="1">
                <a:solidFill>
                  <a:srgbClr val="202020"/>
                </a:solidFill>
              </a:rPr>
              <a:t>0% (−10.7pp)</a:t>
            </a:r>
            <a:r>
              <a:rPr sz="1600" b="0">
                <a:solidFill>
                  <a:srgbClr val="202020"/>
                </a:solidFill>
              </a:rPr>
              <a:t>. Full-strength suppression and this trick fight each other. (Slide 7 revisits this.)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5F"/>
                </a:solidFill>
              </a:rPr>
              <a:t>5. Stage 2 — Does It Scale? Full 520-Behaviour Benchmark (Phase 7A)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25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What we did:</a:t>
            </a:r>
            <a:r>
              <a:rPr sz="1500" b="0">
                <a:solidFill>
                  <a:srgbClr val="202020"/>
                </a:solidFill>
              </a:rPr>
              <a:t> took the winning 5A suffix and evaluated it on ALL 520 AdvBench behaviours.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Result:</a:t>
            </a:r>
            <a:r>
              <a:rPr sz="1500" b="0">
                <a:solidFill>
                  <a:srgbClr val="202020"/>
                </a:solidFill>
              </a:rPr>
              <a:t> </a:t>
            </a:r>
            <a:r>
              <a:rPr sz="1500" b="1">
                <a:solidFill>
                  <a:srgbClr val="202020"/>
                </a:solidFill>
              </a:rPr>
              <a:t>8.01%</a:t>
            </a:r>
            <a:r>
              <a:rPr sz="1500" b="0">
                <a:solidFill>
                  <a:srgbClr val="202020"/>
                </a:solidFill>
              </a:rPr>
              <a:t> ASR on training seeds (125/1560); </a:t>
            </a:r>
            <a:r>
              <a:rPr sz="1500" b="1">
                <a:solidFill>
                  <a:srgbClr val="202020"/>
                </a:solidFill>
              </a:rPr>
              <a:t>8.92%</a:t>
            </a:r>
            <a:r>
              <a:rPr sz="1500" b="0">
                <a:solidFill>
                  <a:srgbClr val="202020"/>
                </a:solidFill>
              </a:rPr>
              <a:t> on unseen seeds (131/1468, covering 493 of 520 behaviours).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Uplift over the no-attack baseline: +5.09pp</a:t>
            </a:r>
            <a:r>
              <a:rPr sz="1500" b="0">
                <a:solidFill>
                  <a:srgbClr val="202020"/>
                </a:solidFill>
              </a:rPr>
              <a:t> (95% confidence interval +3.4 to +6.8), and statistically very strong (</a:t>
            </a:r>
            <a:r>
              <a:rPr sz="1500" b="1">
                <a:solidFill>
                  <a:srgbClr val="202020"/>
                </a:solidFill>
              </a:rPr>
              <a:t>McNemar p &lt; 10⁻¹⁰</a:t>
            </a:r>
            <a:r>
              <a:rPr sz="1500" b="0">
                <a:solidFill>
                  <a:srgbClr val="202020"/>
                </a:solidFill>
              </a:rPr>
              <a:t>).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Lower than the 25-behaviour number — expected, because small dev sets overstate performance — but a </a:t>
            </a:r>
            <a:r>
              <a:rPr sz="1500" b="1">
                <a:solidFill>
                  <a:srgbClr val="202020"/>
                </a:solidFill>
              </a:rPr>
              <a:t>real, robust</a:t>
            </a:r>
            <a:r>
              <a:rPr sz="1500" b="0">
                <a:solidFill>
                  <a:srgbClr val="202020"/>
                </a:solidFill>
              </a:rPr>
              <a:t> effect.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Where it works best:</a:t>
            </a:r>
            <a:r>
              <a:rPr sz="1500" b="0">
                <a:solidFill>
                  <a:srgbClr val="202020"/>
                </a:solidFill>
              </a:rPr>
              <a:t> "misinformation" behaviours show by far the biggest lift (</a:t>
            </a:r>
            <a:r>
              <a:rPr sz="1500" b="1">
                <a:solidFill>
                  <a:srgbClr val="202020"/>
                </a:solidFill>
              </a:rPr>
              <a:t>+19.8pp</a:t>
            </a:r>
            <a:r>
              <a:rPr sz="1500" b="0">
                <a:solidFill>
                  <a:srgbClr val="202020"/>
                </a:solidFill>
              </a:rPr>
              <a:t>).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Caution — high seed variance:</a:t>
            </a:r>
            <a:r>
              <a:rPr sz="1500" b="0">
                <a:solidFill>
                  <a:srgbClr val="202020"/>
                </a:solidFill>
              </a:rPr>
              <a:t> seed 45 was best (16% / 21%), while seed 44 was net-negative (1.3%). The same recipe swings a lot by random seed.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5F"/>
                </a:solidFill>
              </a:rPr>
              <a:t>6. Stage 2 — A Second Finding: These Attacks Are Easy to Detect (Qwen3)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25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What we did:</a:t>
            </a:r>
            <a:r>
              <a:rPr sz="1500" b="0">
                <a:solidFill>
                  <a:srgbClr val="202020"/>
                </a:solidFill>
              </a:rPr>
              <a:t> trained a simple detector on Qwen3's internal state at the first generated token to separate attacked prompts from clean ones.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Result: AUC = 1.000 — perfect separation</a:t>
            </a:r>
            <a:r>
              <a:rPr sz="1500" b="0">
                <a:solidFill>
                  <a:srgbClr val="202020"/>
                </a:solidFill>
              </a:rPr>
              <a:t>, for every Qwen3 GCG variant we tried.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It's robust:</a:t>
            </a:r>
            <a:r>
              <a:rPr sz="1500" b="0">
                <a:solidFill>
                  <a:srgbClr val="202020"/>
                </a:solidFill>
              </a:rPr>
              <a:t> the perfect score holds even under strict cross-validation (held-out behaviours, held-out seeds) — so it is not overfitting.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It's independent of ASR:</a:t>
            </a:r>
            <a:r>
              <a:rPr sz="1500" b="0">
                <a:solidFill>
                  <a:srgbClr val="202020"/>
                </a:solidFill>
              </a:rPr>
              <a:t> even weak attacks are perfectly visible; even the strongest suffix leaves an obvious fingerprint at token 0.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Gemma4 is different:</a:t>
            </a:r>
            <a:r>
              <a:rPr sz="1500" b="0">
                <a:solidFill>
                  <a:srgbClr val="202020"/>
                </a:solidFill>
              </a:rPr>
              <a:t> its detector is much weaker (</a:t>
            </a:r>
            <a:r>
              <a:rPr sz="1500" b="1">
                <a:solidFill>
                  <a:srgbClr val="202020"/>
                </a:solidFill>
              </a:rPr>
              <a:t>~0.60–0.75 AUC</a:t>
            </a:r>
            <a:r>
              <a:rPr sz="1500" b="0">
                <a:solidFill>
                  <a:srgbClr val="202020"/>
                </a:solidFill>
              </a:rPr>
              <a:t>) and unreliable — it flags </a:t>
            </a:r>
            <a:r>
              <a:rPr sz="1500" b="1">
                <a:solidFill>
                  <a:srgbClr val="202020"/>
                </a:solidFill>
              </a:rPr>
              <a:t>42.7%</a:t>
            </a:r>
            <a:r>
              <a:rPr sz="1500" b="0">
                <a:solidFill>
                  <a:srgbClr val="202020"/>
                </a:solidFill>
              </a:rPr>
              <a:t> of harmless random text as an attack.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Takeaway:</a:t>
            </a:r>
            <a:r>
              <a:rPr sz="1500" b="0">
                <a:solidFill>
                  <a:srgbClr val="202020"/>
                </a:solidFill>
              </a:rPr>
              <a:t> on Qwen3, succeeding at the attack and hiding it are two different problems — the suffix is very "loud" internally.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5F"/>
                </a:solidFill>
              </a:rPr>
              <a:t>7. Stage 3 — Biggest Surprise: Weak Suppression Doubles ASR (Phase 8)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25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Background:</a:t>
            </a:r>
            <a:r>
              <a:rPr sz="1500" b="0">
                <a:solidFill>
                  <a:srgbClr val="202020"/>
                </a:solidFill>
              </a:rPr>
              <a:t> we believed refusal-direction suppression was simply incompatible with the CoT-prefix trick, because at full strength (λ=1.0) it gave 0%.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What we did:</a:t>
            </a:r>
            <a:r>
              <a:rPr sz="1500" b="0">
                <a:solidFill>
                  <a:srgbClr val="202020"/>
                </a:solidFill>
              </a:rPr>
              <a:t> instead of on/off, we swept the strength λ of the suppression.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Result — it was strength-specific, not a general truth.</a:t>
            </a:r>
            <a:r>
              <a:rPr sz="1500" b="0">
                <a:solidFill>
                  <a:srgbClr val="202020"/>
                </a:solidFill>
              </a:rPr>
              <a:t> At </a:t>
            </a:r>
            <a:r>
              <a:rPr sz="1500" b="1">
                <a:solidFill>
                  <a:srgbClr val="202020"/>
                </a:solidFill>
              </a:rPr>
              <a:t>λ=0.3 (weak suppression)</a:t>
            </a:r>
            <a:r>
              <a:rPr sz="1500" b="0">
                <a:solidFill>
                  <a:srgbClr val="202020"/>
                </a:solidFill>
              </a:rPr>
              <a:t> ASR = </a:t>
            </a:r>
            <a:r>
              <a:rPr sz="1500" b="1">
                <a:solidFill>
                  <a:srgbClr val="202020"/>
                </a:solidFill>
              </a:rPr>
              <a:t>24.0% (18/75), +21.3pp</a:t>
            </a:r>
            <a:r>
              <a:rPr sz="1500" b="0">
                <a:solidFill>
                  <a:srgbClr val="202020"/>
                </a:solidFill>
              </a:rPr>
              <a:t> — the best 25-behaviour result of the project.</a:t>
            </a:r>
          </a:p>
          <a:p>
            <a:pPr lvl="1">
              <a:spcAft>
                <a:spcPts val="200"/>
              </a:spcAft>
            </a:pPr>
            <a:r>
              <a:rPr sz="1400" b="0">
                <a:solidFill>
                  <a:srgbClr val="555555"/>
                </a:solidFill>
              </a:rPr>
              <a:t>–  Strong suppression (λ=1.0 → 0%, λ=3.0 → 2.7%) kills it; weak suppression amplifies it.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Replicated</a:t>
            </a:r>
            <a:r>
              <a:rPr sz="1500" b="0">
                <a:solidFill>
                  <a:srgbClr val="202020"/>
                </a:solidFill>
              </a:rPr>
              <a:t> on a second seed (seed 43: </a:t>
            </a:r>
            <a:r>
              <a:rPr sz="1500" b="1">
                <a:solidFill>
                  <a:srgbClr val="202020"/>
                </a:solidFill>
              </a:rPr>
              <a:t>12.0%</a:t>
            </a:r>
            <a:r>
              <a:rPr sz="1500" b="0">
                <a:solidFill>
                  <a:srgbClr val="202020"/>
                </a:solidFill>
              </a:rPr>
              <a:t>). The effect is real but varies ~2× by seed.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Lesson:</a:t>
            </a:r>
            <a:r>
              <a:rPr sz="1500" b="0">
                <a:solidFill>
                  <a:srgbClr val="202020"/>
                </a:solidFill>
              </a:rPr>
              <a:t> "the two objectives are incompatible" was false — it only held at the one strength we first tried.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5F"/>
                </a:solidFill>
              </a:rPr>
              <a:t>8. Stage 4 — Sprint 2: Four Follow-ups, All Null or Negative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25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Causal test — does "compliant framing" cause success?</a:t>
            </a:r>
            <a:r>
              <a:rPr sz="1500" b="0">
                <a:solidFill>
                  <a:srgbClr val="202020"/>
                </a:solidFill>
              </a:rPr>
              <a:t> We forced the model's reasoning to open with compliant framing. Result: </a:t>
            </a:r>
            <a:r>
              <a:rPr sz="1500" b="1">
                <a:solidFill>
                  <a:srgbClr val="202020"/>
                </a:solidFill>
              </a:rPr>
              <a:t>8% vs 12%</a:t>
            </a:r>
            <a:r>
              <a:rPr sz="1500" b="0">
                <a:solidFill>
                  <a:srgbClr val="202020"/>
                </a:solidFill>
              </a:rPr>
              <a:t> baseline, </a:t>
            </a:r>
            <a:r>
              <a:rPr sz="1500" b="1">
                <a:solidFill>
                  <a:srgbClr val="202020"/>
                </a:solidFill>
              </a:rPr>
              <a:t>p=1.0 → no causal effect.</a:t>
            </a:r>
            <a:r>
              <a:rPr sz="1500" b="0">
                <a:solidFill>
                  <a:srgbClr val="202020"/>
                </a:solidFill>
              </a:rPr>
              <a:t> An earlier correlation was NOT causal. (Uses no suffix, so it is unaffected by the later bug.)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Third model (DeepSeek-R1):</a:t>
            </a:r>
            <a:r>
              <a:rPr sz="1500" b="0">
                <a:solidFill>
                  <a:srgbClr val="202020"/>
                </a:solidFill>
              </a:rPr>
              <a:t> already </a:t>
            </a:r>
            <a:r>
              <a:rPr sz="1500" b="1">
                <a:solidFill>
                  <a:srgbClr val="202020"/>
                </a:solidFill>
              </a:rPr>
              <a:t>~50% compliant with NO attack</a:t>
            </a:r>
            <a:r>
              <a:rPr sz="1500" b="0">
                <a:solidFill>
                  <a:srgbClr val="202020"/>
                </a:solidFill>
              </a:rPr>
              <a:t> (CoT 49% vs 47% baseline) → no safety "headroom" for GCG to add value.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Gemma4 CoT-channel v2 (800 steps):</a:t>
            </a:r>
            <a:r>
              <a:rPr sz="1500" b="0">
                <a:solidFill>
                  <a:srgbClr val="202020"/>
                </a:solidFill>
              </a:rPr>
              <a:t> the special tokens are trainable now, but ASR still </a:t>
            </a:r>
            <a:r>
              <a:rPr sz="1500" b="1">
                <a:solidFill>
                  <a:srgbClr val="202020"/>
                </a:solidFill>
              </a:rPr>
              <a:t>0%</a:t>
            </a:r>
            <a:r>
              <a:rPr sz="1500" b="0">
                <a:solidFill>
                  <a:srgbClr val="202020"/>
                </a:solidFill>
              </a:rPr>
              <a:t>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Attack-quality tweaks:</a:t>
            </a:r>
            <a:r>
              <a:rPr sz="1500" b="0">
                <a:solidFill>
                  <a:srgbClr val="202020"/>
                </a:solidFill>
              </a:rPr>
              <a:t> longer suffix = </a:t>
            </a:r>
            <a:r>
              <a:rPr sz="1500" b="1">
                <a:solidFill>
                  <a:srgbClr val="202020"/>
                </a:solidFill>
              </a:rPr>
              <a:t>2.7%</a:t>
            </a:r>
            <a:r>
              <a:rPr sz="1500" b="0">
                <a:solidFill>
                  <a:srgbClr val="202020"/>
                </a:solidFill>
              </a:rPr>
              <a:t>; seed-44 + live-ASR selection = </a:t>
            </a:r>
            <a:r>
              <a:rPr sz="1500" b="1">
                <a:solidFill>
                  <a:srgbClr val="202020"/>
                </a:solidFill>
              </a:rPr>
              <a:t>4.0%</a:t>
            </a:r>
            <a:r>
              <a:rPr sz="1500" b="0">
                <a:solidFill>
                  <a:srgbClr val="202020"/>
                </a:solidFill>
              </a:rPr>
              <a:t> — both worse than the 10.7% reference.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Takeaway:</a:t>
            </a:r>
            <a:r>
              <a:rPr sz="1500" b="0">
                <a:solidFill>
                  <a:srgbClr val="202020"/>
                </a:solidFill>
              </a:rPr>
              <a:t> none of these four directions helped — they ruled out tempting explanations and dead ends.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5F"/>
                </a:solidFill>
              </a:rPr>
              <a:t>9. Stage 5 — Sprint 3: Scaling to 520 + the Best New Result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25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Scaled the λ=0.3 recipe to all 520 behaviours:</a:t>
            </a:r>
            <a:r>
              <a:rPr sz="1500" b="0">
                <a:solidFill>
                  <a:srgbClr val="202020"/>
                </a:solidFill>
              </a:rPr>
              <a:t> seed 42 (9A) = </a:t>
            </a:r>
            <a:r>
              <a:rPr sz="1500" b="1">
                <a:solidFill>
                  <a:srgbClr val="202020"/>
                </a:solidFill>
              </a:rPr>
              <a:t>11.21% combo / 94 of 520 behaviours</a:t>
            </a:r>
            <a:r>
              <a:rPr sz="1500" b="0">
                <a:solidFill>
                  <a:srgbClr val="202020"/>
                </a:solidFill>
              </a:rPr>
              <a:t>; seed 45 (9B) = </a:t>
            </a:r>
            <a:r>
              <a:rPr sz="1500" b="1">
                <a:solidFill>
                  <a:srgbClr val="202020"/>
                </a:solidFill>
              </a:rPr>
              <a:t>8.83% / 72 behaviours</a:t>
            </a:r>
            <a:r>
              <a:rPr sz="1500" b="0">
                <a:solidFill>
                  <a:srgbClr val="202020"/>
                </a:solidFill>
              </a:rPr>
              <a:t>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λ=0.3 is </a:t>
            </a:r>
            <a:r>
              <a:rPr sz="1500" b="1">
                <a:solidFill>
                  <a:srgbClr val="202020"/>
                </a:solidFill>
              </a:rPr>
              <a:t>not additive across seeds</a:t>
            </a:r>
            <a:r>
              <a:rPr sz="1500" b="0">
                <a:solidFill>
                  <a:srgbClr val="202020"/>
                </a:solidFill>
              </a:rPr>
              <a:t> (a fresh seed-45 run, 9C, gave 6.09%).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Headline result (10F) — a free "union" ensemble:</a:t>
            </a:r>
            <a:r>
              <a:rPr sz="1500" b="0">
                <a:solidFill>
                  <a:srgbClr val="202020"/>
                </a:solidFill>
              </a:rPr>
              <a:t> count a behaviour as won if either the seed-42 or seed-45 run wins it → </a:t>
            </a:r>
            <a:r>
              <a:rPr sz="1500" b="1">
                <a:solidFill>
                  <a:srgbClr val="202020"/>
                </a:solidFill>
              </a:rPr>
              <a:t>13.97% combo, 110 of 520 behaviours (21.2%)</a:t>
            </a:r>
            <a:r>
              <a:rPr sz="1500" b="0">
                <a:solidFill>
                  <a:srgbClr val="202020"/>
                </a:solidFill>
              </a:rPr>
              <a:t>.</a:t>
            </a:r>
          </a:p>
          <a:p>
            <a:pPr lvl="1">
              <a:spcAft>
                <a:spcPts val="200"/>
              </a:spcAft>
            </a:pPr>
            <a:r>
              <a:rPr sz="1400" b="0">
                <a:solidFill>
                  <a:srgbClr val="555555"/>
                </a:solidFill>
              </a:rPr>
              <a:t>–  Better than either seed alone, at </a:t>
            </a:r>
            <a:r>
              <a:rPr sz="1400" b="1">
                <a:solidFill>
                  <a:srgbClr val="555555"/>
                </a:solidFill>
              </a:rPr>
              <a:t>zero extra optimization cost</a:t>
            </a:r>
            <a:r>
              <a:rPr sz="1400" b="0">
                <a:solidFill>
                  <a:srgbClr val="555555"/>
                </a:solidFill>
              </a:rPr>
              <a:t> — because the seeds win on different behaviours (38 only seed-42, 16 only seed-45, 56 both).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Gemma4 (10A, "EmptyThink" recipe) at 520 scale:</a:t>
            </a:r>
            <a:r>
              <a:rPr sz="1500" b="0">
                <a:solidFill>
                  <a:srgbClr val="202020"/>
                </a:solidFill>
              </a:rPr>
              <a:t> </a:t>
            </a:r>
            <a:r>
              <a:rPr sz="1500" b="1">
                <a:solidFill>
                  <a:srgbClr val="202020"/>
                </a:solidFill>
              </a:rPr>
              <a:t>3.91% vs 2.31%</a:t>
            </a:r>
            <a:r>
              <a:rPr sz="1500" b="0">
                <a:solidFill>
                  <a:srgbClr val="202020"/>
                </a:solidFill>
              </a:rPr>
              <a:t> baseline (</a:t>
            </a:r>
            <a:r>
              <a:rPr sz="1500" b="1">
                <a:solidFill>
                  <a:srgbClr val="202020"/>
                </a:solidFill>
              </a:rPr>
              <a:t>+1.6pp</a:t>
            </a:r>
            <a:r>
              <a:rPr sz="1500" b="0">
                <a:solidFill>
                  <a:srgbClr val="202020"/>
                </a:solidFill>
              </a:rPr>
              <a:t>), consistent across seeds — modest, but </a:t>
            </a:r>
            <a:r>
              <a:rPr sz="1500" b="1">
                <a:solidFill>
                  <a:srgbClr val="202020"/>
                </a:solidFill>
              </a:rPr>
              <a:t>Gemma4's best result of the whole project.</a:t>
            </a:r>
            <a:r>
              <a:rPr sz="1500" b="0">
                <a:solidFill>
                  <a:srgbClr val="202020"/>
                </a:solidFill>
              </a:rPr>
              <a:t/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5F"/>
                </a:solidFill>
              </a:rPr>
              <a:t>10. Important Caveat — A Placement Bug Makes the Numbers Provisional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25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A code audit found a </a:t>
            </a:r>
            <a:r>
              <a:rPr sz="1500" b="1">
                <a:solidFill>
                  <a:srgbClr val="202020"/>
                </a:solidFill>
              </a:rPr>
              <a:t>suffix-placement bug</a:t>
            </a:r>
            <a:r>
              <a:rPr sz="1500" b="0">
                <a:solidFill>
                  <a:srgbClr val="202020"/>
                </a:solidFill>
              </a:rPr>
              <a:t> (we call it "B1"):</a:t>
            </a:r>
          </a:p>
          <a:p>
            <a:pPr lvl="1">
              <a:spcAft>
                <a:spcPts val="200"/>
              </a:spcAft>
            </a:pPr>
            <a:r>
              <a:rPr sz="1400" b="0">
                <a:solidFill>
                  <a:srgbClr val="555555"/>
                </a:solidFill>
              </a:rPr>
              <a:t>–  The suffix was </a:t>
            </a:r>
            <a:r>
              <a:rPr sz="1400" b="1">
                <a:solidFill>
                  <a:srgbClr val="555555"/>
                </a:solidFill>
              </a:rPr>
              <a:t>optimized inside the assistant's turn</a:t>
            </a:r>
            <a:r>
              <a:rPr sz="1400" b="0">
                <a:solidFill>
                  <a:srgbClr val="555555"/>
                </a:solidFill>
              </a:rPr>
              <a:t>, but </a:t>
            </a:r>
            <a:r>
              <a:rPr sz="1400" b="1">
                <a:solidFill>
                  <a:srgbClr val="555555"/>
                </a:solidFill>
              </a:rPr>
              <a:t>evaluated in the user's turn</a:t>
            </a:r>
            <a:r>
              <a:rPr sz="1400" b="0">
                <a:solidFill>
                  <a:srgbClr val="555555"/>
                </a:solidFill>
              </a:rPr>
              <a:t> — a mismatch, so the optimizer was tuned on a slightly different prompt than we tested.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Consequence:</a:t>
            </a:r>
            <a:r>
              <a:rPr sz="1500" b="0">
                <a:solidFill>
                  <a:srgbClr val="202020"/>
                </a:solidFill>
              </a:rPr>
              <a:t> every ASR magnitude on the earlier slides (10.7%, 24%, 8.9%, 14%, …) is </a:t>
            </a:r>
            <a:r>
              <a:rPr sz="1500" b="1">
                <a:solidFill>
                  <a:srgbClr val="202020"/>
                </a:solidFill>
              </a:rPr>
              <a:t>provisional</a:t>
            </a:r>
            <a:r>
              <a:rPr sz="1500" b="0">
                <a:solidFill>
                  <a:srgbClr val="202020"/>
                </a:solidFill>
              </a:rPr>
              <a:t> until re-run with the fix.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What still holds (expected to survive):</a:t>
            </a:r>
            <a:r>
              <a:rPr sz="1500" b="0">
                <a:solidFill>
                  <a:srgbClr val="202020"/>
                </a:solidFill>
              </a:rPr>
              <a:t> the directions of every finding (CoT-prefix helps, weak λ=0.3 helps, the ensemble helps), the detection AUC, the baselines, and the causal test.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This bug is also the likely reason </a:t>
            </a:r>
            <a:r>
              <a:rPr sz="1500" b="1">
                <a:solidFill>
                  <a:srgbClr val="202020"/>
                </a:solidFill>
              </a:rPr>
              <a:t>"loss doesn't predict ASR"</a:t>
            </a:r>
            <a:r>
              <a:rPr sz="1500" b="0">
                <a:solidFill>
                  <a:srgbClr val="202020"/>
                </a:solidFill>
              </a:rPr>
              <a:t> (loss was measured on the wrong prompt).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Status:</a:t>
            </a:r>
            <a:r>
              <a:rPr sz="1500" b="0">
                <a:solidFill>
                  <a:srgbClr val="202020"/>
                </a:solidFill>
              </a:rPr>
              <a:t> the fix is implemented (put the suffix in the user turn, byte-identical to evaluation) and a </a:t>
            </a:r>
            <a:r>
              <a:rPr sz="1500" b="1">
                <a:solidFill>
                  <a:srgbClr val="202020"/>
                </a:solidFill>
              </a:rPr>
              <a:t>re-run campaign is running now</a:t>
            </a:r>
            <a:r>
              <a:rPr sz="1500" b="0">
                <a:solidFill>
                  <a:srgbClr val="202020"/>
                </a:solidFill>
              </a:rPr>
              <a:t> to confirm the true numbers.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5F"/>
                </a:solidFill>
              </a:rPr>
              <a:t>11. How This Relates to Standard GCG — What Is the SAME</a:t>
            </a:r>
          </a:p>
          <a:p>
            <a:r>
              <a:rPr sz="1500" i="1">
                <a:solidFill>
                  <a:srgbClr val="555555"/>
                </a:solidFill>
              </a:rPr>
              <a:t>We adapted the standard attack (GCG, Zou et al. 2023), we did not invent a new one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25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>
                <a:solidFill>
                  <a:srgbClr val="202020"/>
                </a:solidFill>
              </a:rPr>
              <a:t>•  </a:t>
            </a:r>
            <a:r>
              <a:rPr sz="1600" b="1">
                <a:solidFill>
                  <a:srgbClr val="202020"/>
                </a:solidFill>
              </a:rPr>
              <a:t>Same core algorithm — Greedy Coordinate Gradient (GCG, Zou et al. 2023).</a:t>
            </a:r>
            <a:r>
              <a:rPr sz="1600" b="0">
                <a:solidFill>
                  <a:srgbClr val="202020"/>
                </a:solidFill>
              </a:rPr>
              <a:t> For each position in the suffix, use the gradient of a teacher-forced target loss to shortlist the top-k token swaps, batch-test many candidates, and greedily keep the best.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202020"/>
                </a:solidFill>
              </a:rPr>
              <a:t>•  </a:t>
            </a:r>
            <a:r>
              <a:rPr sz="1600" b="1">
                <a:solidFill>
                  <a:srgbClr val="202020"/>
                </a:solidFill>
              </a:rPr>
              <a:t>Same attack surface:</a:t>
            </a:r>
            <a:r>
              <a:rPr sz="1600" b="0">
                <a:solidFill>
                  <a:srgbClr val="202020"/>
                </a:solidFill>
              </a:rPr>
              <a:t> a token suffix appended to the user's request, joined with a space — "{request} {suffix}" — exactly the original's format.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202020"/>
                </a:solidFill>
              </a:rPr>
              <a:t>•  </a:t>
            </a:r>
            <a:r>
              <a:rPr sz="1600" b="1">
                <a:solidFill>
                  <a:srgbClr val="202020"/>
                </a:solidFill>
              </a:rPr>
              <a:t>Same base objective:</a:t>
            </a:r>
            <a:r>
              <a:rPr sz="1600" b="0">
                <a:solidFill>
                  <a:srgbClr val="202020"/>
                </a:solidFill>
              </a:rPr>
              <a:t> a cross-entropy loss pushing the model to START its answer with a chosen compliant target string.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202020"/>
                </a:solidFill>
              </a:rPr>
              <a:t>•  </a:t>
            </a:r>
            <a:r>
              <a:rPr sz="1600" b="1">
                <a:solidFill>
                  <a:srgbClr val="202020"/>
                </a:solidFill>
              </a:rPr>
              <a:t>Same prompt placement (after our fix):</a:t>
            </a:r>
            <a:r>
              <a:rPr sz="1600" b="0">
                <a:solidFill>
                  <a:srgbClr val="202020"/>
                </a:solidFill>
              </a:rPr>
              <a:t> suffix in the USER turn, target in the ASSISTANT turn — we checked our corrected prompt-builder against the original `llm-attacks` `SuffixManager` code and it matches.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202020"/>
                </a:solidFill>
              </a:rPr>
              <a:t>•  </a:t>
            </a:r>
            <a:r>
              <a:rPr sz="1600" b="1">
                <a:solidFill>
                  <a:srgbClr val="202020"/>
                </a:solidFill>
              </a:rPr>
              <a:t>Same multi-behaviour idea:</a:t>
            </a:r>
            <a:r>
              <a:rPr sz="1600" b="0">
                <a:solidFill>
                  <a:srgbClr val="202020"/>
                </a:solidFill>
              </a:rPr>
              <a:t> aggregate gradients across several behaviours to search for a more universal suffix.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5F"/>
                </a:solidFill>
              </a:rPr>
              <a:t>12. How This Relates to Standard GCG — What Is DIFFERENT (what we added)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25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0">
                <a:solidFill>
                  <a:srgbClr val="202020"/>
                </a:solidFill>
              </a:rPr>
              <a:t>•  </a:t>
            </a:r>
            <a:r>
              <a:rPr sz="1400" b="1">
                <a:solidFill>
                  <a:srgbClr val="202020"/>
                </a:solidFill>
              </a:rPr>
              <a:t>New target models.</a:t>
            </a:r>
            <a:r>
              <a:rPr sz="1400" b="0">
                <a:solidFill>
                  <a:srgbClr val="202020"/>
                </a:solidFill>
              </a:rPr>
              <a:t> Original GCG attacks Llama-2 / Vicuna / GPT-family. We built adapters for reasoning models — Qwen3-14B, Gemma4-E4B-it, DeepSeek-R1 — which the original code never handled.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02020"/>
                </a:solidFill>
              </a:rPr>
              <a:t>•  </a:t>
            </a:r>
            <a:r>
              <a:rPr sz="1400" b="1">
                <a:solidFill>
                  <a:srgbClr val="202020"/>
                </a:solidFill>
              </a:rPr>
              <a:t>Thinking-model targeting — our main contribution.</a:t>
            </a:r>
            <a:r>
              <a:rPr sz="1400" b="0">
                <a:solidFill>
                  <a:srgbClr val="202020"/>
                </a:solidFill>
              </a:rPr>
              <a:t> Original GCG has no concept of a `&lt;think&gt;` reasoning block. Our key unlock (5A) makes the target include a fake `&lt;think&gt;…&lt;/think&gt;` prefix so it matches what a reasoning model actually generates first.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02020"/>
                </a:solidFill>
              </a:rPr>
              <a:t>•  </a:t>
            </a:r>
            <a:r>
              <a:rPr sz="1400" b="1">
                <a:solidFill>
                  <a:srgbClr val="202020"/>
                </a:solidFill>
              </a:rPr>
              <a:t>Richer objective.</a:t>
            </a:r>
            <a:r>
              <a:rPr sz="1400" b="0">
                <a:solidFill>
                  <a:srgbClr val="202020"/>
                </a:solidFill>
              </a:rPr>
              <a:t> Original GCG optimizes ONE loss (target cross-entropy). We add optional terms: representation-alignment, KL, and a refusal-direction suppression term (Stage 3's λ) folded into the candidate-proposal gradient.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02020"/>
                </a:solidFill>
              </a:rPr>
              <a:t>•  </a:t>
            </a:r>
            <a:r>
              <a:rPr sz="1400" b="1">
                <a:solidFill>
                  <a:srgbClr val="202020"/>
                </a:solidFill>
              </a:rPr>
              <a:t>Harder success test.</a:t>
            </a:r>
            <a:r>
              <a:rPr sz="1400" b="0">
                <a:solidFill>
                  <a:srgbClr val="202020"/>
                </a:solidFill>
              </a:rPr>
              <a:t> Original GCG scores a "win" by simple string matching (did the reply avoid phrases like "I'm sorry"?). We use the StrongREJECT LLM judge on free-form generation, against 3 controls — a much stricter bar.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02020"/>
                </a:solidFill>
              </a:rPr>
              <a:t>•  </a:t>
            </a:r>
            <a:r>
              <a:rPr sz="1400" b="1">
                <a:solidFill>
                  <a:srgbClr val="202020"/>
                </a:solidFill>
              </a:rPr>
              <a:t>Tokenizer fix.</a:t>
            </a:r>
            <a:r>
              <a:rPr sz="1400" b="0">
                <a:solidFill>
                  <a:srgbClr val="202020"/>
                </a:solidFill>
              </a:rPr>
              <a:t> Original GCG filters candidates by re-tokenization (`filter_cand=True`). On Qwen/Gemma's BPE tokenizers that silently kills all progress, so we disable it (`--no-filter-cand`).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02020"/>
                </a:solidFill>
              </a:rPr>
              <a:t>•  </a:t>
            </a:r>
            <a:r>
              <a:rPr sz="1400" b="1">
                <a:solidFill>
                  <a:srgbClr val="202020"/>
                </a:solidFill>
              </a:rPr>
              <a:t>Bonus — detection.</a:t>
            </a:r>
            <a:r>
              <a:rPr sz="1400" b="0">
                <a:solidFill>
                  <a:srgbClr val="202020"/>
                </a:solidFill>
              </a:rPr>
              <a:t> We added a first-token hidden-state detector (AUC, slide 6) — not part of GCG at all.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02020"/>
                </a:solidFill>
              </a:rPr>
              <a:t>•  </a:t>
            </a:r>
            <a:r>
              <a:rPr sz="1400" b="1">
                <a:solidFill>
                  <a:srgbClr val="202020"/>
                </a:solidFill>
              </a:rPr>
              <a:t>Honesty tie-in:</a:t>
            </a:r>
            <a:r>
              <a:rPr sz="1400" b="0">
                <a:solidFill>
                  <a:srgbClr val="202020"/>
                </a:solidFill>
              </a:rPr>
              <a:t> the placement bug (slide 10) was itself a divergence from canonical GCG (we optimized in the assistant turn); the fix re-aligns us to the original.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5F"/>
                </a:solidFill>
              </a:rPr>
              <a:t>13. Summary — What We Actually Learned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25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1.</a:t>
            </a:r>
            <a:r>
              <a:rPr sz="1500" b="0">
                <a:solidFill>
                  <a:srgbClr val="202020"/>
                </a:solidFill>
              </a:rPr>
              <a:t> For thinking models, </a:t>
            </a:r>
            <a:r>
              <a:rPr sz="1500" b="1">
                <a:solidFill>
                  <a:srgbClr val="202020"/>
                </a:solidFill>
              </a:rPr>
              <a:t>CoT-prefix targeting</a:t>
            </a:r>
            <a:r>
              <a:rPr sz="1500" b="0">
                <a:solidFill>
                  <a:srgbClr val="202020"/>
                </a:solidFill>
              </a:rPr>
              <a:t> is the core unlock: 2.7% → </a:t>
            </a:r>
            <a:r>
              <a:rPr sz="1500" b="1">
                <a:solidFill>
                  <a:srgbClr val="202020"/>
                </a:solidFill>
              </a:rPr>
              <a:t>10.7%</a:t>
            </a:r>
            <a:r>
              <a:rPr sz="1500" b="0">
                <a:solidFill>
                  <a:srgbClr val="202020"/>
                </a:solidFill>
              </a:rPr>
              <a:t>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2.</a:t>
            </a:r>
            <a:r>
              <a:rPr sz="1500" b="0">
                <a:solidFill>
                  <a:srgbClr val="202020"/>
                </a:solidFill>
              </a:rPr>
              <a:t> </a:t>
            </a:r>
            <a:r>
              <a:rPr sz="1500" b="1">
                <a:solidFill>
                  <a:srgbClr val="202020"/>
                </a:solidFill>
              </a:rPr>
              <a:t>Weak</a:t>
            </a:r>
            <a:r>
              <a:rPr sz="1500" b="0">
                <a:solidFill>
                  <a:srgbClr val="202020"/>
                </a:solidFill>
              </a:rPr>
              <a:t> refusal-direction suppression (λ=0.3) is the strongest single lever — up to </a:t>
            </a:r>
            <a:r>
              <a:rPr sz="1500" b="1">
                <a:solidFill>
                  <a:srgbClr val="202020"/>
                </a:solidFill>
              </a:rPr>
              <a:t>24%</a:t>
            </a:r>
            <a:r>
              <a:rPr sz="1500" b="0">
                <a:solidFill>
                  <a:srgbClr val="202020"/>
                </a:solidFill>
              </a:rPr>
              <a:t> on 25 behaviours; strong suppression kills it.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3.</a:t>
            </a:r>
            <a:r>
              <a:rPr sz="1500" b="0">
                <a:solidFill>
                  <a:srgbClr val="202020"/>
                </a:solidFill>
              </a:rPr>
              <a:t> A cheap </a:t>
            </a:r>
            <a:r>
              <a:rPr sz="1500" b="1">
                <a:solidFill>
                  <a:srgbClr val="202020"/>
                </a:solidFill>
              </a:rPr>
              <a:t>union of two seeds</a:t>
            </a:r>
            <a:r>
              <a:rPr sz="1500" b="0">
                <a:solidFill>
                  <a:srgbClr val="202020"/>
                </a:solidFill>
              </a:rPr>
              <a:t> covers the most of the benchmark: </a:t>
            </a:r>
            <a:r>
              <a:rPr sz="1500" b="1">
                <a:solidFill>
                  <a:srgbClr val="202020"/>
                </a:solidFill>
              </a:rPr>
              <a:t>110/520 behaviours (21%)</a:t>
            </a:r>
            <a:r>
              <a:rPr sz="1500" b="0">
                <a:solidFill>
                  <a:srgbClr val="202020"/>
                </a:solidFill>
              </a:rPr>
              <a:t>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4.</a:t>
            </a:r>
            <a:r>
              <a:rPr sz="1500" b="0">
                <a:solidFill>
                  <a:srgbClr val="202020"/>
                </a:solidFill>
              </a:rPr>
              <a:t> Qwen3 attacks are </a:t>
            </a:r>
            <a:r>
              <a:rPr sz="1500" b="1">
                <a:solidFill>
                  <a:srgbClr val="202020"/>
                </a:solidFill>
              </a:rPr>
              <a:t>perfectly detectable</a:t>
            </a:r>
            <a:r>
              <a:rPr sz="1500" b="0">
                <a:solidFill>
                  <a:srgbClr val="202020"/>
                </a:solidFill>
              </a:rPr>
              <a:t> at the first token (</a:t>
            </a:r>
            <a:r>
              <a:rPr sz="1500" b="1">
                <a:solidFill>
                  <a:srgbClr val="202020"/>
                </a:solidFill>
              </a:rPr>
              <a:t>AUC 1.0</a:t>
            </a:r>
            <a:r>
              <a:rPr sz="1500" b="0">
                <a:solidFill>
                  <a:srgbClr val="202020"/>
                </a:solidFill>
              </a:rPr>
              <a:t>); </a:t>
            </a:r>
            <a:r>
              <a:rPr sz="1500" b="1">
                <a:solidFill>
                  <a:srgbClr val="202020"/>
                </a:solidFill>
              </a:rPr>
              <a:t>Gemma4 resists almost everything</a:t>
            </a:r>
            <a:r>
              <a:rPr sz="1500" b="0">
                <a:solidFill>
                  <a:srgbClr val="202020"/>
                </a:solidFill>
              </a:rPr>
              <a:t> (one modest 3.9% recipe).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5.</a:t>
            </a:r>
            <a:r>
              <a:rPr sz="1500" b="0">
                <a:solidFill>
                  <a:srgbClr val="202020"/>
                </a:solidFill>
              </a:rPr>
              <a:t> The optimizer's </a:t>
            </a:r>
            <a:r>
              <a:rPr sz="1500" b="1">
                <a:solidFill>
                  <a:srgbClr val="202020"/>
                </a:solidFill>
              </a:rPr>
              <a:t>loss does NOT predict</a:t>
            </a:r>
            <a:r>
              <a:rPr sz="1500" b="0">
                <a:solidFill>
                  <a:srgbClr val="202020"/>
                </a:solidFill>
              </a:rPr>
              <a:t> attack success.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6.</a:t>
            </a:r>
            <a:r>
              <a:rPr sz="1500" b="0">
                <a:solidFill>
                  <a:srgbClr val="202020"/>
                </a:solidFill>
              </a:rPr>
              <a:t> A </a:t>
            </a:r>
            <a:r>
              <a:rPr sz="1500" b="1">
                <a:solidFill>
                  <a:srgbClr val="202020"/>
                </a:solidFill>
              </a:rPr>
              <a:t>placement bug</a:t>
            </a:r>
            <a:r>
              <a:rPr sz="1500" b="0">
                <a:solidFill>
                  <a:srgbClr val="202020"/>
                </a:solidFill>
              </a:rPr>
              <a:t> means the exact ASR magnitudes are </a:t>
            </a:r>
            <a:r>
              <a:rPr sz="1500" b="1">
                <a:solidFill>
                  <a:srgbClr val="202020"/>
                </a:solidFill>
              </a:rPr>
              <a:t>provisional</a:t>
            </a:r>
            <a:r>
              <a:rPr sz="1500" b="0">
                <a:solidFill>
                  <a:srgbClr val="202020"/>
                </a:solidFill>
              </a:rPr>
              <a:t> — a fixed re-run is in progress to confirm them.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Bottom line:</a:t>
            </a:r>
            <a:r>
              <a:rPr sz="1500" b="0">
                <a:solidFill>
                  <a:srgbClr val="202020"/>
                </a:solidFill>
              </a:rPr>
              <a:t> the qualitative findings are clear and real; the final numbers are pending the corrected re-run.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